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70" r:id="rId23"/>
    <p:sldId id="257" r:id="rId3"/>
    <p:sldId id="258" r:id="rId4"/>
    <p:sldId id="271" r:id="rId25"/>
    <p:sldId id="272" r:id="rId26"/>
    <p:sldId id="260" r:id="rId6"/>
    <p:sldId id="273" r:id="rId27"/>
    <p:sldId id="261" r:id="rId7"/>
    <p:sldId id="262" r:id="rId8"/>
    <p:sldId id="274" r:id="rId28"/>
    <p:sldId id="263" r:id="rId9"/>
    <p:sldId id="264" r:id="rId10"/>
    <p:sldId id="265" r:id="rId11"/>
    <p:sldId id="269" r:id="rId22"/>
    <p:sldId id="266" r:id="rId12"/>
    <p:sldId id="267" r:id="rId13"/>
    <p:sldId id="259" r:id="rId5"/>
    <p:sldId id="268" r:id="rId14"/>
  </p:sldIdLst>
  <p:sldSz cx="12192000" cy="6858000"/>
  <p:notesSz cx="6858000" cy="9144000"/>
  <p:embeddedFontLst>
    <p:embeddedFont>
      <p:font typeface="Arial Black" panose="020B0A04020102020204" pitchFamily="34" charset="0"/>
      <p:bold r:id="rId15"/>
    </p:embeddedFont>
    <p:embeddedFont>
      <p:font typeface="Plus Jakarta Sans"/>
      <p:bold r:id="rId16"/>
    </p:embeddedFont>
    <p:embeddedFont>
      <p:font typeface="Space Grotesk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1.xml"/><Relationship Id="rId23" Type="http://schemas.openxmlformats.org/officeDocument/2006/relationships/slide" Target="slides/slide15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farmer, not the tech. Say it slowly:</a:t>
            </a:r>
          </a:p>
          <a:p>
            <a:r>
              <a:t>"A smallholder farmer can grow a good harvest and still lose it — not to drought, not to disease, but to a grain bin they can't see inside. That's the whole problem in one sentence. Everything we've built is the fix."</a:t>
            </a:r>
          </a:p>
          <a:p>
            <a:r>
              <a:t>Tendai is an illustrative farmer — say so if asked. Her story is what the numbers on the next slide describe.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how a farmer judges us — not by the tech. Four questions, four screens from the working app:</a:t>
            </a:r>
          </a:p>
          <a:p>
            <a:r>
              <a:t>1. What does it do for me? It watches your harvest.</a:t>
            </a:r>
          </a:p>
          <a:p>
            <a:r>
              <a:t>2. Is it easier? It tells you what to do, in plain words.</a:t>
            </a:r>
          </a:p>
          <a:p>
            <a:r>
              <a:t>3. Is it cheaper? Free warnings, a $1 cooler, a $2–3 bag.</a:t>
            </a:r>
          </a:p>
          <a:p>
            <a:r>
              <a:t>4. Can I use my phone? Any phone — app, SMS or a voice call.</a:t>
            </a:r>
          </a:p>
          <a:p>
            <a:r>
              <a:t>These are real screens from the prototype's 'How AgriShield helps you'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judges — and every farmer — care how it reaches them, not what it's built with. Smartphone: the full app, working with no signal. Basic phone: the same warning as an SMS. Can't read? A voice call reads it out. All three go through one channel, Africa's Talking.</a:t>
            </a:r>
          </a:p>
          <a:p>
            <a:r>
              <a:t>On screen is the prototype's call screen. Be plain: the live call needs the Africa's Talking account switched on; in the demo it runs through our backend in demo mode.</a:t>
            </a:r>
          </a:p>
          <a:p>
            <a:r>
              <a:t>(The technical architecture is in the appendix if a judge asks.)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room one number to remember. In the live demo the gap grows as the cooler keeps working — about +17 to +19 hours after 30–40 seconds.</a:t>
            </a:r>
          </a:p>
          <a:p>
            <a:r>
              <a:t>Be exact about what it is: a live reading from the prototype (sensor simulated until the hardware is connected), using the food-science rule that spoilage roughly doubles every 10°C. The exact rate differs per crop and still needs checking against a food-storage reference.</a:t>
            </a:r>
          </a:p>
          <a:p>
            <a:r>
              <a:t>The zeer pot-in-pot cooler: Mohammed Bah Abba, Rolex Award 2001, about $1 to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Farmers ask 'what will this cost me?' before anything else. Answer it plainly: the warnings are free; the fixes are things they can afford today — a clay-pot cooler for about a dollar, a PICS bag for about two to three dollars. The sensor is rented by the season.</a:t>
            </a:r>
          </a:p>
          <a:p>
            <a:r>
              <a:t>Don't give a sensor price until we have three local supplier quotes (playbook §02). PICS bag price is the commonly quoted figure — not reconfirmed from a live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in one breath, then go straight to Tendai — no tech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numbers behind Tendai's story. Have the source for each figure ready if a judge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loop through the whole season. Be plain about what is live and what is next: market prices and weather alerts are coming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part to show live: the two thermometers, then the phone ringing. Keep the backup video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like a story. Then point at the labels on the right: what is a working prototype today, and what is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— only if a judge asks how it's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notesSlide" Target="../notesSlides/notesSlide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BBB52AD-040F-7EE5-04E5-22CE0B296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49" y="840702"/>
            <a:ext cx="3145872" cy="2937895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466987" y="478753"/>
            <a:ext cx="1928812" cy="304800"/>
          </a:xfrm>
          <a:prstGeom prst="roundRect">
            <a:avLst>
              <a:gd name="adj" fmla="val 50000"/>
            </a:avLst>
          </a:prstGeom>
          <a:solidFill>
            <a:srgbClr val="0F2F37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40" y="4427762"/>
            <a:ext cx="446943" cy="4469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76" y="5034042"/>
            <a:ext cx="451707" cy="4517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775" y="5645086"/>
            <a:ext cx="451707" cy="4517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11657" y="755329"/>
            <a:ext cx="3022833" cy="64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sz="4500" b="1" i="0" u="none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AgriShield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3575" y="1718131"/>
            <a:ext cx="69532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i="0" u="none" dirty="0">
                <a:solidFill>
                  <a:srgbClr val="CBD5E1"/>
                </a:solidFill>
                <a:latin typeface="Arial Black" panose="020B0A04020102020204" pitchFamily="34" charset="0"/>
              </a:rPr>
              <a:t>Offline-First Agricultural Decision-Support Platform for Zimbabwean Smallholder Farmers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35903"/>
            <a:ext cx="171926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4D399"/>
                </a:solidFill>
                <a:latin typeface="Plus Jakarta Sans"/>
              </a:rPr>
              <a:t>AGRITECH 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837" y="4521176"/>
            <a:ext cx="257827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94A3B8"/>
                </a:solidFill>
                <a:latin typeface="Arial Black" panose="020B0A04020102020204" pitchFamily="34" charset="0"/>
              </a:rPr>
              <a:t>IoT Storage 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837" y="5121396"/>
            <a:ext cx="235051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94A3B8"/>
                </a:solidFill>
                <a:latin typeface="Arial Black" panose="020B0A04020102020204" pitchFamily="34" charset="0"/>
              </a:rPr>
              <a:t>AI Plant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837" y="5802460"/>
            <a:ext cx="368536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94A3B8"/>
                </a:solidFill>
                <a:latin typeface="Arial Black" panose="020B0A04020102020204" pitchFamily="34" charset="0"/>
              </a:rPr>
              <a:t>Satellite Climate Intelligence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0B5E61-DC2C-F3CC-14A9-4ED41E58568E}"/>
              </a:ext>
            </a:extLst>
          </p:cNvPr>
          <p:cNvSpPr txBox="1"/>
          <p:nvPr/>
        </p:nvSpPr>
        <p:spPr>
          <a:xfrm>
            <a:off x="8957650" y="5242551"/>
            <a:ext cx="3607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TEAM MEMBERS:</a:t>
            </a:r>
          </a:p>
          <a:p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SHALLIN T. TAIRO</a:t>
            </a:r>
          </a:p>
          <a:p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MARK CHINDUDZI</a:t>
            </a:r>
          </a:p>
          <a:p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CHRISTOPHER GOCHERO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834306-65A0-1BBB-1DFB-DCA6949C966E}"/>
              </a:ext>
            </a:extLst>
          </p:cNvPr>
          <p:cNvGrpSpPr/>
          <p:nvPr/>
        </p:nvGrpSpPr>
        <p:grpSpPr>
          <a:xfrm>
            <a:off x="3672391" y="2620773"/>
            <a:ext cx="8519609" cy="4327064"/>
            <a:chOff x="8462935" y="5406830"/>
            <a:chExt cx="8519609" cy="4327064"/>
          </a:xfrm>
        </p:grpSpPr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02F9AD57-94CF-7DD6-7160-4BCF9EE41662}"/>
                </a:ext>
              </a:extLst>
            </p:cNvPr>
            <p:cNvSpPr txBox="1"/>
            <p:nvPr/>
          </p:nvSpPr>
          <p:spPr>
            <a:xfrm>
              <a:off x="8462935" y="5406830"/>
              <a:ext cx="759394" cy="2629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150" normalizeH="0" baseline="0" noProof="0" dirty="0">
                  <a:ln>
                    <a:noFill/>
                  </a:ln>
                  <a:solidFill>
                    <a:srgbClr val="F2A71B"/>
                  </a:solidFill>
                  <a:effectLst/>
                  <a:uLnTx/>
                  <a:uFillTx/>
                  <a:ea typeface="Calibri" pitchFamily="34" charset="-122"/>
                  <a:cs typeface="Calibri" pitchFamily="34" charset="-120"/>
                </a:rPr>
                <a:t>TRACK 4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C84CAC0-8362-AC31-C14A-0CBDF690AB79}"/>
                </a:ext>
              </a:extLst>
            </p:cNvPr>
            <p:cNvGrpSpPr/>
            <p:nvPr/>
          </p:nvGrpSpPr>
          <p:grpSpPr>
            <a:xfrm>
              <a:off x="8462935" y="5790187"/>
              <a:ext cx="8519609" cy="3943707"/>
              <a:chOff x="8462935" y="5790187"/>
              <a:chExt cx="8519609" cy="3943707"/>
            </a:xfrm>
          </p:grpSpPr>
          <p:sp>
            <p:nvSpPr>
              <p:cNvPr id="18" name="Text 10">
                <a:extLst>
                  <a:ext uri="{FF2B5EF4-FFF2-40B4-BE49-F238E27FC236}">
                    <a16:creationId xmlns:a16="http://schemas.microsoft.com/office/drawing/2014/main" id="{F906A235-4731-5041-13C3-554CE78A069B}"/>
                  </a:ext>
                </a:extLst>
              </p:cNvPr>
              <p:cNvSpPr txBox="1"/>
              <p:nvPr/>
            </p:nvSpPr>
            <p:spPr>
              <a:xfrm>
                <a:off x="8462935" y="5790187"/>
                <a:ext cx="1088859" cy="262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Calibri" pitchFamily="34" charset="-122"/>
                    <a:cs typeface="Calibri" pitchFamily="34" charset="-120"/>
                  </a:rPr>
                  <a:t>AGRITECH 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Text 13">
                <a:extLst>
                  <a:ext uri="{FF2B5EF4-FFF2-40B4-BE49-F238E27FC236}">
                    <a16:creationId xmlns:a16="http://schemas.microsoft.com/office/drawing/2014/main" id="{C98543D6-7408-ABEC-7EA6-7FB04BE3B5E6}"/>
                  </a:ext>
                </a:extLst>
              </p:cNvPr>
              <p:cNvSpPr txBox="1"/>
              <p:nvPr/>
            </p:nvSpPr>
            <p:spPr>
              <a:xfrm>
                <a:off x="8474119" y="6189484"/>
                <a:ext cx="3474720" cy="382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Innovate. Build. Transform.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" name="Text 14">
                <a:extLst>
                  <a:ext uri="{FF2B5EF4-FFF2-40B4-BE49-F238E27FC236}">
                    <a16:creationId xmlns:a16="http://schemas.microsoft.com/office/drawing/2014/main" id="{59E8082E-F4EB-0E20-D1C6-862C63D1AF51}"/>
                  </a:ext>
                </a:extLst>
              </p:cNvPr>
              <p:cNvSpPr txBox="1"/>
              <p:nvPr/>
            </p:nvSpPr>
            <p:spPr>
              <a:xfrm>
                <a:off x="14703763" y="9207673"/>
                <a:ext cx="2278781" cy="52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EB9D2"/>
                    </a:solidFill>
                    <a:effectLst/>
                    <a:uLnTx/>
                    <a:uFillTx/>
                    <a:ea typeface="Calibri" pitchFamily="34" charset="-122"/>
                    <a:cs typeface="Calibri" pitchFamily="34" charset="-120"/>
                  </a:rPr>
                  <a:t>Africa University, Zimbabwe</a:t>
                </a:r>
                <a:endParaRPr kumimoji="0" lang="en-US" sz="13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105917"/>
            <a:ext cx="5257800" cy="1000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296542"/>
            <a:ext cx="5257800" cy="1000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487167"/>
            <a:ext cx="5257800" cy="1000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105917"/>
            <a:ext cx="38100" cy="1000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296542"/>
            <a:ext cx="38100" cy="10001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487167"/>
            <a:ext cx="38100" cy="10001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82105"/>
            <a:ext cx="5257800" cy="3429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082105"/>
            <a:ext cx="525780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735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MACRO CONTEXT &amp; VULNERABILITY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The Zimbabwean Smallholder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277367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$126M Annual Agricultural Risk Losses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534542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Drought exposure and rainfall deficits devastate rain-fed production cycles.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467992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16.5% Post-Harvest Loss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725167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Lack of storage monitoring and cold infrastructure spoils harvested grains and produce.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658617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75% Smallholders Under 2 Hectares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15792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Requires low-cost, shared-service digital tools over high-cost machinery.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8437"/>
            <a:ext cx="2600325" cy="2116187"/>
          </a:xfrm>
          <a:prstGeom prst="roundRect">
            <a:avLst>
              <a:gd name="adj" fmla="val 63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845147"/>
            <a:ext cx="2600325" cy="1902916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845147"/>
            <a:ext cx="2600325" cy="1902916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738437"/>
            <a:ext cx="2600325" cy="2116187"/>
          </a:xfrm>
          <a:prstGeom prst="roundRect">
            <a:avLst>
              <a:gd name="adj" fmla="val 63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051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11184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311184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0675" y="300513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128962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8562" y="3235672"/>
            <a:ext cx="2381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3235672"/>
            <a:ext cx="26670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0" y="3128962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068050" cy="735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INTEGRATED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Whole-Season Decision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633787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Crop Disease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948112"/>
            <a:ext cx="2238375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Offline TFLite leaf diagnostics with extension referral.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740497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Solar Storage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9025" y="4054822"/>
            <a:ext cx="22383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Real-time temperature and humidity spoilage alerts.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740497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Climate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4054822"/>
            <a:ext cx="22383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Sentinel-2 district view; local weather alerts coming next.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3633787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Market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3948112"/>
            <a:ext cx="2238375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AMA vegetable prices from Mbare and more — coming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48780"/>
            <a:ext cx="5334000" cy="3295650"/>
          </a:xfrm>
          <a:prstGeom prst="roundRect">
            <a:avLst>
              <a:gd name="adj" fmla="val 46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148780"/>
            <a:ext cx="5334000" cy="3295650"/>
          </a:xfrm>
          <a:prstGeom prst="roundRect">
            <a:avLst>
              <a:gd name="adj" fmla="val 46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482155"/>
            <a:ext cx="17145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482155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068050" cy="735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APPENDIX · TECHNICAL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Resilient Offline-First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9675" y="2463105"/>
            <a:ext cx="326290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Edge &amp; On-Device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920305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Flutter Mobile App: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Single codebase for Android-first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10855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TensorFlow Lite: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On-device crop illness screening without internet.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01405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Solar IoT Nodes: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Microcontroller-based temperature/humidity sensors.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691955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Local Cache Sync: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Delayed data upload when connectivity resumes.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5625" y="2463105"/>
            <a:ext cx="313789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Cloud &amp; Gateway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2920305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FastAPI Backend: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Python REST API with PostgreSQL database.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510855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Africa's Talking: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Multi-channel SMS, USSD, and Voice dispatch.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4101405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Google Earth Engine: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Scheduled Sentinel-2 satellite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4691955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Open-Meteo Integration: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Automated local weather forecast feeds.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24600" y="2148780"/>
            <a:ext cx="52578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3177480"/>
            <a:ext cx="52578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4600" y="4406205"/>
            <a:ext cx="52578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2105"/>
            <a:ext cx="5257800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82105"/>
            <a:ext cx="52578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068050" cy="735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MODULE SPOTLIGHT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Solar Storage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339280"/>
            <a:ext cx="56769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Low-Cost IoT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596455"/>
            <a:ext cx="56769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Solar panel, rechargeable battery, and high-accuracy DHT sensors.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367980"/>
            <a:ext cx="56769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Early Spoilage Threshold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625155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Converts temperature and relative humidity into actionable SMS warnings.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596705"/>
            <a:ext cx="56769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Evidence-Before-Infrastructure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853880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Uses sensor data to validate actual demand before building $30k solar cold rooms.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50000" y="545000"/>
            <a:ext cx="1650000" cy="320000"/>
          </a:xfrm>
          <a:prstGeom prst="roundRect">
            <a:avLst>
              <a:gd name="adj" fmla="val 50000"/>
            </a:avLst>
          </a:prstGeom>
          <a:solidFill>
            <a:srgbClr val="F0FBF6"/>
          </a:solidFill>
          <a:ln w="9525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D6A4F"/>
                </a:solidFill>
                <a:latin typeface="Plus Jakarta Sans"/>
              </a:rPr>
              <a:t>See it 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48767"/>
            <a:ext cx="52578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77492"/>
            <a:ext cx="52578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06217"/>
            <a:ext cx="52578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82105"/>
            <a:ext cx="5257800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082105"/>
            <a:ext cx="52578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068050" cy="735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MODULE SPOTLIGHT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Geospatial &amp; AI Plant Screening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239267"/>
            <a:ext cx="6400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10-Meter Sentinel-2 Satellite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496442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Detects district-level vegetation stress and drought anomalies early.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467992"/>
            <a:ext cx="6400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Cautious AI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725167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Provides first-level leaf symptom checks with explicit confidence scoring.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696717"/>
            <a:ext cx="6400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Human AGRITEX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953892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Refers uncertain disease classifications directly to local extension officers.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72667"/>
            <a:ext cx="36576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0" y="2772667"/>
            <a:ext cx="36576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2463105"/>
            <a:ext cx="3048000" cy="266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2463105"/>
            <a:ext cx="3048000" cy="2667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068050" cy="735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MARKET ACCESS · PHASE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Market Pricing &amp; Net-Return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77467"/>
            <a:ext cx="38100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4050" b="1" i="0" u="none">
                <a:solidFill>
                  <a:srgbClr val="059669"/>
                </a:solidFill>
                <a:latin typeface="Plus Jakarta Sans"/>
              </a:rPr>
              <a:t>352M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4217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Smallholder Volume Potential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5692"/>
            <a:ext cx="3143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Delivered by smallholders across tobacco and staple grains in peak seasons.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0" y="3077467"/>
            <a:ext cx="38100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4050" b="1" i="0" u="none">
                <a:solidFill>
                  <a:srgbClr val="2563EB"/>
                </a:solidFill>
                <a:latin typeface="Plus Jakarta Sans"/>
              </a:rPr>
              <a:t>6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3744217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AMA Price Feed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800" y="4115692"/>
            <a:ext cx="3143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Piloting first in Mbare, then Sakubva, Chipadze, Renkini, Chiredzi.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6800" y="2839667"/>
            <a:ext cx="2000000" cy="2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B45309"/>
                </a:solidFill>
                <a:latin typeface="Plus Jakarta Sans"/>
              </a:rPr>
              <a:t>Priority: Mbare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3642"/>
            <a:ext cx="2600325" cy="1685925"/>
          </a:xfrm>
          <a:prstGeom prst="roundRect">
            <a:avLst>
              <a:gd name="adj" fmla="val 7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953642"/>
            <a:ext cx="2600325" cy="1685925"/>
          </a:xfrm>
          <a:prstGeom prst="roundRect">
            <a:avLst>
              <a:gd name="adj" fmla="val 7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953642"/>
            <a:ext cx="2600325" cy="1685925"/>
          </a:xfrm>
          <a:prstGeom prst="roundRect">
            <a:avLst>
              <a:gd name="adj" fmla="val 7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953642"/>
            <a:ext cx="2600325" cy="1685925"/>
          </a:xfrm>
          <a:prstGeom prst="roundRect">
            <a:avLst>
              <a:gd name="adj" fmla="val 7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068050" cy="735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COMMERCIAL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Multi-Stream Sustainability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220342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Hardware-as-a-Service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515617"/>
            <a:ext cx="23145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Seasonal leasing of solar IoT storage sensor units to farmers and traders.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0925" y="3220342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Co-op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0925" y="3515617"/>
            <a:ext cx="23145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Bulk storage tracking and group management dashboards for aggregation hubs.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0" y="3220342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Freemium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3515617"/>
            <a:ext cx="23145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Core USSD/SMS weather and crop alerts provided free to smallholders.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2575" y="3220342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NGO Data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2575" y="3515617"/>
            <a:ext cx="23145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Anonymized regional risk analytics and yield trends for development partners.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" y="2968000"/>
            <a:ext cx="1550000" cy="17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2D6A4F"/>
                </a:solidFill>
                <a:latin typeface="Plus Jakarta Sans"/>
              </a:rPr>
              <a:t>Start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010792"/>
            <a:ext cx="2628900" cy="1571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010792"/>
            <a:ext cx="26289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90900" y="3010792"/>
            <a:ext cx="2628900" cy="1571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90900" y="3010792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72200" y="3010792"/>
            <a:ext cx="2628900" cy="1571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72200" y="3010792"/>
            <a:ext cx="26289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53500" y="3010792"/>
            <a:ext cx="2628900" cy="1571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53500" y="3010792"/>
            <a:ext cx="26289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068050" cy="735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EXECUTION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Strategic Phased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239392"/>
            <a:ext cx="2381250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Plus Jakarta Sans"/>
              </a:rPr>
              <a:t>PHASE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350" y="3239392"/>
            <a:ext cx="2381250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PHASE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3650" y="3239392"/>
            <a:ext cx="2381250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PHASE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4950" y="3239392"/>
            <a:ext cx="2381250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333EA"/>
                </a:solidFill>
                <a:latin typeface="Plus Jakarta Sans"/>
              </a:rPr>
              <a:t>PHASE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3534667"/>
            <a:ext cx="3000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Core 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3810892"/>
            <a:ext cx="23812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Offline app, solar storage sensor prototype, basic TFLite leaf diagnostics.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2350" y="3534667"/>
            <a:ext cx="3000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2350" y="3810892"/>
            <a:ext cx="23812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Sentinel-2 maps, Open-Meteo integration, and AMA price engine.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3650" y="3534667"/>
            <a:ext cx="3000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Local Field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3650" y="3810892"/>
            <a:ext cx="23812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AGRITEX human workflow, dataset collection, and outcome metrics.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4950" y="3534667"/>
            <a:ext cx="3000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4950" y="3810892"/>
            <a:ext cx="23812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Kuwana price engine, buyer-matching, and transport logistics.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58500" y="3025792"/>
            <a:ext cx="1350000" cy="2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2D6A4F"/>
                </a:solidFill>
                <a:latin typeface="Plus Jakarta Sans"/>
              </a:rPr>
              <a:t>Prototype live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9800" y="3025792"/>
            <a:ext cx="1350000" cy="2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5A6B62"/>
                </a:solidFill>
                <a:latin typeface="Plus Jakarta Sans"/>
              </a:rPr>
              <a:t>Planned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21100" y="3025792"/>
            <a:ext cx="1350000" cy="2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5A6B62"/>
                </a:solidFill>
                <a:latin typeface="Plus Jakarta Sans"/>
              </a:rPr>
              <a:t>Planned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02400" y="3025792"/>
            <a:ext cx="1350000" cy="2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5A6B62"/>
                </a:solidFill>
                <a:latin typeface="Plus Jakarta Sans"/>
              </a:rPr>
              <a:t>Planned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10780"/>
            <a:ext cx="2600325" cy="1771650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910780"/>
            <a:ext cx="2600325" cy="1771650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910780"/>
            <a:ext cx="2600325" cy="1771650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910780"/>
            <a:ext cx="2600325" cy="1771650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77480"/>
            <a:ext cx="2143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177480"/>
            <a:ext cx="2143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3177480"/>
            <a:ext cx="2143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0675" y="3177480"/>
            <a:ext cx="21431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735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LONG-TERM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AgriShield Innovate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77530"/>
            <a:ext cx="281285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Agri-Rover Scouting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872805"/>
            <a:ext cx="22383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Autonomous row-tracking robot adapted from Campus Compass capstone.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9025" y="3577530"/>
            <a:ext cx="281285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BSF Waste-to-Feed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3872805"/>
            <a:ext cx="22383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Black soldier fly larvae automation turning crop residues into livestock feed.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577530"/>
            <a:ext cx="281285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Kuwana Input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872805"/>
            <a:ext cx="22383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Compute-first BCI scoring comparing fertilizer and seed quality versus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0675" y="3577530"/>
            <a:ext cx="281285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Solar Drip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675" y="3872805"/>
            <a:ext cx="22383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Closed-loop soil moisture sensors controlling solar irrigation pumps directly.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90000"/>
            <a:ext cx="1550000" cy="330000"/>
          </a:xfrm>
          <a:prstGeom prst="roundRect">
            <a:avLst>
              <a:gd name="adj" fmla="val 50000"/>
            </a:avLst>
          </a:prstGeom>
          <a:solidFill>
            <a:srgbClr val="0F2F37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34D399"/>
                </a:solidFill>
                <a:latin typeface="Plus Jakarta Sans"/>
              </a:rPr>
              <a:t>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00000"/>
            <a:ext cx="110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0" i="0">
                <a:solidFill>
                  <a:srgbClr val="FFFFFF"/>
                </a:solidFill>
                <a:latin typeface="Arial Black"/>
              </a:rPr>
              <a:t>One Morning in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80000"/>
            <a:ext cx="6900000" cy="2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50" b="0" i="0">
                <a:solidFill>
                  <a:srgbClr val="CBD5E1"/>
                </a:solidFill>
                <a:latin typeface="Plus Jakarta Sans"/>
              </a:rPr>
              <a:t>Before sunrise, last night’s storage reading has already synced quietly to the network — no alert needed, because nothing crossed the line.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50" b="0" i="0">
                <a:solidFill>
                  <a:srgbClr val="CBD5E1"/>
                </a:solidFill>
                <a:latin typeface="Plus Jakarta Sans"/>
              </a:rPr>
              <a:t>A solar-charged Agri-Rover has already walked the maize rows at dawn, its camera flagging two stressed plants that a satellite pass first noticed three days earlier. By the time the farmer reaches the field, a diagnosis is already waiting on their phone.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50" b="0" i="0">
                <a:solidFill>
                  <a:srgbClr val="CBD5E1"/>
                </a:solidFill>
                <a:latin typeface="Plus Jakarta Sans"/>
              </a:rPr>
              <a:t>Overnight, soil-moisture sensors opened the drip line on their own — no app, no phone, just water where the roots needed it. Nearby, the Kuwana input engine has already compared three suppliers’ fertiliser prices against this season’s forecast, waiting only for a tap to confirm.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4850000"/>
            <a:ext cx="3200000" cy="9525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000000"/>
            <a:ext cx="6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1" i="1">
                <a:solidFill>
                  <a:srgbClr val="FFFFFF"/>
                </a:solidFill>
                <a:latin typeface="Plus Jakarta Sans"/>
              </a:rPr>
              <a:t>None of this is invention. Every piece is a working prototype today or already proven elsewhere — this is only what happens when they keep running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0000" y="1780000"/>
            <a:ext cx="3280000" cy="560000"/>
          </a:xfrm>
          <a:prstGeom prst="roundRect">
            <a:avLst>
              <a:gd name="adj" fmla="val 12000"/>
            </a:avLst>
          </a:prstGeom>
          <a:solidFill>
            <a:srgbClr val="152238"/>
          </a:solidFill>
          <a:ln w="9525">
            <a:solidFill>
              <a:srgbClr val="2332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20000" tIns="50000" bIns="50000"/>
          <a:lstStyle/>
          <a:p>
            <a:pPr algn="ctr"/>
            <a:r>
              <a:rPr sz="1100" b="1">
                <a:solidFill>
                  <a:srgbClr val="E2E8F0"/>
                </a:solidFill>
                <a:latin typeface="Plus Jakarta Sans"/>
              </a:rPr>
              <a:t>Sensor + threshold logic</a:t>
            </a:r>
          </a:p>
          <a:p>
            <a:r>
              <a:rPr sz="950" i="1">
                <a:solidFill>
                  <a:srgbClr val="34D399"/>
                </a:solidFill>
                <a:latin typeface="Plus Jakarta Sans"/>
              </a:rPr>
              <a:t>working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0000" y="2440000"/>
            <a:ext cx="3280000" cy="560000"/>
          </a:xfrm>
          <a:prstGeom prst="roundRect">
            <a:avLst>
              <a:gd name="adj" fmla="val 12000"/>
            </a:avLst>
          </a:prstGeom>
          <a:solidFill>
            <a:srgbClr val="152238"/>
          </a:solidFill>
          <a:ln w="9525">
            <a:solidFill>
              <a:srgbClr val="2332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20000" tIns="50000" bIns="50000"/>
          <a:lstStyle/>
          <a:p>
            <a:pPr algn="ctr"/>
            <a:r>
              <a:rPr sz="1100" b="1">
                <a:solidFill>
                  <a:srgbClr val="E2E8F0"/>
                </a:solidFill>
                <a:latin typeface="Plus Jakarta Sans"/>
              </a:rPr>
              <a:t>TFLite disease screening</a:t>
            </a:r>
          </a:p>
          <a:p>
            <a:r>
              <a:rPr sz="950" i="1">
                <a:solidFill>
                  <a:srgbClr val="34D399"/>
                </a:solidFill>
                <a:latin typeface="Plus Jakarta Sans"/>
              </a:rPr>
              <a:t>prototype · demo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0000" y="3100000"/>
            <a:ext cx="3280000" cy="560000"/>
          </a:xfrm>
          <a:prstGeom prst="roundRect">
            <a:avLst>
              <a:gd name="adj" fmla="val 12000"/>
            </a:avLst>
          </a:prstGeom>
          <a:solidFill>
            <a:srgbClr val="152238"/>
          </a:solidFill>
          <a:ln w="9525">
            <a:solidFill>
              <a:srgbClr val="2332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20000" tIns="50000" bIns="50000"/>
          <a:lstStyle/>
          <a:p>
            <a:pPr algn="ctr"/>
            <a:r>
              <a:rPr sz="1100" b="1">
                <a:solidFill>
                  <a:srgbClr val="E2E8F0"/>
                </a:solidFill>
                <a:latin typeface="Plus Jakarta Sans"/>
              </a:rPr>
              <a:t>Sentinel-2 + Open-Meteo pulls</a:t>
            </a:r>
          </a:p>
          <a:p>
            <a:r>
              <a:rPr sz="950" i="1">
                <a:solidFill>
                  <a:srgbClr val="34D399"/>
                </a:solidFill>
                <a:latin typeface="Plus Jakarta Sans"/>
              </a:rPr>
              <a:t>designed · demo data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0000" y="3760000"/>
            <a:ext cx="3280000" cy="560000"/>
          </a:xfrm>
          <a:prstGeom prst="roundRect">
            <a:avLst>
              <a:gd name="adj" fmla="val 12000"/>
            </a:avLst>
          </a:prstGeom>
          <a:solidFill>
            <a:srgbClr val="152238"/>
          </a:solidFill>
          <a:ln w="9525">
            <a:solidFill>
              <a:srgbClr val="2332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20000" tIns="50000" bIns="50000"/>
          <a:lstStyle/>
          <a:p>
            <a:pPr algn="ctr"/>
            <a:r>
              <a:rPr sz="1100" b="1">
                <a:solidFill>
                  <a:srgbClr val="E2E8F0"/>
                </a:solidFill>
                <a:latin typeface="Plus Jakarta Sans"/>
              </a:rPr>
              <a:t>Agri-Rover, Kuwana engine, solar drip</a:t>
            </a:r>
          </a:p>
          <a:p>
            <a:r>
              <a:rPr sz="950" i="1">
                <a:solidFill>
                  <a:srgbClr val="94A3B8"/>
                </a:solidFill>
                <a:latin typeface="Plus Jakarta Sans"/>
              </a:rPr>
              <a:t>roadmap, not yet built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0767"/>
            <a:ext cx="3505200" cy="1971675"/>
          </a:xfrm>
          <a:prstGeom prst="roundRect">
            <a:avLst>
              <a:gd name="adj" fmla="val 77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10767"/>
            <a:ext cx="3505200" cy="1971675"/>
          </a:xfrm>
          <a:prstGeom prst="roundRect">
            <a:avLst>
              <a:gd name="adj" fmla="val 77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10767"/>
            <a:ext cx="3505200" cy="1971675"/>
          </a:xfrm>
          <a:prstGeom prst="roundRect">
            <a:avLst>
              <a:gd name="adj" fmla="val 77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068050" cy="735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MEASURABLE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Target Operational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825" y="3153667"/>
            <a:ext cx="37147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59669"/>
                </a:solidFill>
                <a:latin typeface="Plus Jakarta Sans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825" y="3801367"/>
            <a:ext cx="3714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Storage Loss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825" y="4077592"/>
            <a:ext cx="371475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Zimbabwe's national post-harvest-loss target for 2030 — AgriShield's contribution toward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8625" y="3153667"/>
            <a:ext cx="37147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2563EB"/>
                </a:solidFill>
                <a:latin typeface="Plus Jakarta Sans"/>
              </a:rPr>
              <a:t>&lt; 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8625" y="3801367"/>
            <a:ext cx="3714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Diagnostic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8625" y="4077592"/>
            <a:ext cx="3714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On-device leaf symptom response time without network.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2425" y="3153667"/>
            <a:ext cx="37147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F172A"/>
                </a:solidFill>
                <a:latin typeface="Plus Jakarta San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2425" y="3801367"/>
            <a:ext cx="3714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Offline 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2425" y="4077592"/>
            <a:ext cx="3714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Core functions operate without cellular connection.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31606" y="1948755"/>
            <a:ext cx="1728787" cy="304800"/>
          </a:xfrm>
          <a:prstGeom prst="roundRect">
            <a:avLst>
              <a:gd name="adj" fmla="val 50000"/>
            </a:avLst>
          </a:prstGeom>
          <a:solidFill>
            <a:srgbClr val="0F2F37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76575" y="4156620"/>
            <a:ext cx="3038475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43650" y="4156620"/>
            <a:ext cx="2771775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67907" y="2005905"/>
            <a:ext cx="185618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4D399"/>
                </a:solidFill>
                <a:latin typeface="Plus Jakarta Sans"/>
              </a:rPr>
              <a:t>JOIN THE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3042" y="2482155"/>
            <a:ext cx="7325915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Space Grotesk"/>
              </a:rPr>
              <a:t>Partner With AgriShield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242220"/>
            <a:ext cx="7620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Building scalable climate resilience and food security for African smallholder farming communities.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4318545"/>
            <a:ext cx="3107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Core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4528095"/>
            <a:ext cx="26622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FFFFFF"/>
                </a:solidFill>
                <a:latin typeface="Plus Jakarta Sans"/>
              </a:rPr>
              <a:t>AgriTech &amp; Climate Resilience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4318545"/>
            <a:ext cx="2774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Target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75" y="4528095"/>
            <a:ext cx="27741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Zimbabwe Rural Pilot Hubs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060000"/>
            <a:ext cx="76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4A3B8"/>
                </a:solidFill>
                <a:latin typeface="Plus Jakarta Sans"/>
              </a:rPr>
              <a:t>Live demo → </a:t>
            </a:r>
            <a:r>
              <a:rPr sz="1200" b="1">
                <a:solidFill>
                  <a:srgbClr val="34D399"/>
                </a:solidFill>
                <a:latin typeface="Plus Jakarta Sans"/>
              </a:rPr>
              <a:t>github.com/NatureAiia/AgriShield_Super_App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7049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4765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8225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47850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9090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181100"/>
            <a:ext cx="2595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i="0" u="none">
                <a:solidFill>
                  <a:srgbClr val="F8FAFC"/>
                </a:solidFill>
                <a:latin typeface="Plus Jakarta Sans"/>
              </a:rPr>
              <a:t>Source: www.hrnstiftung.org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1990725"/>
            <a:ext cx="2809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i="0" u="none">
                <a:solidFill>
                  <a:srgbClr val="F8FAFC"/>
                </a:solidFill>
                <a:latin typeface="Plus Jakarta Sans"/>
              </a:rPr>
              <a:t>Source: adaptiveagriculture.ca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762250"/>
            <a:ext cx="2214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i="0" u="none">
                <a:solidFill>
                  <a:srgbClr val="F8FAFC"/>
                </a:solidFill>
                <a:latin typeface="Plus Jakarta Sans"/>
              </a:rPr>
              <a:t>Source: www.agrii.co.uk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529013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i="0" u="none">
                <a:solidFill>
                  <a:srgbClr val="F8FAFC"/>
                </a:solidFill>
                <a:latin typeface="Plus Jakarta Sans"/>
              </a:rPr>
              <a:t>Source: www.mastercard.com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" y="5760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Plus Jakarta Sans"/>
              </a:rPr>
              <a:t>App screenshots: AgriShield working prototype — github.com/NatureAiia/AgriShield_Super_App. Farmer "Tendai" is illustrative.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533095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Plus Jakarta Sans"/>
              </a:rPr>
              <a:t>THE FARMER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80897"/>
            <a:ext cx="11585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0F172A"/>
                </a:solidFill>
                <a:latin typeface="Plus Jakarta Sans"/>
              </a:rPr>
              <a:t>Meet Tendai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2011680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945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Plus Jakarta Sans"/>
              </a:rPr>
              <a:t>She grew a good maize harvest.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4203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Plus Jakarta Sans"/>
              </a:rPr>
              <a:t>Good rains, hard work, a full store.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00400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8328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Plus Jakarta Sans"/>
              </a:rPr>
              <a:t>Then it spoiled, out of sight.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3075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Plus Jakarta Sans"/>
              </a:rPr>
              <a:t>Warm, damp air inside the store. Mold starts before anyone can see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4389120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720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Plus Jakarta Sans"/>
              </a:rPr>
              <a:t>Nobody warned her in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91947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Plus Jakarta Sans"/>
              </a:rPr>
              <a:t>No sensor, no signal, no extension officer nearby.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011680"/>
            <a:ext cx="5257800" cy="34381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904" y="5715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059669"/>
                </a:solidFill>
                <a:latin typeface="Plus Jakarta Sans"/>
              </a:rPr>
              <a:t>AgriShield is built so the next harvest ends differently.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5486400"/>
            <a:ext cx="5257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475569"/>
                </a:solidFill>
                <a:latin typeface="Plus Jakarta Sans"/>
              </a:rPr>
              <a:t>Tendai is an illustrative farmer.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533095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Plus Jakarta Sans"/>
              </a:rPr>
              <a:t>THE FARMER'S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80897"/>
            <a:ext cx="11585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0F172A"/>
                </a:solidFill>
                <a:latin typeface="Plus Jakarta Sans"/>
              </a:rPr>
              <a:t>Four questions every farmer asks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7024" y="1481328"/>
            <a:ext cx="2081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lus Jakarta Sans"/>
              </a:rPr>
              <a:t>What does it do for me?</a:t>
            </a:r>
          </a:p>
        </p:txBody>
      </p:sp>
      <p:pic>
        <p:nvPicPr>
          <p:cNvPr id="5" name="Picture 4" descr="p_0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1828800"/>
            <a:ext cx="1715305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5584" y="5650992"/>
            <a:ext cx="22639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Plus Jakarta Sans"/>
              </a:rPr>
              <a:t>It watches your harvest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2856" y="1481328"/>
            <a:ext cx="2081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lus Jakarta Sans"/>
              </a:rPr>
              <a:t>Will it make life easier?</a:t>
            </a:r>
          </a:p>
        </p:txBody>
      </p:sp>
      <p:pic>
        <p:nvPicPr>
          <p:cNvPr id="8" name="Picture 7" descr="p_1_fra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736" y="1828800"/>
            <a:ext cx="1715305" cy="3703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1416" y="5650992"/>
            <a:ext cx="22639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Plus Jakarta Sans"/>
              </a:rPr>
              <a:t>It says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688" y="1481328"/>
            <a:ext cx="2081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lus Jakarta Sans"/>
              </a:rPr>
              <a:t>Will it save me money?</a:t>
            </a:r>
          </a:p>
        </p:txBody>
      </p:sp>
      <p:pic>
        <p:nvPicPr>
          <p:cNvPr id="11" name="Picture 10" descr="p_2_fram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568" y="1828800"/>
            <a:ext cx="1715305" cy="3703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07248" y="5650992"/>
            <a:ext cx="22639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Plus Jakarta Sans"/>
              </a:rPr>
              <a:t>Free alerts, $1 fixes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519" y="1481328"/>
            <a:ext cx="2081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lus Jakarta Sans"/>
              </a:rPr>
              <a:t>Can I use my phone?</a:t>
            </a:r>
          </a:p>
        </p:txBody>
      </p:sp>
      <p:pic>
        <p:nvPicPr>
          <p:cNvPr id="14" name="Picture 13" descr="p_3_fram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7399" y="1828800"/>
            <a:ext cx="1715305" cy="3703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93079" y="5650992"/>
            <a:ext cx="22639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Plus Jakarta Sans"/>
              </a:rPr>
              <a:t>Any phone, no internet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533095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Plus Jakarta Sans"/>
              </a:rPr>
              <a:t>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80897"/>
            <a:ext cx="11585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0F172A"/>
                </a:solidFill>
                <a:latin typeface="Plus Jakarta Sans"/>
              </a:rPr>
              <a:t>Any phone. Even with no internet.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874519"/>
            <a:ext cx="694944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60" y="2148839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Plus Jakarta Sans"/>
              </a:rPr>
              <a:t>Smartphone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4144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Plus Jakarta Sans"/>
              </a:rPr>
              <a:t>The full app — and it keeps working with no signal.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63239"/>
            <a:ext cx="694944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3337559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46120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Plus Jakarta Sans"/>
              </a:rPr>
              <a:t>Basic 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3016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Plus Jakarta Sans"/>
              </a:rPr>
              <a:t>The same warning arrives as an 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4251960"/>
            <a:ext cx="694944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2960" y="452628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434840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Plus Jakarta Sans"/>
              </a:rPr>
              <a:t>Voice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81888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Plus Jakarta Sans"/>
              </a:rPr>
              <a:t>Can't read the message? A call reads it out to 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557784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059669"/>
                </a:solidFill>
                <a:latin typeface="Plus Jakarta Sans"/>
              </a:rPr>
              <a:t>One message. One thing to do. In words a farmer already uses.</a:t>
            </a:r>
          </a:p>
        </p:txBody>
      </p:sp>
      <p:pic>
        <p:nvPicPr>
          <p:cNvPr id="17" name="Picture 16" descr="call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463040"/>
            <a:ext cx="205413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533095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Plus Jakarta Sans"/>
              </a:rPr>
              <a:t>THE MOMENT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80897"/>
            <a:ext cx="11585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0F172A"/>
                </a:solidFill>
                <a:latin typeface="Plus Jakarta Sans"/>
              </a:rPr>
              <a:t>A $1 clay pot, no electricity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828800"/>
            <a:ext cx="6766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059669"/>
                </a:solidFill>
                <a:latin typeface="Plus Jakarta Sans"/>
              </a:rPr>
              <a:t>+19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32461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Plus Jakarta Sans"/>
              </a:rPr>
              <a:t>of extra shelf life for maize inside a zeer pot-in-pot cooler, compared with the same maize outside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4343400"/>
            <a:ext cx="658368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4507992"/>
            <a:ext cx="6126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Plus Jakarta Sans"/>
              </a:rPr>
              <a:t>How we know: </a:t>
            </a:r>
            <a:r>
              <a:rPr sz="1200" b="0" i="0">
                <a:solidFill>
                  <a:srgbClr val="475569"/>
                </a:solidFill>
                <a:latin typeface="Plus Jakarta Sans"/>
              </a:rPr>
              <a:t>two sensors, one inside the cooler and one outside. The app turns the temperature gap into hours using the rule that spoilage roughly doubles for every 10°C.</a:t>
            </a:r>
          </a:p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475569"/>
                </a:solidFill>
                <a:latin typeface="Plus Jakarta Sans"/>
              </a:rPr>
              <a:t>Demo reading, sensor simulated; per-crop rate still to be checked.</a:t>
            </a:r>
          </a:p>
        </p:txBody>
      </p:sp>
      <p:pic>
        <p:nvPicPr>
          <p:cNvPr id="8" name="Picture 7" descr="home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463040"/>
            <a:ext cx="205413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533095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Plus Jakarta Sans"/>
              </a:rPr>
              <a:t>WHAT IT COSTS A FARMER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80897"/>
            <a:ext cx="11585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0F172A"/>
                </a:solidFill>
                <a:latin typeface="Plus Jakarta Sans"/>
              </a:rPr>
              <a:t>Cheap enough to say yes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2103120"/>
            <a:ext cx="2537460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2784" y="2377440"/>
            <a:ext cx="21717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  <a:latin typeface="Plus Jakarta Sans"/>
              </a:rP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784" y="3246120"/>
            <a:ext cx="21717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Plus Jakarta Sans"/>
              </a:rPr>
              <a:t>Warnings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784" y="3657600"/>
            <a:ext cx="21717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Plus Jakarta Sans"/>
              </a:rPr>
              <a:t>SMS and voice-call alerts for smallholders.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1684" y="2103120"/>
            <a:ext cx="2537460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04564" y="2377440"/>
            <a:ext cx="21717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  <a:latin typeface="Plus Jakarta Sans"/>
              </a:rPr>
              <a:t>~$1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4564" y="3246120"/>
            <a:ext cx="21717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Plus Jakarta Sans"/>
              </a:rPr>
              <a:t>Zeer cooler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564" y="3657600"/>
            <a:ext cx="21717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Plus Jakarta Sans"/>
              </a:rPr>
              <a:t>Two clay pots and wet sand — built at home, no electricity.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464" y="2103120"/>
            <a:ext cx="2537460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16344" y="2377440"/>
            <a:ext cx="21717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  <a:latin typeface="Plus Jakarta Sans"/>
              </a:rPr>
              <a:t>~$2–3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344" y="3246120"/>
            <a:ext cx="21717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Plus Jakarta Sans"/>
              </a:rPr>
              <a:t>PICS bag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6344" y="3657600"/>
            <a:ext cx="21717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Plus Jakarta Sans"/>
              </a:rPr>
              <a:t>A sealed bag that stops pests and mold in stored grain.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5244" y="2103120"/>
            <a:ext cx="2537460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28124" y="2377440"/>
            <a:ext cx="21717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59669"/>
                </a:solidFill>
                <a:latin typeface="Plus Jakarta Sans"/>
              </a:rPr>
              <a:t>Per season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8124" y="3246120"/>
            <a:ext cx="21717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Plus Jakarta Sans"/>
              </a:rPr>
              <a:t>Solar sensor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8124" y="3657600"/>
            <a:ext cx="21717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Plus Jakarta Sans"/>
              </a:rPr>
              <a:t>Rented, not bought. Price being set with local suppliers.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" y="4846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059669"/>
                </a:solidFill>
                <a:latin typeface="Plus Jakarta Sans"/>
              </a:rPr>
              <a:t>No new machine to buy. No data plan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806</Words>
  <Application>Microsoft Office PowerPoint</Application>
  <PresentationFormat>Widescreen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 Black</vt:lpstr>
      <vt:lpstr>Calibri</vt:lpstr>
      <vt:lpstr>Space Grotesk</vt:lpstr>
      <vt:lpstr>Arial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christopher gochero</cp:lastModifiedBy>
  <cp:revision>2</cp:revision>
  <dcterms:created xsi:type="dcterms:W3CDTF">2013-01-27T09:14:16Z</dcterms:created>
  <dcterms:modified xsi:type="dcterms:W3CDTF">2026-09-24T20:26:40Z</dcterms:modified>
  <cp:category/>
</cp:coreProperties>
</file>