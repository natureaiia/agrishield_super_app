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Result</c:v>
                </c:pt>
              </c:strCache>
            </c:strRef>
          </c:tx>
          <c:spPr>
            <a:solidFill>
              <a:srgbClr val="17305E"/>
            </a:solidFill>
            <a:effectLst/>
          </c:spPr>
          <c:invertIfNegative val="0"/>
          <c:dLbls>
            <c:numFmt formatCode="#,##0" sourceLinked="0"/>
            <c:txPr>
              <a:bodyPr/>
              <a:lstStyle/>
              <a:p>
                <a:pPr>
                  <a:defRPr b="0" i="0" strike="noStrike" sz="1200" u="none">
                    <a:solidFill>
                      <a:srgbClr val="0E1F44"/>
                    </a:solidFill>
                    <a:latin typeface="Calibri"/>
                  </a:defRPr>
                </a:pPr>
              </a:p>
            </c:txPr>
            <c:showLegendKey val="0"/>
            <c:showVal val="1"/>
            <c:showCatName val="0"/>
            <c:showSerName val="0"/>
            <c:showPercent val="0"/>
            <c:showBubbleSize val="0"/>
            <c:showLeaderLines val="0"/>
          </c:dLbls>
          <c:dPt>
            <c:idx val="0"/>
            <c:invertIfNegative val="0"/>
            <c:bubble3D val="0"/>
            <c:spPr>
              <a:solidFill>
                <a:srgbClr val="17305E"/>
              </a:solidFill>
              <a:effectLst/>
            </c:spPr>
          </c:dPt>
          <c:dPt>
            <c:idx val="1"/>
            <c:invertIfNegative val="0"/>
            <c:bubble3D val="0"/>
            <c:spPr>
              <a:solidFill>
                <a:srgbClr val="17305E"/>
              </a:solidFill>
              <a:effectLst/>
            </c:spPr>
          </c:dPt>
          <c:dPt>
            <c:idx val="2"/>
            <c:invertIfNegative val="0"/>
            <c:bubble3D val="0"/>
            <c:spPr>
              <a:solidFill>
                <a:srgbClr val="17305E"/>
              </a:solidFill>
              <a:effectLst/>
            </c:spPr>
          </c:dPt>
          <c:dPt>
            <c:idx val="3"/>
            <c:invertIfNegative val="0"/>
            <c:bubble3D val="0"/>
            <c:spPr>
              <a:solidFill>
                <a:srgbClr val="F2A71B"/>
              </a:solidFill>
              <a:effectLst/>
            </c:spPr>
          </c:dPt>
          <c:cat>
            <c:multiLvlStrRef>
              <c:f>Sheet1!$A$2:$A$5</c:f>
              <c:multiLvlStrCache>
                <c:ptCount val="4"/>
                <c:lvl>
                  <c:pt idx="0">
                    <c:v>Metric A</c:v>
                  </c:pt>
                  <c:pt idx="1">
                    <c:v>Metric B</c:v>
                  </c:pt>
                  <c:pt idx="2">
                    <c:v>Metric C</c:v>
                  </c:pt>
                  <c:pt idx="3">
                    <c:v>Metric D</c:v>
                  </c:pt>
                </c:lvl>
              </c:multiLvlStrCache>
            </c:multiLvlStrRef>
          </c:cat>
          <c:val>
            <c:numRef>
              <c:f>Sheet1!$B$2:$B$5</c:f>
              <c:numCache>
                <c:formatCode>General</c:formatCode>
                <c:ptCount val="4"/>
                <c:pt idx="0">
                  <c:v>72</c:v>
                </c:pt>
                <c:pt idx="1">
                  <c:v>58</c:v>
                </c:pt>
                <c:pt idx="2">
                  <c:v>85</c:v>
                </c:pt>
                <c:pt idx="3">
                  <c:v>64</c:v>
                </c:pt>
              </c:numCache>
            </c:numRef>
          </c:val>
        </c:ser>
        <c:dLbls>
          <c:numFmt formatCode="#,##0" sourceLinked="0"/>
          <c:txPr>
            <a:bodyPr/>
            <a:lstStyle/>
            <a:p>
              <a:pPr>
                <a:defRPr b="0" i="0" strike="noStrike" sz="1200" u="none">
                  <a:solidFill>
                    <a:srgbClr val="0E1F44"/>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780"/>
                </a:solidFill>
                <a:latin typeface="Calibri"/>
              </a:defRPr>
            </a:pPr>
            <a:endParaRPr lang="en-US"/>
          </a:p>
        </c:txPr>
        <c:crossAx val="2094734552"/>
        <c:crosses val="autoZero"/>
        <c:auto val="1"/>
        <c:lblAlgn val="ctr"/>
        <c:noMultiLvlLbl val="1"/>
      </c:catAx>
      <c:valAx>
        <c:axId val="2094734552"/>
        <c:scaling>
          <c:orientation val="minMax"/>
          <c:max val="100"/>
        </c:scaling>
        <c:delete val="0"/>
        <c:axPos val="l"/>
        <c:majorGridlines>
          <c:spPr>
            <a:ln w="12700" cap="flat">
              <a:solidFill>
                <a:srgbClr val="E2E7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780"/>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a 10-second hook, then the project name. Judges score presentation quality (criterion 5) from the first sentence — rehearse this opening until it needs no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track. Describe the product as you would to a relative — no jargon. Every member should speak at least once during the pitch; teamwork is part of criterion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Criterion 1 rewards a real, significant African challenge that fits your track. Replace every placeholder figure with a cited number and say the source out 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objectives SMART. If an objective cannot be checked as done or not done by demo time, rewrite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process, not tools alone. Evidence that you spoke to real users before building lifts both criterion 1 and criterion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judges through one real user journey across the architecture instead of reading the boxes.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Criterion 2 rewards a creative angle or unconventional use of technology. Name the one thing that is genuinely new — do not claim novelty you cannot defend under questioning.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the sample chart values with real measurements and rename the metrics. If a target was missed, say so and explain what you learned — judges reward honesty over polish.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Criterion 6 rewards a specific, credible SDG link over a general claim — cite the target (e.g. SDG 3.8) and say how you would measure progress against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Criterion 7 is about a realistic path to market, not a perfect financial model. Know your unit cost and name one customer you have actually spoken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demo is your strongest evidence for criterion 3. Introduce it in one sentence so it does not play cold, and have the file downloaded locally in case the venue Wi-Fi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slide up during Q&amp;A. A specific ask scores better than a vague one, and Q&amp;A handling is part of criterion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www.africau.edu" TargetMode="Externa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F44"/>
        </a:solidFill>
      </p:bgPr>
    </p:bg>
    <p:spTree>
      <p:nvGrpSpPr>
        <p:cNvPr id="1" name=""/>
        <p:cNvGrpSpPr/>
        <p:nvPr/>
      </p:nvGrpSpPr>
      <p:grpSpPr>
        <a:xfrm>
          <a:off x="0" y="0"/>
          <a:ext cx="0" cy="0"/>
          <a:chOff x="0" y="0"/>
          <a:chExt cx="0" cy="0"/>
        </a:xfrm>
      </p:grpSpPr>
      <p:sp>
        <p:nvSpPr>
          <p:cNvPr id="2" name="Shape 0"/>
          <p:cNvSpPr/>
          <p:nvPr/>
        </p:nvSpPr>
        <p:spPr>
          <a:xfrm>
            <a:off x="9692640" y="-2011680"/>
            <a:ext cx="4937760" cy="4937760"/>
          </a:xfrm>
          <a:prstGeom prst="ellipse">
            <a:avLst/>
          </a:prstGeom>
          <a:solidFill>
            <a:srgbClr val="17305E"/>
          </a:solidFill>
          <a:ln/>
        </p:spPr>
      </p:sp>
      <p:sp>
        <p:nvSpPr>
          <p:cNvPr id="3" name="Shape 1"/>
          <p:cNvSpPr/>
          <p:nvPr/>
        </p:nvSpPr>
        <p:spPr>
          <a:xfrm>
            <a:off x="-1463040" y="4754880"/>
            <a:ext cx="3474720" cy="3474720"/>
          </a:xfrm>
          <a:prstGeom prst="ellipse">
            <a:avLst/>
          </a:prstGeom>
          <a:solidFill>
            <a:srgbClr val="17305E"/>
          </a:solidFill>
          <a:ln/>
        </p:spPr>
      </p:sp>
      <p:sp>
        <p:nvSpPr>
          <p:cNvPr id="4" name="Shape 2"/>
          <p:cNvSpPr/>
          <p:nvPr/>
        </p:nvSpPr>
        <p:spPr>
          <a:xfrm>
            <a:off x="822960" y="1024128"/>
            <a:ext cx="2788920" cy="384048"/>
          </a:xfrm>
          <a:prstGeom prst="roundRect">
            <a:avLst>
              <a:gd name="adj" fmla="val 47619"/>
            </a:avLst>
          </a:prstGeom>
          <a:solidFill>
            <a:srgbClr val="C8102E"/>
          </a:solidFill>
          <a:ln/>
        </p:spPr>
      </p:sp>
      <p:sp>
        <p:nvSpPr>
          <p:cNvPr id="5" name="Text 3"/>
          <p:cNvSpPr txBox="1"/>
          <p:nvPr/>
        </p:nvSpPr>
        <p:spPr>
          <a:xfrm>
            <a:off x="822960" y="1024128"/>
            <a:ext cx="2788920" cy="384048"/>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CEAS HACKATHON 2026</a:t>
            </a:r>
            <a:endParaRPr lang="en-US" sz="1200" dirty="0"/>
          </a:p>
        </p:txBody>
      </p:sp>
      <p:sp>
        <p:nvSpPr>
          <p:cNvPr id="6" name="Text 4"/>
          <p:cNvSpPr txBox="1"/>
          <p:nvPr/>
        </p:nvSpPr>
        <p:spPr>
          <a:xfrm>
            <a:off x="822960" y="1691640"/>
            <a:ext cx="7863840" cy="1143000"/>
          </a:xfrm>
          <a:prstGeom prst="rect">
            <a:avLst/>
          </a:prstGeom>
          <a:noFill/>
          <a:ln/>
        </p:spPr>
        <p:txBody>
          <a:bodyPr wrap="square" lIns="0" tIns="0" rIns="0" bIns="0" rtlCol="0" anchor="ctr"/>
          <a:lstStyle/>
          <a:p>
            <a:pPr indent="0" marL="0">
              <a:buNone/>
            </a:pPr>
            <a:r>
              <a:rPr lang="en-US" sz="5400" b="1" dirty="0">
                <a:solidFill>
                  <a:srgbClr val="FFFFFF"/>
                </a:solidFill>
                <a:latin typeface="Arial" pitchFamily="34" charset="0"/>
                <a:ea typeface="Arial" pitchFamily="34" charset="-122"/>
                <a:cs typeface="Arial" pitchFamily="34" charset="-120"/>
              </a:rPr>
              <a:t>[ PROJECT NAME ]</a:t>
            </a:r>
            <a:endParaRPr lang="en-US" sz="5400" dirty="0"/>
          </a:p>
        </p:txBody>
      </p:sp>
      <p:sp>
        <p:nvSpPr>
          <p:cNvPr id="7" name="Text 5"/>
          <p:cNvSpPr txBox="1"/>
          <p:nvPr/>
        </p:nvSpPr>
        <p:spPr>
          <a:xfrm>
            <a:off x="822960" y="2852928"/>
            <a:ext cx="7680960" cy="457200"/>
          </a:xfrm>
          <a:prstGeom prst="rect">
            <a:avLst/>
          </a:prstGeom>
          <a:noFill/>
          <a:ln/>
        </p:spPr>
        <p:txBody>
          <a:bodyPr wrap="square" lIns="0" tIns="0" rIns="0" bIns="0" rtlCol="0" anchor="ctr"/>
          <a:lstStyle/>
          <a:p>
            <a:pPr indent="0" marL="0">
              <a:buNone/>
            </a:pPr>
            <a:r>
              <a:rPr lang="en-US" sz="1800" i="1" dirty="0">
                <a:solidFill>
                  <a:srgbClr val="F2A71B"/>
                </a:solidFill>
                <a:latin typeface="Calibri" pitchFamily="34" charset="0"/>
                <a:ea typeface="Calibri" pitchFamily="34" charset="-122"/>
                <a:cs typeface="Calibri" pitchFamily="34" charset="-120"/>
              </a:rPr>
              <a:t>A one-line pitch — what your solution does and who it serves.</a:t>
            </a:r>
            <a:endParaRPr lang="en-US" sz="1800" dirty="0"/>
          </a:p>
        </p:txBody>
      </p:sp>
      <p:sp>
        <p:nvSpPr>
          <p:cNvPr id="8" name="Shape 6"/>
          <p:cNvSpPr/>
          <p:nvPr/>
        </p:nvSpPr>
        <p:spPr>
          <a:xfrm>
            <a:off x="868680" y="3520440"/>
            <a:ext cx="1371600" cy="0"/>
          </a:xfrm>
          <a:prstGeom prst="line">
            <a:avLst/>
          </a:prstGeom>
          <a:noFill/>
          <a:ln w="38100">
            <a:solidFill>
              <a:srgbClr val="C8102E"/>
            </a:solidFill>
            <a:prstDash val="solid"/>
          </a:ln>
        </p:spPr>
      </p:sp>
      <p:sp>
        <p:nvSpPr>
          <p:cNvPr id="9" name="Text 7"/>
          <p:cNvSpPr txBox="1"/>
          <p:nvPr/>
        </p:nvSpPr>
        <p:spPr>
          <a:xfrm>
            <a:off x="822960" y="3886200"/>
            <a:ext cx="2743200" cy="274320"/>
          </a:xfrm>
          <a:prstGeom prst="rect">
            <a:avLst/>
          </a:prstGeom>
          <a:noFill/>
          <a:ln/>
        </p:spPr>
        <p:txBody>
          <a:bodyPr wrap="square" lIns="0" tIns="0" rIns="0" bIns="0" rtlCol="0" anchor="ctr"/>
          <a:lstStyle/>
          <a:p>
            <a:pPr indent="0" marL="0">
              <a:buNone/>
            </a:pPr>
            <a:r>
              <a:rPr lang="en-US" sz="1100" b="1" spc="150" kern="0" dirty="0">
                <a:solidFill>
                  <a:srgbClr val="F2A71B"/>
                </a:solidFill>
                <a:latin typeface="Calibri" pitchFamily="34" charset="0"/>
                <a:ea typeface="Calibri" pitchFamily="34" charset="-122"/>
                <a:cs typeface="Calibri" pitchFamily="34" charset="-120"/>
              </a:rPr>
              <a:t>TEAM</a:t>
            </a:r>
            <a:endParaRPr lang="en-US" sz="1100" dirty="0"/>
          </a:p>
        </p:txBody>
      </p:sp>
      <p:sp>
        <p:nvSpPr>
          <p:cNvPr id="10" name="Text 8"/>
          <p:cNvSpPr txBox="1"/>
          <p:nvPr/>
        </p:nvSpPr>
        <p:spPr>
          <a:xfrm>
            <a:off x="822960" y="4187952"/>
            <a:ext cx="2743200" cy="41148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 Team name ]</a:t>
            </a:r>
            <a:endParaRPr lang="en-US" sz="1600" dirty="0"/>
          </a:p>
        </p:txBody>
      </p:sp>
      <p:sp>
        <p:nvSpPr>
          <p:cNvPr id="11" name="Text 9"/>
          <p:cNvSpPr txBox="1"/>
          <p:nvPr/>
        </p:nvSpPr>
        <p:spPr>
          <a:xfrm>
            <a:off x="3886200" y="3886200"/>
            <a:ext cx="2743200" cy="274320"/>
          </a:xfrm>
          <a:prstGeom prst="rect">
            <a:avLst/>
          </a:prstGeom>
          <a:noFill/>
          <a:ln/>
        </p:spPr>
        <p:txBody>
          <a:bodyPr wrap="square" lIns="0" tIns="0" rIns="0" bIns="0" rtlCol="0" anchor="ctr"/>
          <a:lstStyle/>
          <a:p>
            <a:pPr indent="0" marL="0">
              <a:buNone/>
            </a:pPr>
            <a:r>
              <a:rPr lang="en-US" sz="1100" b="1" spc="150" kern="0" dirty="0">
                <a:solidFill>
                  <a:srgbClr val="F2A71B"/>
                </a:solidFill>
                <a:latin typeface="Calibri" pitchFamily="34" charset="0"/>
                <a:ea typeface="Calibri" pitchFamily="34" charset="-122"/>
                <a:cs typeface="Calibri" pitchFamily="34" charset="-120"/>
              </a:rPr>
              <a:t>TRACK</a:t>
            </a:r>
            <a:endParaRPr lang="en-US" sz="1100" dirty="0"/>
          </a:p>
        </p:txBody>
      </p:sp>
      <p:sp>
        <p:nvSpPr>
          <p:cNvPr id="12" name="Text 10"/>
          <p:cNvSpPr txBox="1"/>
          <p:nvPr/>
        </p:nvSpPr>
        <p:spPr>
          <a:xfrm>
            <a:off x="3886200" y="4187952"/>
            <a:ext cx="2743200" cy="41148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[ 01–05 challenge track ]</a:t>
            </a:r>
            <a:endParaRPr lang="en-US" sz="1600" dirty="0"/>
          </a:p>
        </p:txBody>
      </p:sp>
      <p:sp>
        <p:nvSpPr>
          <p:cNvPr id="13" name="Text 11"/>
          <p:cNvSpPr txBox="1"/>
          <p:nvPr/>
        </p:nvSpPr>
        <p:spPr>
          <a:xfrm>
            <a:off x="6949440" y="3886200"/>
            <a:ext cx="2743200" cy="274320"/>
          </a:xfrm>
          <a:prstGeom prst="rect">
            <a:avLst/>
          </a:prstGeom>
          <a:noFill/>
          <a:ln/>
        </p:spPr>
        <p:txBody>
          <a:bodyPr wrap="square" lIns="0" tIns="0" rIns="0" bIns="0" rtlCol="0" anchor="ctr"/>
          <a:lstStyle/>
          <a:p>
            <a:pPr indent="0" marL="0">
              <a:buNone/>
            </a:pPr>
            <a:r>
              <a:rPr lang="en-US" sz="1100" b="1" spc="150" kern="0" dirty="0">
                <a:solidFill>
                  <a:srgbClr val="F2A71B"/>
                </a:solidFill>
                <a:latin typeface="Calibri" pitchFamily="34" charset="0"/>
                <a:ea typeface="Calibri" pitchFamily="34" charset="-122"/>
                <a:cs typeface="Calibri" pitchFamily="34" charset="-120"/>
              </a:rPr>
              <a:t>MEMBERS</a:t>
            </a:r>
            <a:endParaRPr lang="en-US" sz="1100" dirty="0"/>
          </a:p>
        </p:txBody>
      </p:sp>
      <p:sp>
        <p:nvSpPr>
          <p:cNvPr id="14" name="Text 12"/>
          <p:cNvSpPr txBox="1"/>
          <p:nvPr/>
        </p:nvSpPr>
        <p:spPr>
          <a:xfrm>
            <a:off x="6949440" y="4187952"/>
            <a:ext cx="2743200" cy="41148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 Names, up to 4 ]</a:t>
            </a:r>
            <a:endParaRPr lang="en-US" sz="1600" dirty="0"/>
          </a:p>
        </p:txBody>
      </p:sp>
      <p:sp>
        <p:nvSpPr>
          <p:cNvPr id="15" name="Text 13"/>
          <p:cNvSpPr txBox="1"/>
          <p:nvPr/>
        </p:nvSpPr>
        <p:spPr>
          <a:xfrm>
            <a:off x="822960" y="5120640"/>
            <a:ext cx="5486400" cy="4114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Innovate. Build. Transform.</a:t>
            </a:r>
            <a:endParaRPr lang="en-US" sz="2000" dirty="0"/>
          </a:p>
        </p:txBody>
      </p:sp>
      <p:sp>
        <p:nvSpPr>
          <p:cNvPr id="16" name="Text 14"/>
          <p:cNvSpPr txBox="1"/>
          <p:nvPr/>
        </p:nvSpPr>
        <p:spPr>
          <a:xfrm>
            <a:off x="822960" y="5577840"/>
            <a:ext cx="7315200" cy="365760"/>
          </a:xfrm>
          <a:prstGeom prst="rect">
            <a:avLst/>
          </a:prstGeom>
          <a:noFill/>
          <a:ln/>
        </p:spPr>
        <p:txBody>
          <a:bodyPr wrap="square" lIns="0" tIns="0" rIns="0" bIns="0" rtlCol="0" anchor="ctr"/>
          <a:lstStyle/>
          <a:p>
            <a:pPr indent="0" marL="0">
              <a:buNone/>
            </a:pPr>
            <a:r>
              <a:rPr lang="en-US" sz="1300" dirty="0">
                <a:solidFill>
                  <a:srgbClr val="AEB9D2"/>
                </a:solidFill>
                <a:latin typeface="Calibri" pitchFamily="34" charset="0"/>
                <a:ea typeface="Calibri" pitchFamily="34" charset="-122"/>
                <a:cs typeface="Calibri" pitchFamily="34" charset="-120"/>
              </a:rPr>
              <a:t>Final pitch day  |  28 September 2026  |  Africa University, Zimbabwe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881360" y="-1371600"/>
            <a:ext cx="2926080" cy="2926080"/>
          </a:xfrm>
          <a:prstGeom prst="ellipse">
            <a:avLst/>
          </a:prstGeom>
          <a:solidFill>
            <a:srgbClr val="F3F5FA"/>
          </a:solidFill>
          <a:ln/>
        </p:spPr>
      </p:sp>
      <p:sp>
        <p:nvSpPr>
          <p:cNvPr id="3" name="Shape 1"/>
          <p:cNvSpPr/>
          <p:nvPr/>
        </p:nvSpPr>
        <p:spPr>
          <a:xfrm>
            <a:off x="640080" y="475488"/>
            <a:ext cx="201168" cy="201168"/>
          </a:xfrm>
          <a:prstGeom prst="ellipse">
            <a:avLst/>
          </a:prstGeom>
          <a:solidFill>
            <a:srgbClr val="C8102E"/>
          </a:solidFill>
          <a:ln/>
        </p:spPr>
      </p:sp>
      <p:sp>
        <p:nvSpPr>
          <p:cNvPr id="4" name="Text 2"/>
          <p:cNvSpPr txBox="1"/>
          <p:nvPr/>
        </p:nvSpPr>
        <p:spPr>
          <a:xfrm>
            <a:off x="932688" y="402336"/>
            <a:ext cx="5943600" cy="347472"/>
          </a:xfrm>
          <a:prstGeom prst="rect">
            <a:avLst/>
          </a:prstGeom>
          <a:noFill/>
          <a:ln/>
        </p:spPr>
        <p:txBody>
          <a:bodyPr wrap="square" lIns="0" tIns="0" rIns="0" bIns="0" rtlCol="0" anchor="ctr"/>
          <a:lstStyle/>
          <a:p>
            <a:pPr indent="0" marL="0">
              <a:buNone/>
            </a:pPr>
            <a:r>
              <a:rPr lang="en-US" sz="1300" b="1" spc="200" kern="0" dirty="0">
                <a:solidFill>
                  <a:srgbClr val="C8102E"/>
                </a:solidFill>
                <a:latin typeface="Calibri" pitchFamily="34" charset="0"/>
                <a:ea typeface="Calibri" pitchFamily="34" charset="-122"/>
                <a:cs typeface="Calibri" pitchFamily="34" charset="-120"/>
              </a:rPr>
              <a:t>01 — INTRODUCTION</a:t>
            </a:r>
            <a:endParaRPr lang="en-US" sz="1300" dirty="0"/>
          </a:p>
        </p:txBody>
      </p:sp>
      <p:sp>
        <p:nvSpPr>
          <p:cNvPr id="5" name="Text 3"/>
          <p:cNvSpPr txBox="1"/>
          <p:nvPr/>
        </p:nvSpPr>
        <p:spPr>
          <a:xfrm>
            <a:off x="6035040" y="402336"/>
            <a:ext cx="5486400" cy="347472"/>
          </a:xfrm>
          <a:prstGeom prst="rect">
            <a:avLst/>
          </a:prstGeom>
          <a:noFill/>
          <a:ln/>
        </p:spPr>
        <p:txBody>
          <a:bodyPr wrap="square" lIns="0" tIns="0" rIns="0" bIns="0" rtlCol="0" anchor="ctr"/>
          <a:lstStyle/>
          <a:p>
            <a:pPr algn="r" indent="0" marL="0">
              <a:buNone/>
            </a:pPr>
            <a:r>
              <a:rPr lang="en-US" sz="1000" b="1" spc="100" kern="0" dirty="0">
                <a:solidFill>
                  <a:srgbClr val="9AA5BD"/>
                </a:solidFill>
                <a:latin typeface="Calibri" pitchFamily="34" charset="0"/>
                <a:ea typeface="Calibri" pitchFamily="34" charset="-122"/>
                <a:cs typeface="Calibri" pitchFamily="34" charset="-120"/>
              </a:rPr>
              <a:t>JUDGED ON  ·  5. PRESENTATION &amp; PITCH QUALITY</a:t>
            </a:r>
            <a:endParaRPr lang="en-US" sz="1000" dirty="0"/>
          </a:p>
        </p:txBody>
      </p:sp>
      <p:sp>
        <p:nvSpPr>
          <p:cNvPr id="6" name="Text 4"/>
          <p:cNvSpPr txBox="1"/>
          <p:nvPr/>
        </p:nvSpPr>
        <p:spPr>
          <a:xfrm>
            <a:off x="640080" y="804672"/>
            <a:ext cx="10881360" cy="777240"/>
          </a:xfrm>
          <a:prstGeom prst="rect">
            <a:avLst/>
          </a:prstGeom>
          <a:noFill/>
          <a:ln/>
        </p:spPr>
        <p:txBody>
          <a:bodyPr wrap="square" lIns="0" tIns="0" rIns="0" bIns="0" rtlCol="0" anchor="ctr"/>
          <a:lstStyle/>
          <a:p>
            <a:pPr indent="0" marL="0">
              <a:buNone/>
            </a:pPr>
            <a:r>
              <a:rPr lang="en-US" sz="3600" b="1" dirty="0">
                <a:solidFill>
                  <a:srgbClr val="0E1F44"/>
                </a:solidFill>
                <a:latin typeface="Arial" pitchFamily="34" charset="0"/>
                <a:ea typeface="Arial" pitchFamily="34" charset="-122"/>
                <a:cs typeface="Arial" pitchFamily="34" charset="-120"/>
              </a:rPr>
              <a:t>Who we are &amp; what we built</a:t>
            </a:r>
            <a:endParaRPr lang="en-US" sz="3600" dirty="0"/>
          </a:p>
        </p:txBody>
      </p:sp>
      <p:sp>
        <p:nvSpPr>
          <p:cNvPr id="7" name="Shape 5"/>
          <p:cNvSpPr/>
          <p:nvPr/>
        </p:nvSpPr>
        <p:spPr>
          <a:xfrm>
            <a:off x="640080" y="1874520"/>
            <a:ext cx="5486400" cy="4160520"/>
          </a:xfrm>
          <a:prstGeom prst="roundRect">
            <a:avLst>
              <a:gd name="adj" fmla="val 2637"/>
            </a:avLst>
          </a:prstGeom>
          <a:solidFill>
            <a:srgbClr val="F3F5FA"/>
          </a:solidFill>
          <a:ln w="12700">
            <a:solidFill>
              <a:srgbClr val="F3F5FA"/>
            </a:solidFill>
            <a:prstDash val="solid"/>
          </a:ln>
          <a:effectLst>
            <a:outerShdw sx="100000" sy="100000" kx="0" ky="0" algn="bl" rotWithShape="0" blurRad="127000" dist="25400" dir="5400000">
              <a:srgbClr val="9AA5BD">
                <a:alpha val="25000"/>
              </a:srgbClr>
            </a:outerShdw>
          </a:effectLst>
        </p:spPr>
      </p:sp>
      <p:sp>
        <p:nvSpPr>
          <p:cNvPr id="8" name="Text 6"/>
          <p:cNvSpPr txBox="1"/>
          <p:nvPr/>
        </p:nvSpPr>
        <p:spPr>
          <a:xfrm>
            <a:off x="960120" y="2148840"/>
            <a:ext cx="4846320" cy="274320"/>
          </a:xfrm>
          <a:prstGeom prst="rect">
            <a:avLst/>
          </a:prstGeom>
          <a:noFill/>
          <a:ln/>
        </p:spPr>
        <p:txBody>
          <a:bodyPr wrap="square" lIns="0" tIns="0" rIns="0" bIns="0" rtlCol="0" anchor="ctr"/>
          <a:lstStyle/>
          <a:p>
            <a:pPr indent="0" marL="0">
              <a:buNone/>
            </a:pPr>
            <a:r>
              <a:rPr lang="en-US" sz="1200" b="1" spc="150" kern="0" dirty="0">
                <a:solidFill>
                  <a:srgbClr val="C8102E"/>
                </a:solidFill>
                <a:latin typeface="Calibri" pitchFamily="34" charset="0"/>
                <a:ea typeface="Calibri" pitchFamily="34" charset="-122"/>
                <a:cs typeface="Calibri" pitchFamily="34" charset="-120"/>
              </a:rPr>
              <a:t>THE CONTEXT</a:t>
            </a:r>
            <a:endParaRPr lang="en-US" sz="1200" dirty="0"/>
          </a:p>
        </p:txBody>
      </p:sp>
      <p:sp>
        <p:nvSpPr>
          <p:cNvPr id="9" name="Text 7"/>
          <p:cNvSpPr txBox="1"/>
          <p:nvPr/>
        </p:nvSpPr>
        <p:spPr>
          <a:xfrm>
            <a:off x="960120" y="2514600"/>
            <a:ext cx="4846320" cy="2011680"/>
          </a:xfrm>
          <a:prstGeom prst="rect">
            <a:avLst/>
          </a:prstGeom>
          <a:noFill/>
          <a:ln/>
        </p:spPr>
        <p:txBody>
          <a:bodyPr wrap="square" lIns="0" tIns="0" rIns="0" bIns="0" rtlCol="0" anchor="ctr"/>
          <a:lstStyle/>
          <a:p>
            <a:pPr indent="0" marL="0">
              <a:lnSpc>
                <a:spcPts val="2400"/>
              </a:lnSpc>
              <a:spcAft>
                <a:spcPts val="1000"/>
              </a:spcAft>
              <a:buNone/>
            </a:pPr>
            <a:r>
              <a:rPr lang="en-US" sz="1600" dirty="0">
                <a:solidFill>
                  <a:srgbClr val="0E1F44"/>
                </a:solidFill>
                <a:latin typeface="Calibri" pitchFamily="34" charset="0"/>
                <a:ea typeface="Calibri" pitchFamily="34" charset="-122"/>
                <a:cs typeface="Calibri" pitchFamily="34" charset="-120"/>
              </a:rPr>
              <a:t>Set the scene in 3–4 sentences. Where does this problem live — a community, a campus, a sector, a country?</a:t>
            </a:r>
            <a:endParaRPr lang="en-US" sz="1600" dirty="0"/>
          </a:p>
          <a:p>
            <a:pPr indent="0" marL="0">
              <a:lnSpc>
                <a:spcPts val="2400"/>
              </a:lnSpc>
              <a:spcAft>
                <a:spcPts val="1000"/>
              </a:spcAft>
              <a:buNone/>
            </a:pPr>
            <a:r>
              <a:rPr lang="en-US" sz="1600" dirty="0">
                <a:solidFill>
                  <a:srgbClr val="0E1F44"/>
                </a:solidFill>
                <a:latin typeface="Calibri" pitchFamily="34" charset="0"/>
                <a:ea typeface="Calibri" pitchFamily="34" charset="-122"/>
                <a:cs typeface="Calibri" pitchFamily="34" charset="-120"/>
              </a:rPr>
              <a:t>Name the people affected and why this matters right now.</a:t>
            </a:r>
            <a:endParaRPr lang="en-US" sz="1600" dirty="0"/>
          </a:p>
          <a:p>
            <a:pPr indent="0" marL="0">
              <a:lnSpc>
                <a:spcPts val="2400"/>
              </a:lnSpc>
              <a:buNone/>
            </a:pPr>
            <a:r>
              <a:rPr lang="en-US" sz="1600" dirty="0">
                <a:solidFill>
                  <a:srgbClr val="0E1F44"/>
                </a:solidFill>
                <a:latin typeface="Calibri" pitchFamily="34" charset="0"/>
                <a:ea typeface="Calibri" pitchFamily="34" charset="-122"/>
                <a:cs typeface="Calibri" pitchFamily="34" charset="-120"/>
              </a:rPr>
              <a:t>Close with one sentence introducing your solution as the answer to that setup.</a:t>
            </a:r>
            <a:endParaRPr lang="en-US" sz="1600" dirty="0"/>
          </a:p>
        </p:txBody>
      </p:sp>
      <p:sp>
        <p:nvSpPr>
          <p:cNvPr id="10" name="Text 8"/>
          <p:cNvSpPr txBox="1"/>
          <p:nvPr/>
        </p:nvSpPr>
        <p:spPr>
          <a:xfrm>
            <a:off x="960120" y="4892040"/>
            <a:ext cx="4846320" cy="914400"/>
          </a:xfrm>
          <a:prstGeom prst="rect">
            <a:avLst/>
          </a:prstGeom>
          <a:noFill/>
          <a:ln/>
        </p:spPr>
        <p:txBody>
          <a:bodyPr wrap="square" lIns="0" tIns="0" rIns="0" bIns="0" rtlCol="0" anchor="t"/>
          <a:lstStyle/>
          <a:p>
            <a:pPr indent="0" marL="0">
              <a:buNone/>
            </a:pPr>
            <a:r>
              <a:rPr lang="en-US" sz="1700" b="1" i="1" dirty="0">
                <a:solidFill>
                  <a:srgbClr val="17305E"/>
                </a:solidFill>
                <a:latin typeface="Arial" pitchFamily="34" charset="0"/>
                <a:ea typeface="Arial" pitchFamily="34" charset="-122"/>
                <a:cs typeface="Arial" pitchFamily="34" charset="-120"/>
              </a:rPr>
              <a:t>“[ Your one-sentence value proposition goes here. ]”</a:t>
            </a:r>
            <a:endParaRPr lang="en-US" sz="1700" dirty="0"/>
          </a:p>
        </p:txBody>
      </p:sp>
      <p:sp>
        <p:nvSpPr>
          <p:cNvPr id="11" name="Shape 9"/>
          <p:cNvSpPr/>
          <p:nvPr/>
        </p:nvSpPr>
        <p:spPr>
          <a:xfrm>
            <a:off x="6446520" y="1874520"/>
            <a:ext cx="5074920" cy="1234440"/>
          </a:xfrm>
          <a:prstGeom prst="roundRect">
            <a:avLst>
              <a:gd name="adj" fmla="val 8889"/>
            </a:avLst>
          </a:prstGeom>
          <a:solidFill>
            <a:srgbClr val="0E1F44"/>
          </a:solidFill>
          <a:ln w="12700">
            <a:solidFill>
              <a:srgbClr val="0E1F44"/>
            </a:solidFill>
            <a:prstDash val="solid"/>
          </a:ln>
          <a:effectLst>
            <a:outerShdw sx="100000" sy="100000" kx="0" ky="0" algn="bl" rotWithShape="0" blurRad="127000" dist="25400" dir="5400000">
              <a:srgbClr val="9AA5BD">
                <a:alpha val="25000"/>
              </a:srgbClr>
            </a:outerShdw>
          </a:effectLst>
        </p:spPr>
      </p:sp>
      <p:sp>
        <p:nvSpPr>
          <p:cNvPr id="12" name="Shape 10"/>
          <p:cNvSpPr/>
          <p:nvPr/>
        </p:nvSpPr>
        <p:spPr>
          <a:xfrm>
            <a:off x="6720840" y="2267712"/>
            <a:ext cx="457200" cy="457200"/>
          </a:xfrm>
          <a:prstGeom prst="ellipse">
            <a:avLst/>
          </a:prstGeom>
          <a:solidFill>
            <a:srgbClr val="F2A71B"/>
          </a:solidFill>
          <a:ln/>
        </p:spPr>
      </p:sp>
      <p:sp>
        <p:nvSpPr>
          <p:cNvPr id="13" name="Text 11"/>
          <p:cNvSpPr txBox="1"/>
          <p:nvPr/>
        </p:nvSpPr>
        <p:spPr>
          <a:xfrm>
            <a:off x="6720840" y="2267712"/>
            <a:ext cx="457200" cy="457200"/>
          </a:xfrm>
          <a:prstGeom prst="rect">
            <a:avLst/>
          </a:prstGeom>
          <a:noFill/>
          <a:ln/>
        </p:spPr>
        <p:txBody>
          <a:bodyPr wrap="square" lIns="0" tIns="0" rIns="0" bIns="0" rtlCol="0" anchor="ctr"/>
          <a:lstStyle/>
          <a:p>
            <a:pPr algn="ctr" indent="0" marL="0">
              <a:buNone/>
            </a:pPr>
            <a:r>
              <a:rPr lang="en-US" sz="1600" b="1" dirty="0">
                <a:solidFill>
                  <a:srgbClr val="0E1F44"/>
                </a:solidFill>
                <a:latin typeface="Calibri" pitchFamily="34" charset="0"/>
                <a:ea typeface="Calibri" pitchFamily="34" charset="-122"/>
                <a:cs typeface="Calibri" pitchFamily="34" charset="-120"/>
              </a:rPr>
              <a:t>◆</a:t>
            </a:r>
            <a:endParaRPr lang="en-US" sz="1600" dirty="0"/>
          </a:p>
        </p:txBody>
      </p:sp>
      <p:sp>
        <p:nvSpPr>
          <p:cNvPr id="14" name="Text 12"/>
          <p:cNvSpPr txBox="1"/>
          <p:nvPr/>
        </p:nvSpPr>
        <p:spPr>
          <a:xfrm>
            <a:off x="7360920" y="2130552"/>
            <a:ext cx="3931920" cy="274320"/>
          </a:xfrm>
          <a:prstGeom prst="rect">
            <a:avLst/>
          </a:prstGeom>
          <a:noFill/>
          <a:ln/>
        </p:spPr>
        <p:txBody>
          <a:bodyPr wrap="square" lIns="0" tIns="0" rIns="0" bIns="0" rtlCol="0" anchor="ctr"/>
          <a:lstStyle/>
          <a:p>
            <a:pPr indent="0" marL="0">
              <a:buNone/>
            </a:pPr>
            <a:r>
              <a:rPr lang="en-US" sz="1100" b="1" spc="150" kern="0" dirty="0">
                <a:solidFill>
                  <a:srgbClr val="F2A71B"/>
                </a:solidFill>
                <a:latin typeface="Calibri" pitchFamily="34" charset="0"/>
                <a:ea typeface="Calibri" pitchFamily="34" charset="-122"/>
                <a:cs typeface="Calibri" pitchFamily="34" charset="-120"/>
              </a:rPr>
              <a:t>TRACK</a:t>
            </a:r>
            <a:endParaRPr lang="en-US" sz="1100" dirty="0"/>
          </a:p>
        </p:txBody>
      </p:sp>
      <p:sp>
        <p:nvSpPr>
          <p:cNvPr id="15" name="Text 13"/>
          <p:cNvSpPr txBox="1"/>
          <p:nvPr/>
        </p:nvSpPr>
        <p:spPr>
          <a:xfrm>
            <a:off x="7360920" y="2423160"/>
            <a:ext cx="3931920" cy="4572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 e.g. 03 — HealthTech ]</a:t>
            </a:r>
            <a:endParaRPr lang="en-US" sz="1600" dirty="0"/>
          </a:p>
        </p:txBody>
      </p:sp>
      <p:sp>
        <p:nvSpPr>
          <p:cNvPr id="16" name="Shape 14"/>
          <p:cNvSpPr/>
          <p:nvPr/>
        </p:nvSpPr>
        <p:spPr>
          <a:xfrm>
            <a:off x="6446520" y="3337560"/>
            <a:ext cx="5074920" cy="1234440"/>
          </a:xfrm>
          <a:prstGeom prst="roundRect">
            <a:avLst>
              <a:gd name="adj" fmla="val 8889"/>
            </a:avLst>
          </a:prstGeom>
          <a:solidFill>
            <a:srgbClr val="0E1F44"/>
          </a:solidFill>
          <a:ln w="12700">
            <a:solidFill>
              <a:srgbClr val="0E1F44"/>
            </a:solidFill>
            <a:prstDash val="solid"/>
          </a:ln>
          <a:effectLst>
            <a:outerShdw sx="100000" sy="100000" kx="0" ky="0" algn="bl" rotWithShape="0" blurRad="127000" dist="25400" dir="5400000">
              <a:srgbClr val="9AA5BD">
                <a:alpha val="25000"/>
              </a:srgbClr>
            </a:outerShdw>
          </a:effectLst>
        </p:spPr>
      </p:sp>
      <p:sp>
        <p:nvSpPr>
          <p:cNvPr id="17" name="Shape 15"/>
          <p:cNvSpPr/>
          <p:nvPr/>
        </p:nvSpPr>
        <p:spPr>
          <a:xfrm>
            <a:off x="6720840" y="3730752"/>
            <a:ext cx="457200" cy="457200"/>
          </a:xfrm>
          <a:prstGeom prst="ellipse">
            <a:avLst/>
          </a:prstGeom>
          <a:solidFill>
            <a:srgbClr val="F2A71B"/>
          </a:solidFill>
          <a:ln/>
        </p:spPr>
      </p:sp>
      <p:sp>
        <p:nvSpPr>
          <p:cNvPr id="18" name="Text 16"/>
          <p:cNvSpPr txBox="1"/>
          <p:nvPr/>
        </p:nvSpPr>
        <p:spPr>
          <a:xfrm>
            <a:off x="6720840" y="3730752"/>
            <a:ext cx="457200" cy="457200"/>
          </a:xfrm>
          <a:prstGeom prst="rect">
            <a:avLst/>
          </a:prstGeom>
          <a:noFill/>
          <a:ln/>
        </p:spPr>
        <p:txBody>
          <a:bodyPr wrap="square" lIns="0" tIns="0" rIns="0" bIns="0" rtlCol="0" anchor="ctr"/>
          <a:lstStyle/>
          <a:p>
            <a:pPr algn="ctr" indent="0" marL="0">
              <a:buNone/>
            </a:pPr>
            <a:r>
              <a:rPr lang="en-US" sz="1600" b="1" dirty="0">
                <a:solidFill>
                  <a:srgbClr val="0E1F44"/>
                </a:solidFill>
                <a:latin typeface="Calibri" pitchFamily="34" charset="0"/>
                <a:ea typeface="Calibri" pitchFamily="34" charset="-122"/>
                <a:cs typeface="Calibri" pitchFamily="34" charset="-120"/>
              </a:rPr>
              <a:t>◆</a:t>
            </a:r>
            <a:endParaRPr lang="en-US" sz="1600" dirty="0"/>
          </a:p>
        </p:txBody>
      </p:sp>
      <p:sp>
        <p:nvSpPr>
          <p:cNvPr id="19" name="Text 17"/>
          <p:cNvSpPr txBox="1"/>
          <p:nvPr/>
        </p:nvSpPr>
        <p:spPr>
          <a:xfrm>
            <a:off x="7360920" y="3593592"/>
            <a:ext cx="3931920" cy="274320"/>
          </a:xfrm>
          <a:prstGeom prst="rect">
            <a:avLst/>
          </a:prstGeom>
          <a:noFill/>
          <a:ln/>
        </p:spPr>
        <p:txBody>
          <a:bodyPr wrap="square" lIns="0" tIns="0" rIns="0" bIns="0" rtlCol="0" anchor="ctr"/>
          <a:lstStyle/>
          <a:p>
            <a:pPr indent="0" marL="0">
              <a:buNone/>
            </a:pPr>
            <a:r>
              <a:rPr lang="en-US" sz="1100" b="1" spc="150" kern="0" dirty="0">
                <a:solidFill>
                  <a:srgbClr val="F2A71B"/>
                </a:solidFill>
                <a:latin typeface="Calibri" pitchFamily="34" charset="0"/>
                <a:ea typeface="Calibri" pitchFamily="34" charset="-122"/>
                <a:cs typeface="Calibri" pitchFamily="34" charset="-120"/>
              </a:rPr>
              <a:t>TARGET USERS</a:t>
            </a:r>
            <a:endParaRPr lang="en-US" sz="1100" dirty="0"/>
          </a:p>
        </p:txBody>
      </p:sp>
      <p:sp>
        <p:nvSpPr>
          <p:cNvPr id="20" name="Text 18"/>
          <p:cNvSpPr txBox="1"/>
          <p:nvPr/>
        </p:nvSpPr>
        <p:spPr>
          <a:xfrm>
            <a:off x="7360920" y="3886200"/>
            <a:ext cx="3931920" cy="4572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 Who uses it day to day ]</a:t>
            </a:r>
            <a:endParaRPr lang="en-US" sz="1600" dirty="0"/>
          </a:p>
        </p:txBody>
      </p:sp>
      <p:sp>
        <p:nvSpPr>
          <p:cNvPr id="21" name="Shape 19"/>
          <p:cNvSpPr/>
          <p:nvPr/>
        </p:nvSpPr>
        <p:spPr>
          <a:xfrm>
            <a:off x="6446520" y="4800600"/>
            <a:ext cx="5074920" cy="1234440"/>
          </a:xfrm>
          <a:prstGeom prst="roundRect">
            <a:avLst>
              <a:gd name="adj" fmla="val 8889"/>
            </a:avLst>
          </a:prstGeom>
          <a:solidFill>
            <a:srgbClr val="0E1F44"/>
          </a:solidFill>
          <a:ln w="12700">
            <a:solidFill>
              <a:srgbClr val="0E1F44"/>
            </a:solidFill>
            <a:prstDash val="solid"/>
          </a:ln>
          <a:effectLst>
            <a:outerShdw sx="100000" sy="100000" kx="0" ky="0" algn="bl" rotWithShape="0" blurRad="127000" dist="25400" dir="5400000">
              <a:srgbClr val="9AA5BD">
                <a:alpha val="25000"/>
              </a:srgbClr>
            </a:outerShdw>
          </a:effectLst>
        </p:spPr>
      </p:sp>
      <p:sp>
        <p:nvSpPr>
          <p:cNvPr id="22" name="Shape 20"/>
          <p:cNvSpPr/>
          <p:nvPr/>
        </p:nvSpPr>
        <p:spPr>
          <a:xfrm>
            <a:off x="6720840" y="5193792"/>
            <a:ext cx="457200" cy="457200"/>
          </a:xfrm>
          <a:prstGeom prst="ellipse">
            <a:avLst/>
          </a:prstGeom>
          <a:solidFill>
            <a:srgbClr val="F2A71B"/>
          </a:solidFill>
          <a:ln/>
        </p:spPr>
      </p:sp>
      <p:sp>
        <p:nvSpPr>
          <p:cNvPr id="23" name="Text 21"/>
          <p:cNvSpPr txBox="1"/>
          <p:nvPr/>
        </p:nvSpPr>
        <p:spPr>
          <a:xfrm>
            <a:off x="6720840" y="5193792"/>
            <a:ext cx="457200" cy="457200"/>
          </a:xfrm>
          <a:prstGeom prst="rect">
            <a:avLst/>
          </a:prstGeom>
          <a:noFill/>
          <a:ln/>
        </p:spPr>
        <p:txBody>
          <a:bodyPr wrap="square" lIns="0" tIns="0" rIns="0" bIns="0" rtlCol="0" anchor="ctr"/>
          <a:lstStyle/>
          <a:p>
            <a:pPr algn="ctr" indent="0" marL="0">
              <a:buNone/>
            </a:pPr>
            <a:r>
              <a:rPr lang="en-US" sz="1600" b="1" dirty="0">
                <a:solidFill>
                  <a:srgbClr val="0E1F44"/>
                </a:solidFill>
                <a:latin typeface="Calibri" pitchFamily="34" charset="0"/>
                <a:ea typeface="Calibri" pitchFamily="34" charset="-122"/>
                <a:cs typeface="Calibri" pitchFamily="34" charset="-120"/>
              </a:rPr>
              <a:t>◆</a:t>
            </a:r>
            <a:endParaRPr lang="en-US" sz="1600" dirty="0"/>
          </a:p>
        </p:txBody>
      </p:sp>
      <p:sp>
        <p:nvSpPr>
          <p:cNvPr id="24" name="Text 22"/>
          <p:cNvSpPr txBox="1"/>
          <p:nvPr/>
        </p:nvSpPr>
        <p:spPr>
          <a:xfrm>
            <a:off x="7360920" y="5056632"/>
            <a:ext cx="3931920" cy="274320"/>
          </a:xfrm>
          <a:prstGeom prst="rect">
            <a:avLst/>
          </a:prstGeom>
          <a:noFill/>
          <a:ln/>
        </p:spPr>
        <p:txBody>
          <a:bodyPr wrap="square" lIns="0" tIns="0" rIns="0" bIns="0" rtlCol="0" anchor="ctr"/>
          <a:lstStyle/>
          <a:p>
            <a:pPr indent="0" marL="0">
              <a:buNone/>
            </a:pPr>
            <a:r>
              <a:rPr lang="en-US" sz="1100" b="1" spc="150" kern="0" dirty="0">
                <a:solidFill>
                  <a:srgbClr val="F2A71B"/>
                </a:solidFill>
                <a:latin typeface="Calibri" pitchFamily="34" charset="0"/>
                <a:ea typeface="Calibri" pitchFamily="34" charset="-122"/>
                <a:cs typeface="Calibri" pitchFamily="34" charset="-120"/>
              </a:rPr>
              <a:t>STAGE</a:t>
            </a:r>
            <a:endParaRPr lang="en-US" sz="1100" dirty="0"/>
          </a:p>
        </p:txBody>
      </p:sp>
      <p:sp>
        <p:nvSpPr>
          <p:cNvPr id="25" name="Text 23"/>
          <p:cNvSpPr txBox="1"/>
          <p:nvPr/>
        </p:nvSpPr>
        <p:spPr>
          <a:xfrm>
            <a:off x="7360920" y="5349240"/>
            <a:ext cx="3931920" cy="4572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 Prototype / MVP / Pilot ]</a:t>
            </a:r>
            <a:endParaRPr lang="en-US" sz="1600" dirty="0"/>
          </a:p>
        </p:txBody>
      </p:sp>
      <p:sp>
        <p:nvSpPr>
          <p:cNvPr id="26" name="Text 24"/>
          <p:cNvSpPr txBox="1"/>
          <p:nvPr/>
        </p:nvSpPr>
        <p:spPr>
          <a:xfrm>
            <a:off x="640080" y="6327648"/>
            <a:ext cx="6400800" cy="274320"/>
          </a:xfrm>
          <a:prstGeom prst="rect">
            <a:avLst/>
          </a:prstGeom>
          <a:noFill/>
          <a:ln/>
        </p:spPr>
        <p:txBody>
          <a:bodyPr wrap="square" lIns="0" tIns="0" rIns="0" bIns="0" rtlCol="0" anchor="ctr"/>
          <a:lstStyle/>
          <a:p>
            <a:pPr indent="0" marL="0">
              <a:buNone/>
            </a:pPr>
            <a:r>
              <a:rPr lang="en-US" sz="1000" dirty="0">
                <a:solidFill>
                  <a:srgbClr val="9AA5BD"/>
                </a:solidFill>
                <a:latin typeface="Calibri" pitchFamily="34" charset="0"/>
                <a:ea typeface="Calibri" pitchFamily="34" charset="-122"/>
                <a:cs typeface="Calibri" pitchFamily="34" charset="-120"/>
              </a:rPr>
              <a:t>HACK4AFRICA 2026  |  Africa University</a:t>
            </a:r>
            <a:endParaRPr lang="en-US" sz="1000" dirty="0"/>
          </a:p>
        </p:txBody>
      </p:sp>
      <p:sp>
        <p:nvSpPr>
          <p:cNvPr id="27" name="Text 25"/>
          <p:cNvSpPr txBox="1"/>
          <p:nvPr/>
        </p:nvSpPr>
        <p:spPr>
          <a:xfrm>
            <a:off x="10972800" y="6327648"/>
            <a:ext cx="548640" cy="274320"/>
          </a:xfrm>
          <a:prstGeom prst="rect">
            <a:avLst/>
          </a:prstGeom>
          <a:noFill/>
          <a:ln/>
        </p:spPr>
        <p:txBody>
          <a:bodyPr wrap="square" lIns="0" tIns="0" rIns="0" bIns="0" rtlCol="0" anchor="ctr"/>
          <a:lstStyle/>
          <a:p>
            <a:pPr algn="r" indent="0" marL="0">
              <a:buNone/>
            </a:pPr>
            <a:r>
              <a:rPr lang="en-US" sz="1000" dirty="0">
                <a:solidFill>
                  <a:srgbClr val="9AA5BD"/>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F44"/>
        </a:solidFill>
      </p:bgPr>
    </p:bg>
    <p:spTree>
      <p:nvGrpSpPr>
        <p:cNvPr id="1" name=""/>
        <p:cNvGrpSpPr/>
        <p:nvPr/>
      </p:nvGrpSpPr>
      <p:grpSpPr>
        <a:xfrm>
          <a:off x="0" y="0"/>
          <a:ext cx="0" cy="0"/>
          <a:chOff x="0" y="0"/>
          <a:chExt cx="0" cy="0"/>
        </a:xfrm>
      </p:grpSpPr>
      <p:sp>
        <p:nvSpPr>
          <p:cNvPr id="2" name="Shape 0"/>
          <p:cNvSpPr/>
          <p:nvPr/>
        </p:nvSpPr>
        <p:spPr>
          <a:xfrm>
            <a:off x="9692640" y="-2011680"/>
            <a:ext cx="4937760" cy="4937760"/>
          </a:xfrm>
          <a:prstGeom prst="ellipse">
            <a:avLst/>
          </a:prstGeom>
          <a:solidFill>
            <a:srgbClr val="17305E"/>
          </a:solidFill>
          <a:ln/>
        </p:spPr>
      </p:sp>
      <p:sp>
        <p:nvSpPr>
          <p:cNvPr id="3" name="Shape 1"/>
          <p:cNvSpPr/>
          <p:nvPr/>
        </p:nvSpPr>
        <p:spPr>
          <a:xfrm>
            <a:off x="-1463040" y="4754880"/>
            <a:ext cx="3474720" cy="3474720"/>
          </a:xfrm>
          <a:prstGeom prst="ellipse">
            <a:avLst/>
          </a:prstGeom>
          <a:solidFill>
            <a:srgbClr val="17305E"/>
          </a:solidFill>
          <a:ln/>
        </p:spPr>
      </p:sp>
      <p:sp>
        <p:nvSpPr>
          <p:cNvPr id="4" name="Shape 2"/>
          <p:cNvSpPr/>
          <p:nvPr/>
        </p:nvSpPr>
        <p:spPr>
          <a:xfrm>
            <a:off x="640080" y="475488"/>
            <a:ext cx="201168" cy="201168"/>
          </a:xfrm>
          <a:prstGeom prst="ellipse">
            <a:avLst/>
          </a:prstGeom>
          <a:solidFill>
            <a:srgbClr val="F2A71B"/>
          </a:solidFill>
          <a:ln/>
        </p:spPr>
      </p:sp>
      <p:sp>
        <p:nvSpPr>
          <p:cNvPr id="5" name="Text 3"/>
          <p:cNvSpPr txBox="1"/>
          <p:nvPr/>
        </p:nvSpPr>
        <p:spPr>
          <a:xfrm>
            <a:off x="932688" y="402336"/>
            <a:ext cx="5943600" cy="347472"/>
          </a:xfrm>
          <a:prstGeom prst="rect">
            <a:avLst/>
          </a:prstGeom>
          <a:noFill/>
          <a:ln/>
        </p:spPr>
        <p:txBody>
          <a:bodyPr wrap="square" lIns="0" tIns="0" rIns="0" bIns="0" rtlCol="0" anchor="ctr"/>
          <a:lstStyle/>
          <a:p>
            <a:pPr indent="0" marL="0">
              <a:buNone/>
            </a:pPr>
            <a:r>
              <a:rPr lang="en-US" sz="1300" b="1" spc="200" kern="0" dirty="0">
                <a:solidFill>
                  <a:srgbClr val="F2A71B"/>
                </a:solidFill>
                <a:latin typeface="Calibri" pitchFamily="34" charset="0"/>
                <a:ea typeface="Calibri" pitchFamily="34" charset="-122"/>
                <a:cs typeface="Calibri" pitchFamily="34" charset="-120"/>
              </a:rPr>
              <a:t>02 — THE PROBLEM</a:t>
            </a:r>
            <a:endParaRPr lang="en-US" sz="1300" dirty="0"/>
          </a:p>
        </p:txBody>
      </p:sp>
      <p:sp>
        <p:nvSpPr>
          <p:cNvPr id="6" name="Text 4"/>
          <p:cNvSpPr txBox="1"/>
          <p:nvPr/>
        </p:nvSpPr>
        <p:spPr>
          <a:xfrm>
            <a:off x="6035040" y="402336"/>
            <a:ext cx="5486400" cy="347472"/>
          </a:xfrm>
          <a:prstGeom prst="rect">
            <a:avLst/>
          </a:prstGeom>
          <a:noFill/>
          <a:ln/>
        </p:spPr>
        <p:txBody>
          <a:bodyPr wrap="square" lIns="0" tIns="0" rIns="0" bIns="0" rtlCol="0" anchor="ctr"/>
          <a:lstStyle/>
          <a:p>
            <a:pPr algn="r" indent="0" marL="0">
              <a:buNone/>
            </a:pPr>
            <a:r>
              <a:rPr lang="en-US" sz="1000" b="1" spc="100" kern="0" dirty="0">
                <a:solidFill>
                  <a:srgbClr val="8FA0C4"/>
                </a:solidFill>
                <a:latin typeface="Calibri" pitchFamily="34" charset="0"/>
                <a:ea typeface="Calibri" pitchFamily="34" charset="-122"/>
                <a:cs typeface="Calibri" pitchFamily="34" charset="-120"/>
              </a:rPr>
              <a:t>JUDGED ON  ·  1. PROBLEM RELEVANCE &amp; FIT</a:t>
            </a:r>
            <a:endParaRPr lang="en-US" sz="1000" dirty="0"/>
          </a:p>
        </p:txBody>
      </p:sp>
      <p:sp>
        <p:nvSpPr>
          <p:cNvPr id="7" name="Text 5"/>
          <p:cNvSpPr txBox="1"/>
          <p:nvPr/>
        </p:nvSpPr>
        <p:spPr>
          <a:xfrm>
            <a:off x="640080" y="804672"/>
            <a:ext cx="10881360" cy="77724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The challenge we are solving</a:t>
            </a:r>
            <a:endParaRPr lang="en-US" sz="3600" dirty="0"/>
          </a:p>
        </p:txBody>
      </p:sp>
      <p:sp>
        <p:nvSpPr>
          <p:cNvPr id="8" name="Text 6"/>
          <p:cNvSpPr txBox="1"/>
          <p:nvPr/>
        </p:nvSpPr>
        <p:spPr>
          <a:xfrm>
            <a:off x="640080" y="1627632"/>
            <a:ext cx="10881360" cy="502920"/>
          </a:xfrm>
          <a:prstGeom prst="rect">
            <a:avLst/>
          </a:prstGeom>
          <a:noFill/>
          <a:ln/>
        </p:spPr>
        <p:txBody>
          <a:bodyPr wrap="square" lIns="0" tIns="0" rIns="0" bIns="0" rtlCol="0" anchor="ctr"/>
          <a:lstStyle/>
          <a:p>
            <a:pPr indent="0" marL="0">
              <a:buNone/>
            </a:pPr>
            <a:r>
              <a:rPr lang="en-US" sz="1800" i="1" dirty="0">
                <a:solidFill>
                  <a:srgbClr val="F2A71B"/>
                </a:solidFill>
                <a:latin typeface="Calibri" pitchFamily="34" charset="0"/>
                <a:ea typeface="Calibri" pitchFamily="34" charset="-122"/>
                <a:cs typeface="Calibri" pitchFamily="34" charset="-120"/>
              </a:rPr>
              <a:t>[ State the problem in one bold, specific sentence — not a category, a pain. ]</a:t>
            </a:r>
            <a:endParaRPr lang="en-US" sz="1800" dirty="0"/>
          </a:p>
        </p:txBody>
      </p:sp>
      <p:sp>
        <p:nvSpPr>
          <p:cNvPr id="9" name="Shape 7"/>
          <p:cNvSpPr/>
          <p:nvPr/>
        </p:nvSpPr>
        <p:spPr>
          <a:xfrm>
            <a:off x="640080" y="2286000"/>
            <a:ext cx="3429000" cy="1691640"/>
          </a:xfrm>
          <a:prstGeom prst="roundRect">
            <a:avLst>
              <a:gd name="adj" fmla="val 6486"/>
            </a:avLst>
          </a:prstGeom>
          <a:solidFill>
            <a:srgbClr val="17305E"/>
          </a:solidFill>
          <a:ln w="12700">
            <a:solidFill>
              <a:srgbClr val="17305E"/>
            </a:solidFill>
            <a:prstDash val="solid"/>
          </a:ln>
          <a:effectLst>
            <a:outerShdw sx="100000" sy="100000" kx="0" ky="0" algn="bl" rotWithShape="0" blurRad="127000" dist="25400" dir="5400000">
              <a:srgbClr val="9AA5BD">
                <a:alpha val="25000"/>
              </a:srgbClr>
            </a:outerShdw>
          </a:effectLst>
        </p:spPr>
      </p:sp>
      <p:sp>
        <p:nvSpPr>
          <p:cNvPr id="10" name="Text 8"/>
          <p:cNvSpPr txBox="1"/>
          <p:nvPr/>
        </p:nvSpPr>
        <p:spPr>
          <a:xfrm>
            <a:off x="914400" y="2423160"/>
            <a:ext cx="2880360" cy="868680"/>
          </a:xfrm>
          <a:prstGeom prst="rect">
            <a:avLst/>
          </a:prstGeom>
          <a:noFill/>
          <a:ln/>
        </p:spPr>
        <p:txBody>
          <a:bodyPr wrap="square" lIns="0" tIns="0" rIns="0" bIns="0" rtlCol="0" anchor="ctr"/>
          <a:lstStyle/>
          <a:p>
            <a:pPr indent="0" marL="0">
              <a:buNone/>
            </a:pPr>
            <a:r>
              <a:rPr lang="en-US" sz="4800" b="1" dirty="0">
                <a:solidFill>
                  <a:srgbClr val="C8102E"/>
                </a:solidFill>
                <a:latin typeface="Arial" pitchFamily="34" charset="0"/>
                <a:ea typeface="Arial" pitchFamily="34" charset="-122"/>
                <a:cs typeface="Arial" pitchFamily="34" charset="-120"/>
              </a:rPr>
              <a:t>00%</a:t>
            </a:r>
            <a:endParaRPr lang="en-US" sz="4800" dirty="0"/>
          </a:p>
        </p:txBody>
      </p:sp>
      <p:sp>
        <p:nvSpPr>
          <p:cNvPr id="11" name="Text 9"/>
          <p:cNvSpPr txBox="1"/>
          <p:nvPr/>
        </p:nvSpPr>
        <p:spPr>
          <a:xfrm>
            <a:off x="914400" y="3291840"/>
            <a:ext cx="2880360" cy="548640"/>
          </a:xfrm>
          <a:prstGeom prst="rect">
            <a:avLst/>
          </a:prstGeom>
          <a:noFill/>
          <a:ln/>
        </p:spPr>
        <p:txBody>
          <a:bodyPr wrap="square" lIns="0" tIns="0" rIns="0" bIns="0" rtlCol="0" anchor="t"/>
          <a:lstStyle/>
          <a:p>
            <a:pPr indent="0" marL="0">
              <a:buNone/>
            </a:pPr>
            <a:r>
              <a:rPr lang="en-US" sz="1400" dirty="0">
                <a:solidFill>
                  <a:srgbClr val="CFD8EC"/>
                </a:solidFill>
                <a:latin typeface="Calibri" pitchFamily="34" charset="0"/>
                <a:ea typeface="Calibri" pitchFamily="34" charset="-122"/>
                <a:cs typeface="Calibri" pitchFamily="34" charset="-120"/>
              </a:rPr>
              <a:t>[ Scale of the problem ]</a:t>
            </a:r>
            <a:endParaRPr lang="en-US" sz="1400" dirty="0"/>
          </a:p>
        </p:txBody>
      </p:sp>
      <p:sp>
        <p:nvSpPr>
          <p:cNvPr id="12" name="Shape 10"/>
          <p:cNvSpPr/>
          <p:nvPr/>
        </p:nvSpPr>
        <p:spPr>
          <a:xfrm>
            <a:off x="4343400" y="2286000"/>
            <a:ext cx="3429000" cy="1691640"/>
          </a:xfrm>
          <a:prstGeom prst="roundRect">
            <a:avLst>
              <a:gd name="adj" fmla="val 6486"/>
            </a:avLst>
          </a:prstGeom>
          <a:solidFill>
            <a:srgbClr val="17305E"/>
          </a:solidFill>
          <a:ln w="12700">
            <a:solidFill>
              <a:srgbClr val="17305E"/>
            </a:solidFill>
            <a:prstDash val="solid"/>
          </a:ln>
          <a:effectLst>
            <a:outerShdw sx="100000" sy="100000" kx="0" ky="0" algn="bl" rotWithShape="0" blurRad="127000" dist="25400" dir="5400000">
              <a:srgbClr val="9AA5BD">
                <a:alpha val="25000"/>
              </a:srgbClr>
            </a:outerShdw>
          </a:effectLst>
        </p:spPr>
      </p:sp>
      <p:sp>
        <p:nvSpPr>
          <p:cNvPr id="13" name="Text 11"/>
          <p:cNvSpPr txBox="1"/>
          <p:nvPr/>
        </p:nvSpPr>
        <p:spPr>
          <a:xfrm>
            <a:off x="4617720" y="2423160"/>
            <a:ext cx="2880360" cy="868680"/>
          </a:xfrm>
          <a:prstGeom prst="rect">
            <a:avLst/>
          </a:prstGeom>
          <a:noFill/>
          <a:ln/>
        </p:spPr>
        <p:txBody>
          <a:bodyPr wrap="square" lIns="0" tIns="0" rIns="0" bIns="0" rtlCol="0" anchor="ctr"/>
          <a:lstStyle/>
          <a:p>
            <a:pPr indent="0" marL="0">
              <a:buNone/>
            </a:pPr>
            <a:r>
              <a:rPr lang="en-US" sz="4800" b="1" dirty="0">
                <a:solidFill>
                  <a:srgbClr val="F2A71B"/>
                </a:solidFill>
                <a:latin typeface="Arial" pitchFamily="34" charset="0"/>
                <a:ea typeface="Arial" pitchFamily="34" charset="-122"/>
                <a:cs typeface="Arial" pitchFamily="34" charset="-120"/>
              </a:rPr>
              <a:t>0M</a:t>
            </a:r>
            <a:endParaRPr lang="en-US" sz="4800" dirty="0"/>
          </a:p>
        </p:txBody>
      </p:sp>
      <p:sp>
        <p:nvSpPr>
          <p:cNvPr id="14" name="Text 12"/>
          <p:cNvSpPr txBox="1"/>
          <p:nvPr/>
        </p:nvSpPr>
        <p:spPr>
          <a:xfrm>
            <a:off x="4617720" y="3291840"/>
            <a:ext cx="2880360" cy="548640"/>
          </a:xfrm>
          <a:prstGeom prst="rect">
            <a:avLst/>
          </a:prstGeom>
          <a:noFill/>
          <a:ln/>
        </p:spPr>
        <p:txBody>
          <a:bodyPr wrap="square" lIns="0" tIns="0" rIns="0" bIns="0" rtlCol="0" anchor="t"/>
          <a:lstStyle/>
          <a:p>
            <a:pPr indent="0" marL="0">
              <a:buNone/>
            </a:pPr>
            <a:r>
              <a:rPr lang="en-US" sz="1400" dirty="0">
                <a:solidFill>
                  <a:srgbClr val="CFD8EC"/>
                </a:solidFill>
                <a:latin typeface="Calibri" pitchFamily="34" charset="0"/>
                <a:ea typeface="Calibri" pitchFamily="34" charset="-122"/>
                <a:cs typeface="Calibri" pitchFamily="34" charset="-120"/>
              </a:rPr>
              <a:t>[ People affected ]</a:t>
            </a:r>
            <a:endParaRPr lang="en-US" sz="1400" dirty="0"/>
          </a:p>
        </p:txBody>
      </p:sp>
      <p:sp>
        <p:nvSpPr>
          <p:cNvPr id="15" name="Shape 13"/>
          <p:cNvSpPr/>
          <p:nvPr/>
        </p:nvSpPr>
        <p:spPr>
          <a:xfrm>
            <a:off x="8046720" y="2286000"/>
            <a:ext cx="3429000" cy="1691640"/>
          </a:xfrm>
          <a:prstGeom prst="roundRect">
            <a:avLst>
              <a:gd name="adj" fmla="val 6486"/>
            </a:avLst>
          </a:prstGeom>
          <a:solidFill>
            <a:srgbClr val="17305E"/>
          </a:solidFill>
          <a:ln w="12700">
            <a:solidFill>
              <a:srgbClr val="17305E"/>
            </a:solidFill>
            <a:prstDash val="solid"/>
          </a:ln>
          <a:effectLst>
            <a:outerShdw sx="100000" sy="100000" kx="0" ky="0" algn="bl" rotWithShape="0" blurRad="127000" dist="25400" dir="5400000">
              <a:srgbClr val="9AA5BD">
                <a:alpha val="25000"/>
              </a:srgbClr>
            </a:outerShdw>
          </a:effectLst>
        </p:spPr>
      </p:sp>
      <p:sp>
        <p:nvSpPr>
          <p:cNvPr id="16" name="Text 14"/>
          <p:cNvSpPr txBox="1"/>
          <p:nvPr/>
        </p:nvSpPr>
        <p:spPr>
          <a:xfrm>
            <a:off x="8321040" y="2423160"/>
            <a:ext cx="2880360" cy="868680"/>
          </a:xfrm>
          <a:prstGeom prst="rect">
            <a:avLst/>
          </a:prstGeom>
          <a:noFill/>
          <a:ln/>
        </p:spPr>
        <p:txBody>
          <a:bodyPr wrap="square" lIns="0" tIns="0" rIns="0" bIns="0" rtlCol="0" anchor="ctr"/>
          <a:lstStyle/>
          <a:p>
            <a:pPr indent="0" marL="0">
              <a:buNone/>
            </a:pPr>
            <a:r>
              <a:rPr lang="en-US" sz="4800" b="1" dirty="0">
                <a:solidFill>
                  <a:srgbClr val="2E8B8B"/>
                </a:solidFill>
                <a:latin typeface="Arial" pitchFamily="34" charset="0"/>
                <a:ea typeface="Arial" pitchFamily="34" charset="-122"/>
                <a:cs typeface="Arial" pitchFamily="34" charset="-120"/>
              </a:rPr>
              <a:t>$0</a:t>
            </a:r>
            <a:endParaRPr lang="en-US" sz="4800" dirty="0"/>
          </a:p>
        </p:txBody>
      </p:sp>
      <p:sp>
        <p:nvSpPr>
          <p:cNvPr id="17" name="Text 15"/>
          <p:cNvSpPr txBox="1"/>
          <p:nvPr/>
        </p:nvSpPr>
        <p:spPr>
          <a:xfrm>
            <a:off x="8321040" y="3291840"/>
            <a:ext cx="2880360" cy="548640"/>
          </a:xfrm>
          <a:prstGeom prst="rect">
            <a:avLst/>
          </a:prstGeom>
          <a:noFill/>
          <a:ln/>
        </p:spPr>
        <p:txBody>
          <a:bodyPr wrap="square" lIns="0" tIns="0" rIns="0" bIns="0" rtlCol="0" anchor="t"/>
          <a:lstStyle/>
          <a:p>
            <a:pPr indent="0" marL="0">
              <a:buNone/>
            </a:pPr>
            <a:r>
              <a:rPr lang="en-US" sz="1400" dirty="0">
                <a:solidFill>
                  <a:srgbClr val="CFD8EC"/>
                </a:solidFill>
                <a:latin typeface="Calibri" pitchFamily="34" charset="0"/>
                <a:ea typeface="Calibri" pitchFamily="34" charset="-122"/>
                <a:cs typeface="Calibri" pitchFamily="34" charset="-120"/>
              </a:rPr>
              <a:t>[ Cost of inaction ]</a:t>
            </a:r>
            <a:endParaRPr lang="en-US" sz="1400" dirty="0"/>
          </a:p>
        </p:txBody>
      </p:sp>
      <p:sp>
        <p:nvSpPr>
          <p:cNvPr id="18" name="Text 16"/>
          <p:cNvSpPr txBox="1"/>
          <p:nvPr/>
        </p:nvSpPr>
        <p:spPr>
          <a:xfrm>
            <a:off x="640080" y="4206240"/>
            <a:ext cx="7315200" cy="320040"/>
          </a:xfrm>
          <a:prstGeom prst="rect">
            <a:avLst/>
          </a:prstGeom>
          <a:noFill/>
          <a:ln/>
        </p:spPr>
        <p:txBody>
          <a:bodyPr wrap="square" lIns="0" tIns="0" rIns="0" bIns="0" rtlCol="0" anchor="ctr"/>
          <a:lstStyle/>
          <a:p>
            <a:pPr indent="0" marL="0">
              <a:buNone/>
            </a:pPr>
            <a:r>
              <a:rPr lang="en-US" sz="1200" b="1" spc="150" kern="0" dirty="0">
                <a:solidFill>
                  <a:srgbClr val="F2A71B"/>
                </a:solidFill>
                <a:latin typeface="Calibri" pitchFamily="34" charset="0"/>
                <a:ea typeface="Calibri" pitchFamily="34" charset="-122"/>
                <a:cs typeface="Calibri" pitchFamily="34" charset="-120"/>
              </a:rPr>
              <a:t>WHY EXISTING SOLUTIONS FALL SHORT</a:t>
            </a:r>
            <a:endParaRPr lang="en-US" sz="1200" dirty="0"/>
          </a:p>
        </p:txBody>
      </p:sp>
      <p:sp>
        <p:nvSpPr>
          <p:cNvPr id="19" name="Shape 17"/>
          <p:cNvSpPr/>
          <p:nvPr/>
        </p:nvSpPr>
        <p:spPr>
          <a:xfrm>
            <a:off x="640080" y="4617720"/>
            <a:ext cx="3429000" cy="914400"/>
          </a:xfrm>
          <a:prstGeom prst="roundRect">
            <a:avLst>
              <a:gd name="adj" fmla="val 10000"/>
            </a:avLst>
          </a:prstGeom>
          <a:solidFill>
            <a:srgbClr val="17305E"/>
          </a:solidFill>
          <a:ln/>
        </p:spPr>
      </p:sp>
      <p:sp>
        <p:nvSpPr>
          <p:cNvPr id="20" name="Shape 18"/>
          <p:cNvSpPr/>
          <p:nvPr/>
        </p:nvSpPr>
        <p:spPr>
          <a:xfrm>
            <a:off x="868680" y="4937760"/>
            <a:ext cx="274320" cy="274320"/>
          </a:xfrm>
          <a:prstGeom prst="ellipse">
            <a:avLst/>
          </a:prstGeom>
          <a:solidFill>
            <a:srgbClr val="C8102E"/>
          </a:solidFill>
          <a:ln/>
        </p:spPr>
      </p:sp>
      <p:sp>
        <p:nvSpPr>
          <p:cNvPr id="21" name="Text 19"/>
          <p:cNvSpPr txBox="1"/>
          <p:nvPr/>
        </p:nvSpPr>
        <p:spPr>
          <a:xfrm>
            <a:off x="1261872" y="4727448"/>
            <a:ext cx="2606040" cy="69494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 Gap 1 — what current approaches miss ]</a:t>
            </a:r>
            <a:endParaRPr lang="en-US" sz="1300" dirty="0"/>
          </a:p>
        </p:txBody>
      </p:sp>
      <p:sp>
        <p:nvSpPr>
          <p:cNvPr id="22" name="Shape 20"/>
          <p:cNvSpPr/>
          <p:nvPr/>
        </p:nvSpPr>
        <p:spPr>
          <a:xfrm>
            <a:off x="4343400" y="4617720"/>
            <a:ext cx="3429000" cy="914400"/>
          </a:xfrm>
          <a:prstGeom prst="roundRect">
            <a:avLst>
              <a:gd name="adj" fmla="val 10000"/>
            </a:avLst>
          </a:prstGeom>
          <a:solidFill>
            <a:srgbClr val="17305E"/>
          </a:solidFill>
          <a:ln/>
        </p:spPr>
      </p:sp>
      <p:sp>
        <p:nvSpPr>
          <p:cNvPr id="23" name="Shape 21"/>
          <p:cNvSpPr/>
          <p:nvPr/>
        </p:nvSpPr>
        <p:spPr>
          <a:xfrm>
            <a:off x="4572000" y="4937760"/>
            <a:ext cx="274320" cy="274320"/>
          </a:xfrm>
          <a:prstGeom prst="ellipse">
            <a:avLst/>
          </a:prstGeom>
          <a:solidFill>
            <a:srgbClr val="C8102E"/>
          </a:solidFill>
          <a:ln/>
        </p:spPr>
      </p:sp>
      <p:sp>
        <p:nvSpPr>
          <p:cNvPr id="24" name="Text 22"/>
          <p:cNvSpPr txBox="1"/>
          <p:nvPr/>
        </p:nvSpPr>
        <p:spPr>
          <a:xfrm>
            <a:off x="4965192" y="4727448"/>
            <a:ext cx="2606040" cy="69494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 Gap 2 — cost, access, or reliability barrier ]</a:t>
            </a:r>
            <a:endParaRPr lang="en-US" sz="1300" dirty="0"/>
          </a:p>
        </p:txBody>
      </p:sp>
      <p:sp>
        <p:nvSpPr>
          <p:cNvPr id="25" name="Shape 23"/>
          <p:cNvSpPr/>
          <p:nvPr/>
        </p:nvSpPr>
        <p:spPr>
          <a:xfrm>
            <a:off x="8046720" y="4617720"/>
            <a:ext cx="3429000" cy="914400"/>
          </a:xfrm>
          <a:prstGeom prst="roundRect">
            <a:avLst>
              <a:gd name="adj" fmla="val 10000"/>
            </a:avLst>
          </a:prstGeom>
          <a:solidFill>
            <a:srgbClr val="17305E"/>
          </a:solidFill>
          <a:ln/>
        </p:spPr>
      </p:sp>
      <p:sp>
        <p:nvSpPr>
          <p:cNvPr id="26" name="Shape 24"/>
          <p:cNvSpPr/>
          <p:nvPr/>
        </p:nvSpPr>
        <p:spPr>
          <a:xfrm>
            <a:off x="8275320" y="4937760"/>
            <a:ext cx="274320" cy="274320"/>
          </a:xfrm>
          <a:prstGeom prst="ellipse">
            <a:avLst/>
          </a:prstGeom>
          <a:solidFill>
            <a:srgbClr val="C8102E"/>
          </a:solidFill>
          <a:ln/>
        </p:spPr>
      </p:sp>
      <p:sp>
        <p:nvSpPr>
          <p:cNvPr id="27" name="Text 25"/>
          <p:cNvSpPr txBox="1"/>
          <p:nvPr/>
        </p:nvSpPr>
        <p:spPr>
          <a:xfrm>
            <a:off x="8668512" y="4727448"/>
            <a:ext cx="2606040" cy="69494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 Gap 3 — why the gap persists today ]</a:t>
            </a:r>
            <a:endParaRPr lang="en-US" sz="1300" dirty="0"/>
          </a:p>
        </p:txBody>
      </p:sp>
      <p:sp>
        <p:nvSpPr>
          <p:cNvPr id="28" name="Text 26"/>
          <p:cNvSpPr txBox="1"/>
          <p:nvPr/>
        </p:nvSpPr>
        <p:spPr>
          <a:xfrm>
            <a:off x="640080" y="5715000"/>
            <a:ext cx="10881360" cy="365760"/>
          </a:xfrm>
          <a:prstGeom prst="rect">
            <a:avLst/>
          </a:prstGeom>
          <a:noFill/>
          <a:ln/>
        </p:spPr>
        <p:txBody>
          <a:bodyPr wrap="square" lIns="0" tIns="0" rIns="0" bIns="0" rtlCol="0" anchor="ctr"/>
          <a:lstStyle/>
          <a:p>
            <a:pPr indent="0" marL="0">
              <a:buNone/>
            </a:pPr>
            <a:r>
              <a:rPr lang="en-US" sz="1300" b="1" dirty="0">
                <a:solidFill>
                  <a:srgbClr val="AEB9D2"/>
                </a:solidFill>
                <a:latin typeface="Calibri" pitchFamily="34" charset="0"/>
                <a:ea typeface="Calibri" pitchFamily="34" charset="-122"/>
                <a:cs typeface="Calibri" pitchFamily="34" charset="-120"/>
              </a:rPr>
              <a:t>Evidence: [ name your sources — survey, interviews, published data ]</a:t>
            </a:r>
            <a:endParaRPr lang="en-US" sz="1300" dirty="0"/>
          </a:p>
        </p:txBody>
      </p:sp>
      <p:sp>
        <p:nvSpPr>
          <p:cNvPr id="29" name="Text 27"/>
          <p:cNvSpPr txBox="1"/>
          <p:nvPr/>
        </p:nvSpPr>
        <p:spPr>
          <a:xfrm>
            <a:off x="640080" y="6327648"/>
            <a:ext cx="6400800" cy="274320"/>
          </a:xfrm>
          <a:prstGeom prst="rect">
            <a:avLst/>
          </a:prstGeom>
          <a:noFill/>
          <a:ln/>
        </p:spPr>
        <p:txBody>
          <a:bodyPr wrap="square" lIns="0" tIns="0" rIns="0" bIns="0" rtlCol="0" anchor="ctr"/>
          <a:lstStyle/>
          <a:p>
            <a:pPr indent="0" marL="0">
              <a:buNone/>
            </a:pPr>
            <a:r>
              <a:rPr lang="en-US" sz="1000" dirty="0">
                <a:solidFill>
                  <a:srgbClr val="8FA0C4"/>
                </a:solidFill>
                <a:latin typeface="Calibri" pitchFamily="34" charset="0"/>
                <a:ea typeface="Calibri" pitchFamily="34" charset="-122"/>
                <a:cs typeface="Calibri" pitchFamily="34" charset="-120"/>
              </a:rPr>
              <a:t>HACK4AFRICA 2026  |  Africa University</a:t>
            </a:r>
            <a:endParaRPr lang="en-US" sz="1000" dirty="0"/>
          </a:p>
        </p:txBody>
      </p:sp>
      <p:sp>
        <p:nvSpPr>
          <p:cNvPr id="30" name="Text 28"/>
          <p:cNvSpPr txBox="1"/>
          <p:nvPr/>
        </p:nvSpPr>
        <p:spPr>
          <a:xfrm>
            <a:off x="10972800" y="6327648"/>
            <a:ext cx="548640" cy="274320"/>
          </a:xfrm>
          <a:prstGeom prst="rect">
            <a:avLst/>
          </a:prstGeom>
          <a:noFill/>
          <a:ln/>
        </p:spPr>
        <p:txBody>
          <a:bodyPr wrap="square" lIns="0" tIns="0" rIns="0" bIns="0" rtlCol="0" anchor="ctr"/>
          <a:lstStyle/>
          <a:p>
            <a:pPr algn="r" indent="0" marL="0">
              <a:buNone/>
            </a:pPr>
            <a:r>
              <a:rPr lang="en-US" sz="1000" dirty="0">
                <a:solidFill>
                  <a:srgbClr val="8FA0C4"/>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881360" y="-1371600"/>
            <a:ext cx="2926080" cy="2926080"/>
          </a:xfrm>
          <a:prstGeom prst="ellipse">
            <a:avLst/>
          </a:prstGeom>
          <a:solidFill>
            <a:srgbClr val="F3F5FA"/>
          </a:solidFill>
          <a:ln/>
        </p:spPr>
      </p:sp>
      <p:sp>
        <p:nvSpPr>
          <p:cNvPr id="3" name="Shape 1"/>
          <p:cNvSpPr/>
          <p:nvPr/>
        </p:nvSpPr>
        <p:spPr>
          <a:xfrm>
            <a:off x="640080" y="475488"/>
            <a:ext cx="201168" cy="201168"/>
          </a:xfrm>
          <a:prstGeom prst="ellipse">
            <a:avLst/>
          </a:prstGeom>
          <a:solidFill>
            <a:srgbClr val="C8102E"/>
          </a:solidFill>
          <a:ln/>
        </p:spPr>
      </p:sp>
      <p:sp>
        <p:nvSpPr>
          <p:cNvPr id="4" name="Text 2"/>
          <p:cNvSpPr txBox="1"/>
          <p:nvPr/>
        </p:nvSpPr>
        <p:spPr>
          <a:xfrm>
            <a:off x="932688" y="402336"/>
            <a:ext cx="5943600" cy="347472"/>
          </a:xfrm>
          <a:prstGeom prst="rect">
            <a:avLst/>
          </a:prstGeom>
          <a:noFill/>
          <a:ln/>
        </p:spPr>
        <p:txBody>
          <a:bodyPr wrap="square" lIns="0" tIns="0" rIns="0" bIns="0" rtlCol="0" anchor="ctr"/>
          <a:lstStyle/>
          <a:p>
            <a:pPr indent="0" marL="0">
              <a:buNone/>
            </a:pPr>
            <a:r>
              <a:rPr lang="en-US" sz="1300" b="1" spc="200" kern="0" dirty="0">
                <a:solidFill>
                  <a:srgbClr val="C8102E"/>
                </a:solidFill>
                <a:latin typeface="Calibri" pitchFamily="34" charset="0"/>
                <a:ea typeface="Calibri" pitchFamily="34" charset="-122"/>
                <a:cs typeface="Calibri" pitchFamily="34" charset="-120"/>
              </a:rPr>
              <a:t>03 — OBJECTIVES</a:t>
            </a:r>
            <a:endParaRPr lang="en-US" sz="1300" dirty="0"/>
          </a:p>
        </p:txBody>
      </p:sp>
      <p:sp>
        <p:nvSpPr>
          <p:cNvPr id="5" name="Text 3"/>
          <p:cNvSpPr txBox="1"/>
          <p:nvPr/>
        </p:nvSpPr>
        <p:spPr>
          <a:xfrm>
            <a:off x="6035040" y="402336"/>
            <a:ext cx="5486400" cy="347472"/>
          </a:xfrm>
          <a:prstGeom prst="rect">
            <a:avLst/>
          </a:prstGeom>
          <a:noFill/>
          <a:ln/>
        </p:spPr>
        <p:txBody>
          <a:bodyPr wrap="square" lIns="0" tIns="0" rIns="0" bIns="0" rtlCol="0" anchor="ctr"/>
          <a:lstStyle/>
          <a:p>
            <a:pPr algn="r" indent="0" marL="0">
              <a:buNone/>
            </a:pPr>
            <a:r>
              <a:rPr lang="en-US" sz="1000" b="1" spc="100" kern="0" dirty="0">
                <a:solidFill>
                  <a:srgbClr val="9AA5BD"/>
                </a:solidFill>
                <a:latin typeface="Calibri" pitchFamily="34" charset="0"/>
                <a:ea typeface="Calibri" pitchFamily="34" charset="-122"/>
                <a:cs typeface="Calibri" pitchFamily="34" charset="-120"/>
              </a:rPr>
              <a:t>JUDGED ON  ·  1. PROBLEM RELEVANCE &amp; FIT</a:t>
            </a:r>
            <a:endParaRPr lang="en-US" sz="1000" dirty="0"/>
          </a:p>
        </p:txBody>
      </p:sp>
      <p:sp>
        <p:nvSpPr>
          <p:cNvPr id="6" name="Text 4"/>
          <p:cNvSpPr txBox="1"/>
          <p:nvPr/>
        </p:nvSpPr>
        <p:spPr>
          <a:xfrm>
            <a:off x="640080" y="804672"/>
            <a:ext cx="10881360" cy="777240"/>
          </a:xfrm>
          <a:prstGeom prst="rect">
            <a:avLst/>
          </a:prstGeom>
          <a:noFill/>
          <a:ln/>
        </p:spPr>
        <p:txBody>
          <a:bodyPr wrap="square" lIns="0" tIns="0" rIns="0" bIns="0" rtlCol="0" anchor="ctr"/>
          <a:lstStyle/>
          <a:p>
            <a:pPr indent="0" marL="0">
              <a:buNone/>
            </a:pPr>
            <a:r>
              <a:rPr lang="en-US" sz="3600" b="1" dirty="0">
                <a:solidFill>
                  <a:srgbClr val="0E1F44"/>
                </a:solidFill>
                <a:latin typeface="Arial" pitchFamily="34" charset="0"/>
                <a:ea typeface="Arial" pitchFamily="34" charset="-122"/>
                <a:cs typeface="Arial" pitchFamily="34" charset="-120"/>
              </a:rPr>
              <a:t>What success looks like</a:t>
            </a:r>
            <a:endParaRPr lang="en-US" sz="3600" dirty="0"/>
          </a:p>
        </p:txBody>
      </p:sp>
      <p:sp>
        <p:nvSpPr>
          <p:cNvPr id="7" name="Text 5"/>
          <p:cNvSpPr txBox="1"/>
          <p:nvPr/>
        </p:nvSpPr>
        <p:spPr>
          <a:xfrm>
            <a:off x="640080" y="1664208"/>
            <a:ext cx="10881360" cy="457200"/>
          </a:xfrm>
          <a:prstGeom prst="rect">
            <a:avLst/>
          </a:prstGeom>
          <a:noFill/>
          <a:ln/>
        </p:spPr>
        <p:txBody>
          <a:bodyPr wrap="square" lIns="0" tIns="0" rIns="0" bIns="0" rtlCol="0" anchor="ctr"/>
          <a:lstStyle/>
          <a:p>
            <a:pPr indent="0" marL="0">
              <a:buNone/>
            </a:pPr>
            <a:r>
              <a:rPr lang="en-US" sz="1700" i="1" dirty="0">
                <a:solidFill>
                  <a:srgbClr val="5B6780"/>
                </a:solidFill>
                <a:latin typeface="Calibri" pitchFamily="34" charset="0"/>
                <a:ea typeface="Calibri" pitchFamily="34" charset="-122"/>
                <a:cs typeface="Calibri" pitchFamily="34" charset="-120"/>
              </a:rPr>
              <a:t>Our aim: [ one sentence stating the overall goal of the project ]</a:t>
            </a:r>
            <a:endParaRPr lang="en-US" sz="1700" dirty="0"/>
          </a:p>
        </p:txBody>
      </p:sp>
      <p:sp>
        <p:nvSpPr>
          <p:cNvPr id="8" name="Shape 6"/>
          <p:cNvSpPr/>
          <p:nvPr/>
        </p:nvSpPr>
        <p:spPr>
          <a:xfrm>
            <a:off x="640080" y="2286000"/>
            <a:ext cx="5394960" cy="1691640"/>
          </a:xfrm>
          <a:prstGeom prst="roundRect">
            <a:avLst>
              <a:gd name="adj" fmla="val 6486"/>
            </a:avLst>
          </a:prstGeom>
          <a:solidFill>
            <a:srgbClr val="F3F5FA"/>
          </a:solidFill>
          <a:ln w="12700">
            <a:solidFill>
              <a:srgbClr val="F3F5FA"/>
            </a:solidFill>
            <a:prstDash val="solid"/>
          </a:ln>
          <a:effectLst>
            <a:outerShdw sx="100000" sy="100000" kx="0" ky="0" algn="bl" rotWithShape="0" blurRad="127000" dist="25400" dir="5400000">
              <a:srgbClr val="9AA5BD">
                <a:alpha val="25000"/>
              </a:srgbClr>
            </a:outerShdw>
          </a:effectLst>
        </p:spPr>
      </p:sp>
      <p:sp>
        <p:nvSpPr>
          <p:cNvPr id="9" name="Shape 7"/>
          <p:cNvSpPr/>
          <p:nvPr/>
        </p:nvSpPr>
        <p:spPr>
          <a:xfrm>
            <a:off x="960120" y="2596896"/>
            <a:ext cx="566928" cy="566928"/>
          </a:xfrm>
          <a:prstGeom prst="ellipse">
            <a:avLst/>
          </a:prstGeom>
          <a:solidFill>
            <a:srgbClr val="C8102E"/>
          </a:solidFill>
          <a:ln/>
        </p:spPr>
      </p:sp>
      <p:sp>
        <p:nvSpPr>
          <p:cNvPr id="10" name="Text 8"/>
          <p:cNvSpPr txBox="1"/>
          <p:nvPr/>
        </p:nvSpPr>
        <p:spPr>
          <a:xfrm>
            <a:off x="960120" y="2596896"/>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11" name="Text 9"/>
          <p:cNvSpPr txBox="1"/>
          <p:nvPr/>
        </p:nvSpPr>
        <p:spPr>
          <a:xfrm>
            <a:off x="1691640" y="2560320"/>
            <a:ext cx="4023360" cy="365760"/>
          </a:xfrm>
          <a:prstGeom prst="rect">
            <a:avLst/>
          </a:prstGeom>
          <a:noFill/>
          <a:ln/>
        </p:spPr>
        <p:txBody>
          <a:bodyPr wrap="square" lIns="0" tIns="0" rIns="0" bIns="0" rtlCol="0" anchor="ctr"/>
          <a:lstStyle/>
          <a:p>
            <a:pPr indent="0" marL="0">
              <a:buNone/>
            </a:pPr>
            <a:r>
              <a:rPr lang="en-US" sz="1900" b="1" dirty="0">
                <a:solidFill>
                  <a:srgbClr val="0E1F44"/>
                </a:solidFill>
                <a:latin typeface="Arial" pitchFamily="34" charset="0"/>
                <a:ea typeface="Arial" pitchFamily="34" charset="-122"/>
                <a:cs typeface="Arial" pitchFamily="34" charset="-120"/>
              </a:rPr>
              <a:t>Primary objective</a:t>
            </a:r>
            <a:endParaRPr lang="en-US" sz="1900" dirty="0"/>
          </a:p>
        </p:txBody>
      </p:sp>
      <p:sp>
        <p:nvSpPr>
          <p:cNvPr id="12" name="Text 10"/>
          <p:cNvSpPr txBox="1"/>
          <p:nvPr/>
        </p:nvSpPr>
        <p:spPr>
          <a:xfrm>
            <a:off x="1691640" y="2971800"/>
            <a:ext cx="4069080" cy="822960"/>
          </a:xfrm>
          <a:prstGeom prst="rect">
            <a:avLst/>
          </a:prstGeom>
          <a:noFill/>
          <a:ln/>
        </p:spPr>
        <p:txBody>
          <a:bodyPr wrap="square" lIns="0" tIns="0" rIns="0" bIns="0" rtlCol="0" anchor="t"/>
          <a:lstStyle/>
          <a:p>
            <a:pPr indent="0" marL="0">
              <a:buNone/>
            </a:pPr>
            <a:r>
              <a:rPr lang="en-US" sz="1400" dirty="0">
                <a:solidFill>
                  <a:srgbClr val="5B6780"/>
                </a:solidFill>
                <a:latin typeface="Calibri" pitchFamily="34" charset="0"/>
                <a:ea typeface="Calibri" pitchFamily="34" charset="-122"/>
                <a:cs typeface="Calibri" pitchFamily="34" charset="-120"/>
              </a:rPr>
              <a:t>[ The single outcome the solution must deliver. Make it measurable. ]</a:t>
            </a:r>
            <a:endParaRPr lang="en-US" sz="1400" dirty="0"/>
          </a:p>
        </p:txBody>
      </p:sp>
      <p:sp>
        <p:nvSpPr>
          <p:cNvPr id="13" name="Shape 11"/>
          <p:cNvSpPr/>
          <p:nvPr/>
        </p:nvSpPr>
        <p:spPr>
          <a:xfrm>
            <a:off x="6309360" y="2286000"/>
            <a:ext cx="5394960" cy="1691640"/>
          </a:xfrm>
          <a:prstGeom prst="roundRect">
            <a:avLst>
              <a:gd name="adj" fmla="val 6486"/>
            </a:avLst>
          </a:prstGeom>
          <a:solidFill>
            <a:srgbClr val="F3F5FA"/>
          </a:solidFill>
          <a:ln w="12700">
            <a:solidFill>
              <a:srgbClr val="F3F5FA"/>
            </a:solidFill>
            <a:prstDash val="solid"/>
          </a:ln>
          <a:effectLst>
            <a:outerShdw sx="100000" sy="100000" kx="0" ky="0" algn="bl" rotWithShape="0" blurRad="127000" dist="25400" dir="5400000">
              <a:srgbClr val="9AA5BD">
                <a:alpha val="25000"/>
              </a:srgbClr>
            </a:outerShdw>
          </a:effectLst>
        </p:spPr>
      </p:sp>
      <p:sp>
        <p:nvSpPr>
          <p:cNvPr id="14" name="Shape 12"/>
          <p:cNvSpPr/>
          <p:nvPr/>
        </p:nvSpPr>
        <p:spPr>
          <a:xfrm>
            <a:off x="6629400" y="2596896"/>
            <a:ext cx="566928" cy="566928"/>
          </a:xfrm>
          <a:prstGeom prst="ellipse">
            <a:avLst/>
          </a:prstGeom>
          <a:solidFill>
            <a:srgbClr val="17305E"/>
          </a:solidFill>
          <a:ln/>
        </p:spPr>
      </p:sp>
      <p:sp>
        <p:nvSpPr>
          <p:cNvPr id="15" name="Text 13"/>
          <p:cNvSpPr txBox="1"/>
          <p:nvPr/>
        </p:nvSpPr>
        <p:spPr>
          <a:xfrm>
            <a:off x="6629400" y="2596896"/>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6" name="Text 14"/>
          <p:cNvSpPr txBox="1"/>
          <p:nvPr/>
        </p:nvSpPr>
        <p:spPr>
          <a:xfrm>
            <a:off x="7360920" y="2560320"/>
            <a:ext cx="4023360" cy="365760"/>
          </a:xfrm>
          <a:prstGeom prst="rect">
            <a:avLst/>
          </a:prstGeom>
          <a:noFill/>
          <a:ln/>
        </p:spPr>
        <p:txBody>
          <a:bodyPr wrap="square" lIns="0" tIns="0" rIns="0" bIns="0" rtlCol="0" anchor="ctr"/>
          <a:lstStyle/>
          <a:p>
            <a:pPr indent="0" marL="0">
              <a:buNone/>
            </a:pPr>
            <a:r>
              <a:rPr lang="en-US" sz="1900" b="1" dirty="0">
                <a:solidFill>
                  <a:srgbClr val="0E1F44"/>
                </a:solidFill>
                <a:latin typeface="Arial" pitchFamily="34" charset="0"/>
                <a:ea typeface="Arial" pitchFamily="34" charset="-122"/>
                <a:cs typeface="Arial" pitchFamily="34" charset="-120"/>
              </a:rPr>
              <a:t>Secondary objective</a:t>
            </a:r>
            <a:endParaRPr lang="en-US" sz="1900" dirty="0"/>
          </a:p>
        </p:txBody>
      </p:sp>
      <p:sp>
        <p:nvSpPr>
          <p:cNvPr id="17" name="Text 15"/>
          <p:cNvSpPr txBox="1"/>
          <p:nvPr/>
        </p:nvSpPr>
        <p:spPr>
          <a:xfrm>
            <a:off x="7360920" y="2971800"/>
            <a:ext cx="4069080" cy="822960"/>
          </a:xfrm>
          <a:prstGeom prst="rect">
            <a:avLst/>
          </a:prstGeom>
          <a:noFill/>
          <a:ln/>
        </p:spPr>
        <p:txBody>
          <a:bodyPr wrap="square" lIns="0" tIns="0" rIns="0" bIns="0" rtlCol="0" anchor="t"/>
          <a:lstStyle/>
          <a:p>
            <a:pPr indent="0" marL="0">
              <a:buNone/>
            </a:pPr>
            <a:r>
              <a:rPr lang="en-US" sz="1400" dirty="0">
                <a:solidFill>
                  <a:srgbClr val="5B6780"/>
                </a:solidFill>
                <a:latin typeface="Calibri" pitchFamily="34" charset="0"/>
                <a:ea typeface="Calibri" pitchFamily="34" charset="-122"/>
                <a:cs typeface="Calibri" pitchFamily="34" charset="-120"/>
              </a:rPr>
              <a:t>[ A supporting outcome — reach, accuracy, cost, or speed target. ]</a:t>
            </a:r>
            <a:endParaRPr lang="en-US" sz="1400" dirty="0"/>
          </a:p>
        </p:txBody>
      </p:sp>
      <p:sp>
        <p:nvSpPr>
          <p:cNvPr id="18" name="Shape 16"/>
          <p:cNvSpPr/>
          <p:nvPr/>
        </p:nvSpPr>
        <p:spPr>
          <a:xfrm>
            <a:off x="640080" y="4206240"/>
            <a:ext cx="5394960" cy="1691640"/>
          </a:xfrm>
          <a:prstGeom prst="roundRect">
            <a:avLst>
              <a:gd name="adj" fmla="val 6486"/>
            </a:avLst>
          </a:prstGeom>
          <a:solidFill>
            <a:srgbClr val="F3F5FA"/>
          </a:solidFill>
          <a:ln w="12700">
            <a:solidFill>
              <a:srgbClr val="F3F5FA"/>
            </a:solidFill>
            <a:prstDash val="solid"/>
          </a:ln>
          <a:effectLst>
            <a:outerShdw sx="100000" sy="100000" kx="0" ky="0" algn="bl" rotWithShape="0" blurRad="127000" dist="25400" dir="5400000">
              <a:srgbClr val="9AA5BD">
                <a:alpha val="25000"/>
              </a:srgbClr>
            </a:outerShdw>
          </a:effectLst>
        </p:spPr>
      </p:sp>
      <p:sp>
        <p:nvSpPr>
          <p:cNvPr id="19" name="Shape 17"/>
          <p:cNvSpPr/>
          <p:nvPr/>
        </p:nvSpPr>
        <p:spPr>
          <a:xfrm>
            <a:off x="960120" y="4517136"/>
            <a:ext cx="566928" cy="566928"/>
          </a:xfrm>
          <a:prstGeom prst="ellipse">
            <a:avLst/>
          </a:prstGeom>
          <a:solidFill>
            <a:srgbClr val="F2A71B"/>
          </a:solidFill>
          <a:ln/>
        </p:spPr>
      </p:sp>
      <p:sp>
        <p:nvSpPr>
          <p:cNvPr id="20" name="Text 18"/>
          <p:cNvSpPr txBox="1"/>
          <p:nvPr/>
        </p:nvSpPr>
        <p:spPr>
          <a:xfrm>
            <a:off x="960120" y="4517136"/>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21" name="Text 19"/>
          <p:cNvSpPr txBox="1"/>
          <p:nvPr/>
        </p:nvSpPr>
        <p:spPr>
          <a:xfrm>
            <a:off x="1691640" y="4480560"/>
            <a:ext cx="4023360" cy="365760"/>
          </a:xfrm>
          <a:prstGeom prst="rect">
            <a:avLst/>
          </a:prstGeom>
          <a:noFill/>
          <a:ln/>
        </p:spPr>
        <p:txBody>
          <a:bodyPr wrap="square" lIns="0" tIns="0" rIns="0" bIns="0" rtlCol="0" anchor="ctr"/>
          <a:lstStyle/>
          <a:p>
            <a:pPr indent="0" marL="0">
              <a:buNone/>
            </a:pPr>
            <a:r>
              <a:rPr lang="en-US" sz="1900" b="1" dirty="0">
                <a:solidFill>
                  <a:srgbClr val="0E1F44"/>
                </a:solidFill>
                <a:latin typeface="Arial" pitchFamily="34" charset="0"/>
                <a:ea typeface="Arial" pitchFamily="34" charset="-122"/>
                <a:cs typeface="Arial" pitchFamily="34" charset="-120"/>
              </a:rPr>
              <a:t>Technical objective</a:t>
            </a:r>
            <a:endParaRPr lang="en-US" sz="1900" dirty="0"/>
          </a:p>
        </p:txBody>
      </p:sp>
      <p:sp>
        <p:nvSpPr>
          <p:cNvPr id="22" name="Text 20"/>
          <p:cNvSpPr txBox="1"/>
          <p:nvPr/>
        </p:nvSpPr>
        <p:spPr>
          <a:xfrm>
            <a:off x="1691640" y="4892040"/>
            <a:ext cx="4069080" cy="822960"/>
          </a:xfrm>
          <a:prstGeom prst="rect">
            <a:avLst/>
          </a:prstGeom>
          <a:noFill/>
          <a:ln/>
        </p:spPr>
        <p:txBody>
          <a:bodyPr wrap="square" lIns="0" tIns="0" rIns="0" bIns="0" rtlCol="0" anchor="t"/>
          <a:lstStyle/>
          <a:p>
            <a:pPr indent="0" marL="0">
              <a:buNone/>
            </a:pPr>
            <a:r>
              <a:rPr lang="en-US" sz="1400" dirty="0">
                <a:solidFill>
                  <a:srgbClr val="5B6780"/>
                </a:solidFill>
                <a:latin typeface="Calibri" pitchFamily="34" charset="0"/>
                <a:ea typeface="Calibri" pitchFamily="34" charset="-122"/>
                <a:cs typeface="Calibri" pitchFamily="34" charset="-120"/>
              </a:rPr>
              <a:t>[ What the build itself must achieve within the sprint. ]</a:t>
            </a:r>
            <a:endParaRPr lang="en-US" sz="1400" dirty="0"/>
          </a:p>
        </p:txBody>
      </p:sp>
      <p:sp>
        <p:nvSpPr>
          <p:cNvPr id="23" name="Shape 21"/>
          <p:cNvSpPr/>
          <p:nvPr/>
        </p:nvSpPr>
        <p:spPr>
          <a:xfrm>
            <a:off x="6309360" y="4206240"/>
            <a:ext cx="5394960" cy="1691640"/>
          </a:xfrm>
          <a:prstGeom prst="roundRect">
            <a:avLst>
              <a:gd name="adj" fmla="val 6486"/>
            </a:avLst>
          </a:prstGeom>
          <a:solidFill>
            <a:srgbClr val="F3F5FA"/>
          </a:solidFill>
          <a:ln w="12700">
            <a:solidFill>
              <a:srgbClr val="F3F5FA"/>
            </a:solidFill>
            <a:prstDash val="solid"/>
          </a:ln>
          <a:effectLst>
            <a:outerShdw sx="100000" sy="100000" kx="0" ky="0" algn="bl" rotWithShape="0" blurRad="127000" dist="25400" dir="5400000">
              <a:srgbClr val="9AA5BD">
                <a:alpha val="25000"/>
              </a:srgbClr>
            </a:outerShdw>
          </a:effectLst>
        </p:spPr>
      </p:sp>
      <p:sp>
        <p:nvSpPr>
          <p:cNvPr id="24" name="Shape 22"/>
          <p:cNvSpPr/>
          <p:nvPr/>
        </p:nvSpPr>
        <p:spPr>
          <a:xfrm>
            <a:off x="6629400" y="4517136"/>
            <a:ext cx="566928" cy="566928"/>
          </a:xfrm>
          <a:prstGeom prst="ellipse">
            <a:avLst/>
          </a:prstGeom>
          <a:solidFill>
            <a:srgbClr val="2E8B8B"/>
          </a:solidFill>
          <a:ln/>
        </p:spPr>
      </p:sp>
      <p:sp>
        <p:nvSpPr>
          <p:cNvPr id="25" name="Text 23"/>
          <p:cNvSpPr txBox="1"/>
          <p:nvPr/>
        </p:nvSpPr>
        <p:spPr>
          <a:xfrm>
            <a:off x="6629400" y="4517136"/>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26" name="Text 24"/>
          <p:cNvSpPr txBox="1"/>
          <p:nvPr/>
        </p:nvSpPr>
        <p:spPr>
          <a:xfrm>
            <a:off x="7360920" y="4480560"/>
            <a:ext cx="4023360" cy="365760"/>
          </a:xfrm>
          <a:prstGeom prst="rect">
            <a:avLst/>
          </a:prstGeom>
          <a:noFill/>
          <a:ln/>
        </p:spPr>
        <p:txBody>
          <a:bodyPr wrap="square" lIns="0" tIns="0" rIns="0" bIns="0" rtlCol="0" anchor="ctr"/>
          <a:lstStyle/>
          <a:p>
            <a:pPr indent="0" marL="0">
              <a:buNone/>
            </a:pPr>
            <a:r>
              <a:rPr lang="en-US" sz="1900" b="1" dirty="0">
                <a:solidFill>
                  <a:srgbClr val="0E1F44"/>
                </a:solidFill>
                <a:latin typeface="Arial" pitchFamily="34" charset="0"/>
                <a:ea typeface="Arial" pitchFamily="34" charset="-122"/>
                <a:cs typeface="Arial" pitchFamily="34" charset="-120"/>
              </a:rPr>
              <a:t>Impact objective</a:t>
            </a:r>
            <a:endParaRPr lang="en-US" sz="1900" dirty="0"/>
          </a:p>
        </p:txBody>
      </p:sp>
      <p:sp>
        <p:nvSpPr>
          <p:cNvPr id="27" name="Text 25"/>
          <p:cNvSpPr txBox="1"/>
          <p:nvPr/>
        </p:nvSpPr>
        <p:spPr>
          <a:xfrm>
            <a:off x="7360920" y="4892040"/>
            <a:ext cx="4069080" cy="822960"/>
          </a:xfrm>
          <a:prstGeom prst="rect">
            <a:avLst/>
          </a:prstGeom>
          <a:noFill/>
          <a:ln/>
        </p:spPr>
        <p:txBody>
          <a:bodyPr wrap="square" lIns="0" tIns="0" rIns="0" bIns="0" rtlCol="0" anchor="t"/>
          <a:lstStyle/>
          <a:p>
            <a:pPr indent="0" marL="0">
              <a:buNone/>
            </a:pPr>
            <a:r>
              <a:rPr lang="en-US" sz="1400" dirty="0">
                <a:solidFill>
                  <a:srgbClr val="5B6780"/>
                </a:solidFill>
                <a:latin typeface="Calibri" pitchFamily="34" charset="0"/>
                <a:ea typeface="Calibri" pitchFamily="34" charset="-122"/>
                <a:cs typeface="Calibri" pitchFamily="34" charset="-120"/>
              </a:rPr>
              <a:t>[ The change users experience within 6–12 months. ]</a:t>
            </a:r>
            <a:endParaRPr lang="en-US" sz="1400" dirty="0"/>
          </a:p>
        </p:txBody>
      </p:sp>
      <p:sp>
        <p:nvSpPr>
          <p:cNvPr id="28" name="Text 26"/>
          <p:cNvSpPr txBox="1"/>
          <p:nvPr/>
        </p:nvSpPr>
        <p:spPr>
          <a:xfrm>
            <a:off x="640080" y="6327648"/>
            <a:ext cx="6400800" cy="274320"/>
          </a:xfrm>
          <a:prstGeom prst="rect">
            <a:avLst/>
          </a:prstGeom>
          <a:noFill/>
          <a:ln/>
        </p:spPr>
        <p:txBody>
          <a:bodyPr wrap="square" lIns="0" tIns="0" rIns="0" bIns="0" rtlCol="0" anchor="ctr"/>
          <a:lstStyle/>
          <a:p>
            <a:pPr indent="0" marL="0">
              <a:buNone/>
            </a:pPr>
            <a:r>
              <a:rPr lang="en-US" sz="1000" dirty="0">
                <a:solidFill>
                  <a:srgbClr val="9AA5BD"/>
                </a:solidFill>
                <a:latin typeface="Calibri" pitchFamily="34" charset="0"/>
                <a:ea typeface="Calibri" pitchFamily="34" charset="-122"/>
                <a:cs typeface="Calibri" pitchFamily="34" charset="-120"/>
              </a:rPr>
              <a:t>HACK4AFRICA 2026  |  Africa University</a:t>
            </a:r>
            <a:endParaRPr lang="en-US" sz="1000" dirty="0"/>
          </a:p>
        </p:txBody>
      </p:sp>
      <p:sp>
        <p:nvSpPr>
          <p:cNvPr id="29" name="Text 27"/>
          <p:cNvSpPr txBox="1"/>
          <p:nvPr/>
        </p:nvSpPr>
        <p:spPr>
          <a:xfrm>
            <a:off x="10972800" y="6327648"/>
            <a:ext cx="548640" cy="274320"/>
          </a:xfrm>
          <a:prstGeom prst="rect">
            <a:avLst/>
          </a:prstGeom>
          <a:noFill/>
          <a:ln/>
        </p:spPr>
        <p:txBody>
          <a:bodyPr wrap="square" lIns="0" tIns="0" rIns="0" bIns="0" rtlCol="0" anchor="ctr"/>
          <a:lstStyle/>
          <a:p>
            <a:pPr algn="r" indent="0" marL="0">
              <a:buNone/>
            </a:pPr>
            <a:r>
              <a:rPr lang="en-US" sz="1000" dirty="0">
                <a:solidFill>
                  <a:srgbClr val="9AA5BD"/>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881360" y="-1371600"/>
            <a:ext cx="2926080" cy="2926080"/>
          </a:xfrm>
          <a:prstGeom prst="ellipse">
            <a:avLst/>
          </a:prstGeom>
          <a:solidFill>
            <a:srgbClr val="F3F5FA"/>
          </a:solidFill>
          <a:ln/>
        </p:spPr>
      </p:sp>
      <p:sp>
        <p:nvSpPr>
          <p:cNvPr id="3" name="Shape 1"/>
          <p:cNvSpPr/>
          <p:nvPr/>
        </p:nvSpPr>
        <p:spPr>
          <a:xfrm>
            <a:off x="640080" y="475488"/>
            <a:ext cx="201168" cy="201168"/>
          </a:xfrm>
          <a:prstGeom prst="ellipse">
            <a:avLst/>
          </a:prstGeom>
          <a:solidFill>
            <a:srgbClr val="C8102E"/>
          </a:solidFill>
          <a:ln/>
        </p:spPr>
      </p:sp>
      <p:sp>
        <p:nvSpPr>
          <p:cNvPr id="4" name="Text 2"/>
          <p:cNvSpPr txBox="1"/>
          <p:nvPr/>
        </p:nvSpPr>
        <p:spPr>
          <a:xfrm>
            <a:off x="932688" y="402336"/>
            <a:ext cx="5943600" cy="347472"/>
          </a:xfrm>
          <a:prstGeom prst="rect">
            <a:avLst/>
          </a:prstGeom>
          <a:noFill/>
          <a:ln/>
        </p:spPr>
        <p:txBody>
          <a:bodyPr wrap="square" lIns="0" tIns="0" rIns="0" bIns="0" rtlCol="0" anchor="ctr"/>
          <a:lstStyle/>
          <a:p>
            <a:pPr indent="0" marL="0">
              <a:buNone/>
            </a:pPr>
            <a:r>
              <a:rPr lang="en-US" sz="1300" b="1" spc="200" kern="0" dirty="0">
                <a:solidFill>
                  <a:srgbClr val="C8102E"/>
                </a:solidFill>
                <a:latin typeface="Calibri" pitchFamily="34" charset="0"/>
                <a:ea typeface="Calibri" pitchFamily="34" charset="-122"/>
                <a:cs typeface="Calibri" pitchFamily="34" charset="-120"/>
              </a:rPr>
              <a:t>04 — METHODOLOGY</a:t>
            </a:r>
            <a:endParaRPr lang="en-US" sz="1300" dirty="0"/>
          </a:p>
        </p:txBody>
      </p:sp>
      <p:sp>
        <p:nvSpPr>
          <p:cNvPr id="5" name="Text 3"/>
          <p:cNvSpPr txBox="1"/>
          <p:nvPr/>
        </p:nvSpPr>
        <p:spPr>
          <a:xfrm>
            <a:off x="6035040" y="402336"/>
            <a:ext cx="5486400" cy="347472"/>
          </a:xfrm>
          <a:prstGeom prst="rect">
            <a:avLst/>
          </a:prstGeom>
          <a:noFill/>
          <a:ln/>
        </p:spPr>
        <p:txBody>
          <a:bodyPr wrap="square" lIns="0" tIns="0" rIns="0" bIns="0" rtlCol="0" anchor="ctr"/>
          <a:lstStyle/>
          <a:p>
            <a:pPr algn="r" indent="0" marL="0">
              <a:buNone/>
            </a:pPr>
            <a:r>
              <a:rPr lang="en-US" sz="1000" b="1" spc="100" kern="0" dirty="0">
                <a:solidFill>
                  <a:srgbClr val="9AA5BD"/>
                </a:solidFill>
                <a:latin typeface="Calibri" pitchFamily="34" charset="0"/>
                <a:ea typeface="Calibri" pitchFamily="34" charset="-122"/>
                <a:cs typeface="Calibri" pitchFamily="34" charset="-120"/>
              </a:rPr>
              <a:t>JUDGED ON  ·  3. TECHNICAL FEASIBILITY &amp; EXECUTION</a:t>
            </a:r>
            <a:endParaRPr lang="en-US" sz="1000" dirty="0"/>
          </a:p>
        </p:txBody>
      </p:sp>
      <p:sp>
        <p:nvSpPr>
          <p:cNvPr id="6" name="Text 4"/>
          <p:cNvSpPr txBox="1"/>
          <p:nvPr/>
        </p:nvSpPr>
        <p:spPr>
          <a:xfrm>
            <a:off x="640080" y="804672"/>
            <a:ext cx="10881360" cy="777240"/>
          </a:xfrm>
          <a:prstGeom prst="rect">
            <a:avLst/>
          </a:prstGeom>
          <a:noFill/>
          <a:ln/>
        </p:spPr>
        <p:txBody>
          <a:bodyPr wrap="square" lIns="0" tIns="0" rIns="0" bIns="0" rtlCol="0" anchor="ctr"/>
          <a:lstStyle/>
          <a:p>
            <a:pPr indent="0" marL="0">
              <a:buNone/>
            </a:pPr>
            <a:r>
              <a:rPr lang="en-US" sz="3600" b="1" dirty="0">
                <a:solidFill>
                  <a:srgbClr val="0E1F44"/>
                </a:solidFill>
                <a:latin typeface="Arial" pitchFamily="34" charset="0"/>
                <a:ea typeface="Arial" pitchFamily="34" charset="-122"/>
                <a:cs typeface="Arial" pitchFamily="34" charset="-120"/>
              </a:rPr>
              <a:t>How we approached the build</a:t>
            </a:r>
            <a:endParaRPr lang="en-US" sz="3600" dirty="0"/>
          </a:p>
        </p:txBody>
      </p:sp>
      <p:sp>
        <p:nvSpPr>
          <p:cNvPr id="7" name="Text 5"/>
          <p:cNvSpPr txBox="1"/>
          <p:nvPr/>
        </p:nvSpPr>
        <p:spPr>
          <a:xfrm>
            <a:off x="640080" y="1664208"/>
            <a:ext cx="10881360" cy="411480"/>
          </a:xfrm>
          <a:prstGeom prst="rect">
            <a:avLst/>
          </a:prstGeom>
          <a:noFill/>
          <a:ln/>
        </p:spPr>
        <p:txBody>
          <a:bodyPr wrap="square" lIns="0" tIns="0" rIns="0" bIns="0" rtlCol="0" anchor="ctr"/>
          <a:lstStyle/>
          <a:p>
            <a:pPr indent="0" marL="0">
              <a:buNone/>
            </a:pPr>
            <a:r>
              <a:rPr lang="en-US" sz="1600" i="1" dirty="0">
                <a:solidFill>
                  <a:srgbClr val="5B6780"/>
                </a:solidFill>
                <a:latin typeface="Calibri" pitchFamily="34" charset="0"/>
                <a:ea typeface="Calibri" pitchFamily="34" charset="-122"/>
                <a:cs typeface="Calibri" pitchFamily="34" charset="-120"/>
              </a:rPr>
              <a:t>[ Name your approach — e.g. Design Thinking, Agile sprint, Lean MVP loop ]</a:t>
            </a:r>
            <a:endParaRPr lang="en-US" sz="1600" dirty="0"/>
          </a:p>
        </p:txBody>
      </p:sp>
      <p:sp>
        <p:nvSpPr>
          <p:cNvPr id="8" name="Shape 6"/>
          <p:cNvSpPr/>
          <p:nvPr/>
        </p:nvSpPr>
        <p:spPr>
          <a:xfrm>
            <a:off x="640080" y="2286000"/>
            <a:ext cx="2011680" cy="2880360"/>
          </a:xfrm>
          <a:prstGeom prst="roundRect">
            <a:avLst>
              <a:gd name="adj" fmla="val 5455"/>
            </a:avLst>
          </a:prstGeom>
          <a:solidFill>
            <a:srgbClr val="0E1F44"/>
          </a:solidFill>
          <a:ln w="12700">
            <a:solidFill>
              <a:srgbClr val="0E1F44"/>
            </a:solidFill>
            <a:prstDash val="solid"/>
          </a:ln>
          <a:effectLst>
            <a:outerShdw sx="100000" sy="100000" kx="0" ky="0" algn="bl" rotWithShape="0" blurRad="127000" dist="25400" dir="5400000">
              <a:srgbClr val="9AA5BD">
                <a:alpha val="25000"/>
              </a:srgbClr>
            </a:outerShdw>
          </a:effectLst>
        </p:spPr>
      </p:sp>
      <p:sp>
        <p:nvSpPr>
          <p:cNvPr id="9" name="Text 7"/>
          <p:cNvSpPr txBox="1"/>
          <p:nvPr/>
        </p:nvSpPr>
        <p:spPr>
          <a:xfrm>
            <a:off x="896112" y="2487168"/>
            <a:ext cx="1554480" cy="548640"/>
          </a:xfrm>
          <a:prstGeom prst="rect">
            <a:avLst/>
          </a:prstGeom>
          <a:noFill/>
          <a:ln/>
        </p:spPr>
        <p:txBody>
          <a:bodyPr wrap="square" lIns="0" tIns="0" rIns="0" bIns="0" rtlCol="0" anchor="ctr"/>
          <a:lstStyle/>
          <a:p>
            <a:pPr indent="0" marL="0">
              <a:buNone/>
            </a:pPr>
            <a:r>
              <a:rPr lang="en-US" sz="3000" b="1" dirty="0">
                <a:solidFill>
                  <a:srgbClr val="F2A71B"/>
                </a:solidFill>
                <a:latin typeface="Arial" pitchFamily="34" charset="0"/>
                <a:ea typeface="Arial" pitchFamily="34" charset="-122"/>
                <a:cs typeface="Arial" pitchFamily="34" charset="-120"/>
              </a:rPr>
              <a:t>01</a:t>
            </a:r>
            <a:endParaRPr lang="en-US" sz="3000" dirty="0"/>
          </a:p>
        </p:txBody>
      </p:sp>
      <p:sp>
        <p:nvSpPr>
          <p:cNvPr id="10" name="Text 8"/>
          <p:cNvSpPr txBox="1"/>
          <p:nvPr/>
        </p:nvSpPr>
        <p:spPr>
          <a:xfrm>
            <a:off x="896112" y="3108960"/>
            <a:ext cx="1554480" cy="4114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Discover</a:t>
            </a:r>
            <a:endParaRPr lang="en-US" sz="1800" dirty="0"/>
          </a:p>
        </p:txBody>
      </p:sp>
      <p:sp>
        <p:nvSpPr>
          <p:cNvPr id="11" name="Text 9"/>
          <p:cNvSpPr txBox="1"/>
          <p:nvPr/>
        </p:nvSpPr>
        <p:spPr>
          <a:xfrm>
            <a:off x="896112" y="3566160"/>
            <a:ext cx="1554480" cy="1371600"/>
          </a:xfrm>
          <a:prstGeom prst="rect">
            <a:avLst/>
          </a:prstGeom>
          <a:noFill/>
          <a:ln/>
        </p:spPr>
        <p:txBody>
          <a:bodyPr wrap="square" lIns="0" tIns="0" rIns="0" bIns="0" rtlCol="0" anchor="t"/>
          <a:lstStyle/>
          <a:p>
            <a:pPr indent="0" marL="0">
              <a:buNone/>
            </a:pPr>
            <a:r>
              <a:rPr lang="en-US" sz="1300" dirty="0">
                <a:solidFill>
                  <a:srgbClr val="CFD8EC"/>
                </a:solidFill>
                <a:latin typeface="Calibri" pitchFamily="34" charset="0"/>
                <a:ea typeface="Calibri" pitchFamily="34" charset="-122"/>
                <a:cs typeface="Calibri" pitchFamily="34" charset="-120"/>
              </a:rPr>
              <a:t>[ Research, interviews, data gathered ]</a:t>
            </a:r>
            <a:endParaRPr lang="en-US" sz="1300" dirty="0"/>
          </a:p>
        </p:txBody>
      </p:sp>
      <p:sp>
        <p:nvSpPr>
          <p:cNvPr id="12" name="Shape 10"/>
          <p:cNvSpPr/>
          <p:nvPr/>
        </p:nvSpPr>
        <p:spPr>
          <a:xfrm>
            <a:off x="2679192" y="3611880"/>
            <a:ext cx="164592" cy="164592"/>
          </a:xfrm>
          <a:prstGeom prst="ellipse">
            <a:avLst/>
          </a:prstGeom>
          <a:solidFill>
            <a:srgbClr val="F2A71B"/>
          </a:solidFill>
          <a:ln/>
        </p:spPr>
      </p:sp>
      <p:sp>
        <p:nvSpPr>
          <p:cNvPr id="13" name="Shape 11"/>
          <p:cNvSpPr/>
          <p:nvPr/>
        </p:nvSpPr>
        <p:spPr>
          <a:xfrm>
            <a:off x="2871216" y="2286000"/>
            <a:ext cx="2011680" cy="2880360"/>
          </a:xfrm>
          <a:prstGeom prst="roundRect">
            <a:avLst>
              <a:gd name="adj" fmla="val 5455"/>
            </a:avLst>
          </a:prstGeom>
          <a:solidFill>
            <a:srgbClr val="F3F5FA"/>
          </a:solidFill>
          <a:ln w="12700">
            <a:solidFill>
              <a:srgbClr val="F3F5FA"/>
            </a:solidFill>
            <a:prstDash val="solid"/>
          </a:ln>
          <a:effectLst>
            <a:outerShdw sx="100000" sy="100000" kx="0" ky="0" algn="bl" rotWithShape="0" blurRad="127000" dist="25400" dir="5400000">
              <a:srgbClr val="9AA5BD">
                <a:alpha val="25000"/>
              </a:srgbClr>
            </a:outerShdw>
          </a:effectLst>
        </p:spPr>
      </p:sp>
      <p:sp>
        <p:nvSpPr>
          <p:cNvPr id="14" name="Text 12"/>
          <p:cNvSpPr txBox="1"/>
          <p:nvPr/>
        </p:nvSpPr>
        <p:spPr>
          <a:xfrm>
            <a:off x="3127248" y="2487168"/>
            <a:ext cx="1554480" cy="548640"/>
          </a:xfrm>
          <a:prstGeom prst="rect">
            <a:avLst/>
          </a:prstGeom>
          <a:noFill/>
          <a:ln/>
        </p:spPr>
        <p:txBody>
          <a:bodyPr wrap="square" lIns="0" tIns="0" rIns="0" bIns="0" rtlCol="0" anchor="ctr"/>
          <a:lstStyle/>
          <a:p>
            <a:pPr indent="0" marL="0">
              <a:buNone/>
            </a:pPr>
            <a:r>
              <a:rPr lang="en-US" sz="3000" b="1" dirty="0">
                <a:solidFill>
                  <a:srgbClr val="C8102E"/>
                </a:solidFill>
                <a:latin typeface="Arial" pitchFamily="34" charset="0"/>
                <a:ea typeface="Arial" pitchFamily="34" charset="-122"/>
                <a:cs typeface="Arial" pitchFamily="34" charset="-120"/>
              </a:rPr>
              <a:t>02</a:t>
            </a:r>
            <a:endParaRPr lang="en-US" sz="3000" dirty="0"/>
          </a:p>
        </p:txBody>
      </p:sp>
      <p:sp>
        <p:nvSpPr>
          <p:cNvPr id="15" name="Text 13"/>
          <p:cNvSpPr txBox="1"/>
          <p:nvPr/>
        </p:nvSpPr>
        <p:spPr>
          <a:xfrm>
            <a:off x="3127248" y="3108960"/>
            <a:ext cx="1554480" cy="411480"/>
          </a:xfrm>
          <a:prstGeom prst="rect">
            <a:avLst/>
          </a:prstGeom>
          <a:noFill/>
          <a:ln/>
        </p:spPr>
        <p:txBody>
          <a:bodyPr wrap="square" lIns="0" tIns="0" rIns="0" bIns="0" rtlCol="0" anchor="ctr"/>
          <a:lstStyle/>
          <a:p>
            <a:pPr indent="0" marL="0">
              <a:buNone/>
            </a:pPr>
            <a:r>
              <a:rPr lang="en-US" sz="1800" b="1" dirty="0">
                <a:solidFill>
                  <a:srgbClr val="0E1F44"/>
                </a:solidFill>
                <a:latin typeface="Arial" pitchFamily="34" charset="0"/>
                <a:ea typeface="Arial" pitchFamily="34" charset="-122"/>
                <a:cs typeface="Arial" pitchFamily="34" charset="-120"/>
              </a:rPr>
              <a:t>Define</a:t>
            </a:r>
            <a:endParaRPr lang="en-US" sz="1800" dirty="0"/>
          </a:p>
        </p:txBody>
      </p:sp>
      <p:sp>
        <p:nvSpPr>
          <p:cNvPr id="16" name="Text 14"/>
          <p:cNvSpPr txBox="1"/>
          <p:nvPr/>
        </p:nvSpPr>
        <p:spPr>
          <a:xfrm>
            <a:off x="3127248" y="3566160"/>
            <a:ext cx="1554480" cy="1371600"/>
          </a:xfrm>
          <a:prstGeom prst="rect">
            <a:avLst/>
          </a:prstGeom>
          <a:noFill/>
          <a:ln/>
        </p:spPr>
        <p:txBody>
          <a:bodyPr wrap="square" lIns="0" tIns="0" rIns="0" bIns="0" rtlCol="0" anchor="t"/>
          <a:lstStyle/>
          <a:p>
            <a:pPr indent="0" marL="0">
              <a:buNone/>
            </a:pPr>
            <a:r>
              <a:rPr lang="en-US" sz="1300" dirty="0">
                <a:solidFill>
                  <a:srgbClr val="5B6780"/>
                </a:solidFill>
                <a:latin typeface="Calibri" pitchFamily="34" charset="0"/>
                <a:ea typeface="Calibri" pitchFamily="34" charset="-122"/>
                <a:cs typeface="Calibri" pitchFamily="34" charset="-120"/>
              </a:rPr>
              <a:t>[ Problem framed, scope locked ]</a:t>
            </a:r>
            <a:endParaRPr lang="en-US" sz="1300" dirty="0"/>
          </a:p>
        </p:txBody>
      </p:sp>
      <p:sp>
        <p:nvSpPr>
          <p:cNvPr id="17" name="Shape 15"/>
          <p:cNvSpPr/>
          <p:nvPr/>
        </p:nvSpPr>
        <p:spPr>
          <a:xfrm>
            <a:off x="4910328" y="3611880"/>
            <a:ext cx="164592" cy="164592"/>
          </a:xfrm>
          <a:prstGeom prst="ellipse">
            <a:avLst/>
          </a:prstGeom>
          <a:solidFill>
            <a:srgbClr val="F2A71B"/>
          </a:solidFill>
          <a:ln/>
        </p:spPr>
      </p:sp>
      <p:sp>
        <p:nvSpPr>
          <p:cNvPr id="18" name="Shape 16"/>
          <p:cNvSpPr/>
          <p:nvPr/>
        </p:nvSpPr>
        <p:spPr>
          <a:xfrm>
            <a:off x="5102352" y="2286000"/>
            <a:ext cx="2011680" cy="2880360"/>
          </a:xfrm>
          <a:prstGeom prst="roundRect">
            <a:avLst>
              <a:gd name="adj" fmla="val 5455"/>
            </a:avLst>
          </a:prstGeom>
          <a:solidFill>
            <a:srgbClr val="0E1F44"/>
          </a:solidFill>
          <a:ln w="12700">
            <a:solidFill>
              <a:srgbClr val="0E1F44"/>
            </a:solidFill>
            <a:prstDash val="solid"/>
          </a:ln>
          <a:effectLst>
            <a:outerShdw sx="100000" sy="100000" kx="0" ky="0" algn="bl" rotWithShape="0" blurRad="127000" dist="25400" dir="5400000">
              <a:srgbClr val="9AA5BD">
                <a:alpha val="25000"/>
              </a:srgbClr>
            </a:outerShdw>
          </a:effectLst>
        </p:spPr>
      </p:sp>
      <p:sp>
        <p:nvSpPr>
          <p:cNvPr id="19" name="Text 17"/>
          <p:cNvSpPr txBox="1"/>
          <p:nvPr/>
        </p:nvSpPr>
        <p:spPr>
          <a:xfrm>
            <a:off x="5358384" y="2487168"/>
            <a:ext cx="1554480" cy="548640"/>
          </a:xfrm>
          <a:prstGeom prst="rect">
            <a:avLst/>
          </a:prstGeom>
          <a:noFill/>
          <a:ln/>
        </p:spPr>
        <p:txBody>
          <a:bodyPr wrap="square" lIns="0" tIns="0" rIns="0" bIns="0" rtlCol="0" anchor="ctr"/>
          <a:lstStyle/>
          <a:p>
            <a:pPr indent="0" marL="0">
              <a:buNone/>
            </a:pPr>
            <a:r>
              <a:rPr lang="en-US" sz="3000" b="1" dirty="0">
                <a:solidFill>
                  <a:srgbClr val="F2A71B"/>
                </a:solidFill>
                <a:latin typeface="Arial" pitchFamily="34" charset="0"/>
                <a:ea typeface="Arial" pitchFamily="34" charset="-122"/>
                <a:cs typeface="Arial" pitchFamily="34" charset="-120"/>
              </a:rPr>
              <a:t>03</a:t>
            </a:r>
            <a:endParaRPr lang="en-US" sz="3000" dirty="0"/>
          </a:p>
        </p:txBody>
      </p:sp>
      <p:sp>
        <p:nvSpPr>
          <p:cNvPr id="20" name="Text 18"/>
          <p:cNvSpPr txBox="1"/>
          <p:nvPr/>
        </p:nvSpPr>
        <p:spPr>
          <a:xfrm>
            <a:off x="5358384" y="3108960"/>
            <a:ext cx="1554480" cy="4114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Design</a:t>
            </a:r>
            <a:endParaRPr lang="en-US" sz="1800" dirty="0"/>
          </a:p>
        </p:txBody>
      </p:sp>
      <p:sp>
        <p:nvSpPr>
          <p:cNvPr id="21" name="Text 19"/>
          <p:cNvSpPr txBox="1"/>
          <p:nvPr/>
        </p:nvSpPr>
        <p:spPr>
          <a:xfrm>
            <a:off x="5358384" y="3566160"/>
            <a:ext cx="1554480" cy="1371600"/>
          </a:xfrm>
          <a:prstGeom prst="rect">
            <a:avLst/>
          </a:prstGeom>
          <a:noFill/>
          <a:ln/>
        </p:spPr>
        <p:txBody>
          <a:bodyPr wrap="square" lIns="0" tIns="0" rIns="0" bIns="0" rtlCol="0" anchor="t"/>
          <a:lstStyle/>
          <a:p>
            <a:pPr indent="0" marL="0">
              <a:buNone/>
            </a:pPr>
            <a:r>
              <a:rPr lang="en-US" sz="1300" dirty="0">
                <a:solidFill>
                  <a:srgbClr val="CFD8EC"/>
                </a:solidFill>
                <a:latin typeface="Calibri" pitchFamily="34" charset="0"/>
                <a:ea typeface="Calibri" pitchFamily="34" charset="-122"/>
                <a:cs typeface="Calibri" pitchFamily="34" charset="-120"/>
              </a:rPr>
              <a:t>[ Wireframes, architecture, data model ]</a:t>
            </a:r>
            <a:endParaRPr lang="en-US" sz="1300" dirty="0"/>
          </a:p>
        </p:txBody>
      </p:sp>
      <p:sp>
        <p:nvSpPr>
          <p:cNvPr id="22" name="Shape 20"/>
          <p:cNvSpPr/>
          <p:nvPr/>
        </p:nvSpPr>
        <p:spPr>
          <a:xfrm>
            <a:off x="7141464" y="3611880"/>
            <a:ext cx="164592" cy="164592"/>
          </a:xfrm>
          <a:prstGeom prst="ellipse">
            <a:avLst/>
          </a:prstGeom>
          <a:solidFill>
            <a:srgbClr val="F2A71B"/>
          </a:solidFill>
          <a:ln/>
        </p:spPr>
      </p:sp>
      <p:sp>
        <p:nvSpPr>
          <p:cNvPr id="23" name="Shape 21"/>
          <p:cNvSpPr/>
          <p:nvPr/>
        </p:nvSpPr>
        <p:spPr>
          <a:xfrm>
            <a:off x="7333488" y="2286000"/>
            <a:ext cx="2011680" cy="2880360"/>
          </a:xfrm>
          <a:prstGeom prst="roundRect">
            <a:avLst>
              <a:gd name="adj" fmla="val 5455"/>
            </a:avLst>
          </a:prstGeom>
          <a:solidFill>
            <a:srgbClr val="F3F5FA"/>
          </a:solidFill>
          <a:ln w="12700">
            <a:solidFill>
              <a:srgbClr val="F3F5FA"/>
            </a:solidFill>
            <a:prstDash val="solid"/>
          </a:ln>
          <a:effectLst>
            <a:outerShdw sx="100000" sy="100000" kx="0" ky="0" algn="bl" rotWithShape="0" blurRad="127000" dist="25400" dir="5400000">
              <a:srgbClr val="9AA5BD">
                <a:alpha val="25000"/>
              </a:srgbClr>
            </a:outerShdw>
          </a:effectLst>
        </p:spPr>
      </p:sp>
      <p:sp>
        <p:nvSpPr>
          <p:cNvPr id="24" name="Text 22"/>
          <p:cNvSpPr txBox="1"/>
          <p:nvPr/>
        </p:nvSpPr>
        <p:spPr>
          <a:xfrm>
            <a:off x="7589520" y="2487168"/>
            <a:ext cx="1554480" cy="548640"/>
          </a:xfrm>
          <a:prstGeom prst="rect">
            <a:avLst/>
          </a:prstGeom>
          <a:noFill/>
          <a:ln/>
        </p:spPr>
        <p:txBody>
          <a:bodyPr wrap="square" lIns="0" tIns="0" rIns="0" bIns="0" rtlCol="0" anchor="ctr"/>
          <a:lstStyle/>
          <a:p>
            <a:pPr indent="0" marL="0">
              <a:buNone/>
            </a:pPr>
            <a:r>
              <a:rPr lang="en-US" sz="3000" b="1" dirty="0">
                <a:solidFill>
                  <a:srgbClr val="C8102E"/>
                </a:solidFill>
                <a:latin typeface="Arial" pitchFamily="34" charset="0"/>
                <a:ea typeface="Arial" pitchFamily="34" charset="-122"/>
                <a:cs typeface="Arial" pitchFamily="34" charset="-120"/>
              </a:rPr>
              <a:t>04</a:t>
            </a:r>
            <a:endParaRPr lang="en-US" sz="3000" dirty="0"/>
          </a:p>
        </p:txBody>
      </p:sp>
      <p:sp>
        <p:nvSpPr>
          <p:cNvPr id="25" name="Text 23"/>
          <p:cNvSpPr txBox="1"/>
          <p:nvPr/>
        </p:nvSpPr>
        <p:spPr>
          <a:xfrm>
            <a:off x="7589520" y="3108960"/>
            <a:ext cx="1554480" cy="411480"/>
          </a:xfrm>
          <a:prstGeom prst="rect">
            <a:avLst/>
          </a:prstGeom>
          <a:noFill/>
          <a:ln/>
        </p:spPr>
        <p:txBody>
          <a:bodyPr wrap="square" lIns="0" tIns="0" rIns="0" bIns="0" rtlCol="0" anchor="ctr"/>
          <a:lstStyle/>
          <a:p>
            <a:pPr indent="0" marL="0">
              <a:buNone/>
            </a:pPr>
            <a:r>
              <a:rPr lang="en-US" sz="1800" b="1" dirty="0">
                <a:solidFill>
                  <a:srgbClr val="0E1F44"/>
                </a:solidFill>
                <a:latin typeface="Arial" pitchFamily="34" charset="0"/>
                <a:ea typeface="Arial" pitchFamily="34" charset="-122"/>
                <a:cs typeface="Arial" pitchFamily="34" charset="-120"/>
              </a:rPr>
              <a:t>Build</a:t>
            </a:r>
            <a:endParaRPr lang="en-US" sz="1800" dirty="0"/>
          </a:p>
        </p:txBody>
      </p:sp>
      <p:sp>
        <p:nvSpPr>
          <p:cNvPr id="26" name="Text 24"/>
          <p:cNvSpPr txBox="1"/>
          <p:nvPr/>
        </p:nvSpPr>
        <p:spPr>
          <a:xfrm>
            <a:off x="7589520" y="3566160"/>
            <a:ext cx="1554480" cy="1371600"/>
          </a:xfrm>
          <a:prstGeom prst="rect">
            <a:avLst/>
          </a:prstGeom>
          <a:noFill/>
          <a:ln/>
        </p:spPr>
        <p:txBody>
          <a:bodyPr wrap="square" lIns="0" tIns="0" rIns="0" bIns="0" rtlCol="0" anchor="t"/>
          <a:lstStyle/>
          <a:p>
            <a:pPr indent="0" marL="0">
              <a:buNone/>
            </a:pPr>
            <a:r>
              <a:rPr lang="en-US" sz="1300" dirty="0">
                <a:solidFill>
                  <a:srgbClr val="5B6780"/>
                </a:solidFill>
                <a:latin typeface="Calibri" pitchFamily="34" charset="0"/>
                <a:ea typeface="Calibri" pitchFamily="34" charset="-122"/>
                <a:cs typeface="Calibri" pitchFamily="34" charset="-120"/>
              </a:rPr>
              <a:t>[ Stack, sprint plan, division of work ]</a:t>
            </a:r>
            <a:endParaRPr lang="en-US" sz="1300" dirty="0"/>
          </a:p>
        </p:txBody>
      </p:sp>
      <p:sp>
        <p:nvSpPr>
          <p:cNvPr id="27" name="Shape 25"/>
          <p:cNvSpPr/>
          <p:nvPr/>
        </p:nvSpPr>
        <p:spPr>
          <a:xfrm>
            <a:off x="9372600" y="3611880"/>
            <a:ext cx="164592" cy="164592"/>
          </a:xfrm>
          <a:prstGeom prst="ellipse">
            <a:avLst/>
          </a:prstGeom>
          <a:solidFill>
            <a:srgbClr val="F2A71B"/>
          </a:solidFill>
          <a:ln/>
        </p:spPr>
      </p:sp>
      <p:sp>
        <p:nvSpPr>
          <p:cNvPr id="28" name="Shape 26"/>
          <p:cNvSpPr/>
          <p:nvPr/>
        </p:nvSpPr>
        <p:spPr>
          <a:xfrm>
            <a:off x="9564624" y="2286000"/>
            <a:ext cx="2011680" cy="2880360"/>
          </a:xfrm>
          <a:prstGeom prst="roundRect">
            <a:avLst>
              <a:gd name="adj" fmla="val 5455"/>
            </a:avLst>
          </a:prstGeom>
          <a:solidFill>
            <a:srgbClr val="0E1F44"/>
          </a:solidFill>
          <a:ln w="12700">
            <a:solidFill>
              <a:srgbClr val="0E1F44"/>
            </a:solidFill>
            <a:prstDash val="solid"/>
          </a:ln>
          <a:effectLst>
            <a:outerShdw sx="100000" sy="100000" kx="0" ky="0" algn="bl" rotWithShape="0" blurRad="127000" dist="25400" dir="5400000">
              <a:srgbClr val="9AA5BD">
                <a:alpha val="25000"/>
              </a:srgbClr>
            </a:outerShdw>
          </a:effectLst>
        </p:spPr>
      </p:sp>
      <p:sp>
        <p:nvSpPr>
          <p:cNvPr id="29" name="Text 27"/>
          <p:cNvSpPr txBox="1"/>
          <p:nvPr/>
        </p:nvSpPr>
        <p:spPr>
          <a:xfrm>
            <a:off x="9820656" y="2487168"/>
            <a:ext cx="1554480" cy="548640"/>
          </a:xfrm>
          <a:prstGeom prst="rect">
            <a:avLst/>
          </a:prstGeom>
          <a:noFill/>
          <a:ln/>
        </p:spPr>
        <p:txBody>
          <a:bodyPr wrap="square" lIns="0" tIns="0" rIns="0" bIns="0" rtlCol="0" anchor="ctr"/>
          <a:lstStyle/>
          <a:p>
            <a:pPr indent="0" marL="0">
              <a:buNone/>
            </a:pPr>
            <a:r>
              <a:rPr lang="en-US" sz="3000" b="1" dirty="0">
                <a:solidFill>
                  <a:srgbClr val="F2A71B"/>
                </a:solidFill>
                <a:latin typeface="Arial" pitchFamily="34" charset="0"/>
                <a:ea typeface="Arial" pitchFamily="34" charset="-122"/>
                <a:cs typeface="Arial" pitchFamily="34" charset="-120"/>
              </a:rPr>
              <a:t>05</a:t>
            </a:r>
            <a:endParaRPr lang="en-US" sz="3000" dirty="0"/>
          </a:p>
        </p:txBody>
      </p:sp>
      <p:sp>
        <p:nvSpPr>
          <p:cNvPr id="30" name="Text 28"/>
          <p:cNvSpPr txBox="1"/>
          <p:nvPr/>
        </p:nvSpPr>
        <p:spPr>
          <a:xfrm>
            <a:off x="9820656" y="3108960"/>
            <a:ext cx="1554480" cy="4114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Test</a:t>
            </a:r>
            <a:endParaRPr lang="en-US" sz="1800" dirty="0"/>
          </a:p>
        </p:txBody>
      </p:sp>
      <p:sp>
        <p:nvSpPr>
          <p:cNvPr id="31" name="Text 29"/>
          <p:cNvSpPr txBox="1"/>
          <p:nvPr/>
        </p:nvSpPr>
        <p:spPr>
          <a:xfrm>
            <a:off x="9820656" y="3566160"/>
            <a:ext cx="1554480" cy="1371600"/>
          </a:xfrm>
          <a:prstGeom prst="rect">
            <a:avLst/>
          </a:prstGeom>
          <a:noFill/>
          <a:ln/>
        </p:spPr>
        <p:txBody>
          <a:bodyPr wrap="square" lIns="0" tIns="0" rIns="0" bIns="0" rtlCol="0" anchor="t"/>
          <a:lstStyle/>
          <a:p>
            <a:pPr indent="0" marL="0">
              <a:buNone/>
            </a:pPr>
            <a:r>
              <a:rPr lang="en-US" sz="1300" dirty="0">
                <a:solidFill>
                  <a:srgbClr val="CFD8EC"/>
                </a:solidFill>
                <a:latin typeface="Calibri" pitchFamily="34" charset="0"/>
                <a:ea typeface="Calibri" pitchFamily="34" charset="-122"/>
                <a:cs typeface="Calibri" pitchFamily="34" charset="-120"/>
              </a:rPr>
              <a:t>[ Validation method and users involved ]</a:t>
            </a:r>
            <a:endParaRPr lang="en-US" sz="1300" dirty="0"/>
          </a:p>
        </p:txBody>
      </p:sp>
      <p:sp>
        <p:nvSpPr>
          <p:cNvPr id="32" name="Text 30"/>
          <p:cNvSpPr txBox="1"/>
          <p:nvPr/>
        </p:nvSpPr>
        <p:spPr>
          <a:xfrm>
            <a:off x="640080" y="5440680"/>
            <a:ext cx="10881360" cy="457200"/>
          </a:xfrm>
          <a:prstGeom prst="rect">
            <a:avLst/>
          </a:prstGeom>
          <a:noFill/>
          <a:ln/>
        </p:spPr>
        <p:txBody>
          <a:bodyPr wrap="square" lIns="0" tIns="0" rIns="0" bIns="0" rtlCol="0" anchor="ctr"/>
          <a:lstStyle/>
          <a:p>
            <a:pPr indent="0" marL="0">
              <a:buNone/>
            </a:pPr>
            <a:r>
              <a:rPr lang="en-US" sz="1500" b="1" dirty="0">
                <a:solidFill>
                  <a:srgbClr val="0E1F44"/>
                </a:solidFill>
                <a:latin typeface="Calibri" pitchFamily="34" charset="0"/>
                <a:ea typeface="Calibri" pitchFamily="34" charset="-122"/>
                <a:cs typeface="Calibri" pitchFamily="34" charset="-120"/>
              </a:rPr>
              <a:t>Tools &amp; stack used: [ languages, frameworks, hardware, datasets, APIs ]</a:t>
            </a:r>
            <a:endParaRPr lang="en-US" sz="1500" dirty="0"/>
          </a:p>
        </p:txBody>
      </p:sp>
      <p:sp>
        <p:nvSpPr>
          <p:cNvPr id="33" name="Text 31"/>
          <p:cNvSpPr txBox="1"/>
          <p:nvPr/>
        </p:nvSpPr>
        <p:spPr>
          <a:xfrm>
            <a:off x="640080" y="6327648"/>
            <a:ext cx="6400800" cy="274320"/>
          </a:xfrm>
          <a:prstGeom prst="rect">
            <a:avLst/>
          </a:prstGeom>
          <a:noFill/>
          <a:ln/>
        </p:spPr>
        <p:txBody>
          <a:bodyPr wrap="square" lIns="0" tIns="0" rIns="0" bIns="0" rtlCol="0" anchor="ctr"/>
          <a:lstStyle/>
          <a:p>
            <a:pPr indent="0" marL="0">
              <a:buNone/>
            </a:pPr>
            <a:r>
              <a:rPr lang="en-US" sz="1000" dirty="0">
                <a:solidFill>
                  <a:srgbClr val="9AA5BD"/>
                </a:solidFill>
                <a:latin typeface="Calibri" pitchFamily="34" charset="0"/>
                <a:ea typeface="Calibri" pitchFamily="34" charset="-122"/>
                <a:cs typeface="Calibri" pitchFamily="34" charset="-120"/>
              </a:rPr>
              <a:t>HACK4AFRICA 2026  |  Africa University</a:t>
            </a:r>
            <a:endParaRPr lang="en-US" sz="1000" dirty="0"/>
          </a:p>
        </p:txBody>
      </p:sp>
      <p:sp>
        <p:nvSpPr>
          <p:cNvPr id="34" name="Text 32"/>
          <p:cNvSpPr txBox="1"/>
          <p:nvPr/>
        </p:nvSpPr>
        <p:spPr>
          <a:xfrm>
            <a:off x="10972800" y="6327648"/>
            <a:ext cx="548640" cy="274320"/>
          </a:xfrm>
          <a:prstGeom prst="rect">
            <a:avLst/>
          </a:prstGeom>
          <a:noFill/>
          <a:ln/>
        </p:spPr>
        <p:txBody>
          <a:bodyPr wrap="square" lIns="0" tIns="0" rIns="0" bIns="0" rtlCol="0" anchor="ctr"/>
          <a:lstStyle/>
          <a:p>
            <a:pPr algn="r" indent="0" marL="0">
              <a:buNone/>
            </a:pPr>
            <a:r>
              <a:rPr lang="en-US" sz="1000" dirty="0">
                <a:solidFill>
                  <a:srgbClr val="9AA5BD"/>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881360" y="-1371600"/>
            <a:ext cx="2926080" cy="2926080"/>
          </a:xfrm>
          <a:prstGeom prst="ellipse">
            <a:avLst/>
          </a:prstGeom>
          <a:solidFill>
            <a:srgbClr val="F3F5FA"/>
          </a:solidFill>
          <a:ln/>
        </p:spPr>
      </p:sp>
      <p:sp>
        <p:nvSpPr>
          <p:cNvPr id="3" name="Shape 1"/>
          <p:cNvSpPr/>
          <p:nvPr/>
        </p:nvSpPr>
        <p:spPr>
          <a:xfrm>
            <a:off x="640080" y="475488"/>
            <a:ext cx="201168" cy="201168"/>
          </a:xfrm>
          <a:prstGeom prst="ellipse">
            <a:avLst/>
          </a:prstGeom>
          <a:solidFill>
            <a:srgbClr val="C8102E"/>
          </a:solidFill>
          <a:ln/>
        </p:spPr>
      </p:sp>
      <p:sp>
        <p:nvSpPr>
          <p:cNvPr id="4" name="Text 2"/>
          <p:cNvSpPr txBox="1"/>
          <p:nvPr/>
        </p:nvSpPr>
        <p:spPr>
          <a:xfrm>
            <a:off x="932688" y="402336"/>
            <a:ext cx="5943600" cy="347472"/>
          </a:xfrm>
          <a:prstGeom prst="rect">
            <a:avLst/>
          </a:prstGeom>
          <a:noFill/>
          <a:ln/>
        </p:spPr>
        <p:txBody>
          <a:bodyPr wrap="square" lIns="0" tIns="0" rIns="0" bIns="0" rtlCol="0" anchor="ctr"/>
          <a:lstStyle/>
          <a:p>
            <a:pPr indent="0" marL="0">
              <a:buNone/>
            </a:pPr>
            <a:r>
              <a:rPr lang="en-US" sz="1300" b="1" spc="200" kern="0" dirty="0">
                <a:solidFill>
                  <a:srgbClr val="C8102E"/>
                </a:solidFill>
                <a:latin typeface="Calibri" pitchFamily="34" charset="0"/>
                <a:ea typeface="Calibri" pitchFamily="34" charset="-122"/>
                <a:cs typeface="Calibri" pitchFamily="34" charset="-120"/>
              </a:rPr>
              <a:t>05 — DESIGN</a:t>
            </a:r>
            <a:endParaRPr lang="en-US" sz="1300" dirty="0"/>
          </a:p>
        </p:txBody>
      </p:sp>
      <p:sp>
        <p:nvSpPr>
          <p:cNvPr id="5" name="Text 3"/>
          <p:cNvSpPr txBox="1"/>
          <p:nvPr/>
        </p:nvSpPr>
        <p:spPr>
          <a:xfrm>
            <a:off x="6035040" y="402336"/>
            <a:ext cx="5486400" cy="347472"/>
          </a:xfrm>
          <a:prstGeom prst="rect">
            <a:avLst/>
          </a:prstGeom>
          <a:noFill/>
          <a:ln/>
        </p:spPr>
        <p:txBody>
          <a:bodyPr wrap="square" lIns="0" tIns="0" rIns="0" bIns="0" rtlCol="0" anchor="ctr"/>
          <a:lstStyle/>
          <a:p>
            <a:pPr algn="r" indent="0" marL="0">
              <a:buNone/>
            </a:pPr>
            <a:r>
              <a:rPr lang="en-US" sz="1000" b="1" spc="100" kern="0" dirty="0">
                <a:solidFill>
                  <a:srgbClr val="9AA5BD"/>
                </a:solidFill>
                <a:latin typeface="Calibri" pitchFamily="34" charset="0"/>
                <a:ea typeface="Calibri" pitchFamily="34" charset="-122"/>
                <a:cs typeface="Calibri" pitchFamily="34" charset="-120"/>
              </a:rPr>
              <a:t>JUDGED ON  ·  3. TECHNICAL FEASIBILITY &amp; EXECUTION</a:t>
            </a:r>
            <a:endParaRPr lang="en-US" sz="1000" dirty="0"/>
          </a:p>
        </p:txBody>
      </p:sp>
      <p:sp>
        <p:nvSpPr>
          <p:cNvPr id="6" name="Text 4"/>
          <p:cNvSpPr txBox="1"/>
          <p:nvPr/>
        </p:nvSpPr>
        <p:spPr>
          <a:xfrm>
            <a:off x="640080" y="804672"/>
            <a:ext cx="10881360" cy="777240"/>
          </a:xfrm>
          <a:prstGeom prst="rect">
            <a:avLst/>
          </a:prstGeom>
          <a:noFill/>
          <a:ln/>
        </p:spPr>
        <p:txBody>
          <a:bodyPr wrap="square" lIns="0" tIns="0" rIns="0" bIns="0" rtlCol="0" anchor="ctr"/>
          <a:lstStyle/>
          <a:p>
            <a:pPr indent="0" marL="0">
              <a:buNone/>
            </a:pPr>
            <a:r>
              <a:rPr lang="en-US" sz="3600" b="1" dirty="0">
                <a:solidFill>
                  <a:srgbClr val="0E1F44"/>
                </a:solidFill>
                <a:latin typeface="Arial" pitchFamily="34" charset="0"/>
                <a:ea typeface="Arial" pitchFamily="34" charset="-122"/>
                <a:cs typeface="Arial" pitchFamily="34" charset="-120"/>
              </a:rPr>
              <a:t>Solution architecture &amp; user experience</a:t>
            </a:r>
            <a:endParaRPr lang="en-US" sz="3600" dirty="0"/>
          </a:p>
        </p:txBody>
      </p:sp>
      <p:sp>
        <p:nvSpPr>
          <p:cNvPr id="7" name="Shape 5"/>
          <p:cNvSpPr/>
          <p:nvPr/>
        </p:nvSpPr>
        <p:spPr>
          <a:xfrm>
            <a:off x="640080" y="1874520"/>
            <a:ext cx="6858000" cy="4160520"/>
          </a:xfrm>
          <a:prstGeom prst="roundRect">
            <a:avLst>
              <a:gd name="adj" fmla="val 2637"/>
            </a:avLst>
          </a:prstGeom>
          <a:solidFill>
            <a:srgbClr val="F3F5FA"/>
          </a:solidFill>
          <a:ln w="12700">
            <a:solidFill>
              <a:srgbClr val="F3F5FA"/>
            </a:solidFill>
            <a:prstDash val="solid"/>
          </a:ln>
          <a:effectLst>
            <a:outerShdw sx="100000" sy="100000" kx="0" ky="0" algn="bl" rotWithShape="0" blurRad="127000" dist="25400" dir="5400000">
              <a:srgbClr val="9AA5BD">
                <a:alpha val="25000"/>
              </a:srgbClr>
            </a:outerShdw>
          </a:effectLst>
        </p:spPr>
      </p:sp>
      <p:sp>
        <p:nvSpPr>
          <p:cNvPr id="8" name="Text 6"/>
          <p:cNvSpPr txBox="1"/>
          <p:nvPr/>
        </p:nvSpPr>
        <p:spPr>
          <a:xfrm>
            <a:off x="914400" y="2103120"/>
            <a:ext cx="6309360" cy="274320"/>
          </a:xfrm>
          <a:prstGeom prst="rect">
            <a:avLst/>
          </a:prstGeom>
          <a:noFill/>
          <a:ln/>
        </p:spPr>
        <p:txBody>
          <a:bodyPr wrap="square" lIns="0" tIns="0" rIns="0" bIns="0" rtlCol="0" anchor="ctr"/>
          <a:lstStyle/>
          <a:p>
            <a:pPr indent="0" marL="0">
              <a:buNone/>
            </a:pPr>
            <a:r>
              <a:rPr lang="en-US" sz="1200" b="1" spc="150" kern="0" dirty="0">
                <a:solidFill>
                  <a:srgbClr val="C8102E"/>
                </a:solidFill>
                <a:latin typeface="Calibri" pitchFamily="34" charset="0"/>
                <a:ea typeface="Calibri" pitchFamily="34" charset="-122"/>
                <a:cs typeface="Calibri" pitchFamily="34" charset="-120"/>
              </a:rPr>
              <a:t>SYSTEM ARCHITECTURE</a:t>
            </a:r>
            <a:endParaRPr lang="en-US" sz="1200" dirty="0"/>
          </a:p>
        </p:txBody>
      </p:sp>
      <p:sp>
        <p:nvSpPr>
          <p:cNvPr id="9" name="Shape 7"/>
          <p:cNvSpPr/>
          <p:nvPr/>
        </p:nvSpPr>
        <p:spPr>
          <a:xfrm>
            <a:off x="914400" y="2514600"/>
            <a:ext cx="6309360" cy="914400"/>
          </a:xfrm>
          <a:prstGeom prst="roundRect">
            <a:avLst>
              <a:gd name="adj" fmla="val 10000"/>
            </a:avLst>
          </a:prstGeom>
          <a:solidFill>
            <a:srgbClr val="0E1F44"/>
          </a:solidFill>
          <a:ln/>
        </p:spPr>
      </p:sp>
      <p:sp>
        <p:nvSpPr>
          <p:cNvPr id="10" name="Text 8"/>
          <p:cNvSpPr txBox="1"/>
          <p:nvPr/>
        </p:nvSpPr>
        <p:spPr>
          <a:xfrm>
            <a:off x="1170432" y="2633472"/>
            <a:ext cx="5760720" cy="292608"/>
          </a:xfrm>
          <a:prstGeom prst="rect">
            <a:avLst/>
          </a:prstGeom>
          <a:noFill/>
          <a:ln/>
        </p:spPr>
        <p:txBody>
          <a:bodyPr wrap="square" lIns="0" tIns="0" rIns="0" bIns="0" rtlCol="0" anchor="ctr"/>
          <a:lstStyle/>
          <a:p>
            <a:pPr indent="0" marL="0">
              <a:buNone/>
            </a:pPr>
            <a:r>
              <a:rPr lang="en-US" sz="1200" b="1" spc="150" kern="0" dirty="0">
                <a:solidFill>
                  <a:srgbClr val="F2A71B"/>
                </a:solidFill>
                <a:latin typeface="Calibri" pitchFamily="34" charset="0"/>
                <a:ea typeface="Calibri" pitchFamily="34" charset="-122"/>
                <a:cs typeface="Calibri" pitchFamily="34" charset="-120"/>
              </a:rPr>
              <a:t>USER LAYER</a:t>
            </a:r>
            <a:endParaRPr lang="en-US" sz="1200" dirty="0"/>
          </a:p>
        </p:txBody>
      </p:sp>
      <p:sp>
        <p:nvSpPr>
          <p:cNvPr id="11" name="Text 9"/>
          <p:cNvSpPr txBox="1"/>
          <p:nvPr/>
        </p:nvSpPr>
        <p:spPr>
          <a:xfrm>
            <a:off x="1170432" y="2926080"/>
            <a:ext cx="5760720" cy="384048"/>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 Mobile app / web dashboard / USSD / device ]</a:t>
            </a:r>
            <a:endParaRPr lang="en-US" sz="1500" dirty="0"/>
          </a:p>
        </p:txBody>
      </p:sp>
      <p:sp>
        <p:nvSpPr>
          <p:cNvPr id="12" name="Shape 10"/>
          <p:cNvSpPr/>
          <p:nvPr/>
        </p:nvSpPr>
        <p:spPr>
          <a:xfrm>
            <a:off x="3986784" y="3465576"/>
            <a:ext cx="164592" cy="164592"/>
          </a:xfrm>
          <a:prstGeom prst="ellipse">
            <a:avLst/>
          </a:prstGeom>
          <a:solidFill>
            <a:srgbClr val="C8102E"/>
          </a:solidFill>
          <a:ln/>
        </p:spPr>
      </p:sp>
      <p:sp>
        <p:nvSpPr>
          <p:cNvPr id="13" name="Shape 11"/>
          <p:cNvSpPr/>
          <p:nvPr/>
        </p:nvSpPr>
        <p:spPr>
          <a:xfrm>
            <a:off x="914400" y="3630168"/>
            <a:ext cx="6309360" cy="914400"/>
          </a:xfrm>
          <a:prstGeom prst="roundRect">
            <a:avLst>
              <a:gd name="adj" fmla="val 10000"/>
            </a:avLst>
          </a:prstGeom>
          <a:solidFill>
            <a:srgbClr val="17305E"/>
          </a:solidFill>
          <a:ln/>
        </p:spPr>
      </p:sp>
      <p:sp>
        <p:nvSpPr>
          <p:cNvPr id="14" name="Text 12"/>
          <p:cNvSpPr txBox="1"/>
          <p:nvPr/>
        </p:nvSpPr>
        <p:spPr>
          <a:xfrm>
            <a:off x="1170432" y="3749040"/>
            <a:ext cx="5760720" cy="292608"/>
          </a:xfrm>
          <a:prstGeom prst="rect">
            <a:avLst/>
          </a:prstGeom>
          <a:noFill/>
          <a:ln/>
        </p:spPr>
        <p:txBody>
          <a:bodyPr wrap="square" lIns="0" tIns="0" rIns="0" bIns="0" rtlCol="0" anchor="ctr"/>
          <a:lstStyle/>
          <a:p>
            <a:pPr indent="0" marL="0">
              <a:buNone/>
            </a:pPr>
            <a:r>
              <a:rPr lang="en-US" sz="1200" b="1" spc="150" kern="0" dirty="0">
                <a:solidFill>
                  <a:srgbClr val="F2A71B"/>
                </a:solidFill>
                <a:latin typeface="Calibri" pitchFamily="34" charset="0"/>
                <a:ea typeface="Calibri" pitchFamily="34" charset="-122"/>
                <a:cs typeface="Calibri" pitchFamily="34" charset="-120"/>
              </a:rPr>
              <a:t>LOGIC LAYER</a:t>
            </a:r>
            <a:endParaRPr lang="en-US" sz="1200" dirty="0"/>
          </a:p>
        </p:txBody>
      </p:sp>
      <p:sp>
        <p:nvSpPr>
          <p:cNvPr id="15" name="Text 13"/>
          <p:cNvSpPr txBox="1"/>
          <p:nvPr/>
        </p:nvSpPr>
        <p:spPr>
          <a:xfrm>
            <a:off x="1170432" y="4041648"/>
            <a:ext cx="5760720" cy="384048"/>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 APIs, models, business rules, processing ]</a:t>
            </a:r>
            <a:endParaRPr lang="en-US" sz="1500" dirty="0"/>
          </a:p>
        </p:txBody>
      </p:sp>
      <p:sp>
        <p:nvSpPr>
          <p:cNvPr id="16" name="Shape 14"/>
          <p:cNvSpPr/>
          <p:nvPr/>
        </p:nvSpPr>
        <p:spPr>
          <a:xfrm>
            <a:off x="3986784" y="4581144"/>
            <a:ext cx="164592" cy="164592"/>
          </a:xfrm>
          <a:prstGeom prst="ellipse">
            <a:avLst/>
          </a:prstGeom>
          <a:solidFill>
            <a:srgbClr val="C8102E"/>
          </a:solidFill>
          <a:ln/>
        </p:spPr>
      </p:sp>
      <p:sp>
        <p:nvSpPr>
          <p:cNvPr id="17" name="Shape 15"/>
          <p:cNvSpPr/>
          <p:nvPr/>
        </p:nvSpPr>
        <p:spPr>
          <a:xfrm>
            <a:off x="914400" y="4745736"/>
            <a:ext cx="6309360" cy="914400"/>
          </a:xfrm>
          <a:prstGeom prst="roundRect">
            <a:avLst>
              <a:gd name="adj" fmla="val 10000"/>
            </a:avLst>
          </a:prstGeom>
          <a:solidFill>
            <a:srgbClr val="2E8B8B"/>
          </a:solidFill>
          <a:ln/>
        </p:spPr>
      </p:sp>
      <p:sp>
        <p:nvSpPr>
          <p:cNvPr id="18" name="Text 16"/>
          <p:cNvSpPr txBox="1"/>
          <p:nvPr/>
        </p:nvSpPr>
        <p:spPr>
          <a:xfrm>
            <a:off x="1170432" y="4864608"/>
            <a:ext cx="5760720" cy="292608"/>
          </a:xfrm>
          <a:prstGeom prst="rect">
            <a:avLst/>
          </a:prstGeom>
          <a:noFill/>
          <a:ln/>
        </p:spPr>
        <p:txBody>
          <a:bodyPr wrap="square" lIns="0" tIns="0" rIns="0" bIns="0" rtlCol="0" anchor="ctr"/>
          <a:lstStyle/>
          <a:p>
            <a:pPr indent="0" marL="0">
              <a:buNone/>
            </a:pPr>
            <a:r>
              <a:rPr lang="en-US" sz="1200" b="1" spc="150" kern="0" dirty="0">
                <a:solidFill>
                  <a:srgbClr val="FFFFFF"/>
                </a:solidFill>
                <a:latin typeface="Calibri" pitchFamily="34" charset="0"/>
                <a:ea typeface="Calibri" pitchFamily="34" charset="-122"/>
                <a:cs typeface="Calibri" pitchFamily="34" charset="-120"/>
              </a:rPr>
              <a:t>DATA LAYER</a:t>
            </a:r>
            <a:endParaRPr lang="en-US" sz="1200" dirty="0"/>
          </a:p>
        </p:txBody>
      </p:sp>
      <p:sp>
        <p:nvSpPr>
          <p:cNvPr id="19" name="Text 17"/>
          <p:cNvSpPr txBox="1"/>
          <p:nvPr/>
        </p:nvSpPr>
        <p:spPr>
          <a:xfrm>
            <a:off x="1170432" y="5157216"/>
            <a:ext cx="5760720" cy="384048"/>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 Database, sensors, external data sources ]</a:t>
            </a:r>
            <a:endParaRPr lang="en-US" sz="1500" dirty="0"/>
          </a:p>
        </p:txBody>
      </p:sp>
      <p:sp>
        <p:nvSpPr>
          <p:cNvPr id="20" name="Shape 18"/>
          <p:cNvSpPr/>
          <p:nvPr/>
        </p:nvSpPr>
        <p:spPr>
          <a:xfrm>
            <a:off x="7772400" y="1874520"/>
            <a:ext cx="3749040" cy="2606040"/>
          </a:xfrm>
          <a:prstGeom prst="roundRect">
            <a:avLst>
              <a:gd name="adj" fmla="val 4211"/>
            </a:avLst>
          </a:prstGeom>
          <a:solidFill>
            <a:srgbClr val="F3F5FA"/>
          </a:solidFill>
          <a:ln w="12700">
            <a:solidFill>
              <a:srgbClr val="F3F5FA"/>
            </a:solidFill>
            <a:prstDash val="solid"/>
          </a:ln>
          <a:effectLst>
            <a:outerShdw sx="100000" sy="100000" kx="0" ky="0" algn="bl" rotWithShape="0" blurRad="127000" dist="25400" dir="5400000">
              <a:srgbClr val="9AA5BD">
                <a:alpha val="25000"/>
              </a:srgbClr>
            </a:outerShdw>
          </a:effectLst>
        </p:spPr>
      </p:sp>
      <p:sp>
        <p:nvSpPr>
          <p:cNvPr id="21" name="Text 19"/>
          <p:cNvSpPr txBox="1"/>
          <p:nvPr/>
        </p:nvSpPr>
        <p:spPr>
          <a:xfrm>
            <a:off x="8046720" y="2084832"/>
            <a:ext cx="3200400" cy="274320"/>
          </a:xfrm>
          <a:prstGeom prst="rect">
            <a:avLst/>
          </a:prstGeom>
          <a:noFill/>
          <a:ln/>
        </p:spPr>
        <p:txBody>
          <a:bodyPr wrap="square" lIns="0" tIns="0" rIns="0" bIns="0" rtlCol="0" anchor="ctr"/>
          <a:lstStyle/>
          <a:p>
            <a:pPr indent="0" marL="0">
              <a:buNone/>
            </a:pPr>
            <a:r>
              <a:rPr lang="en-US" sz="1200" b="1" spc="150" kern="0" dirty="0">
                <a:solidFill>
                  <a:srgbClr val="C8102E"/>
                </a:solidFill>
                <a:latin typeface="Calibri" pitchFamily="34" charset="0"/>
                <a:ea typeface="Calibri" pitchFamily="34" charset="-122"/>
                <a:cs typeface="Calibri" pitchFamily="34" charset="-120"/>
              </a:rPr>
              <a:t>SCREENS / PROTOTYPE</a:t>
            </a:r>
            <a:endParaRPr lang="en-US" sz="1200" dirty="0"/>
          </a:p>
        </p:txBody>
      </p:sp>
      <p:sp>
        <p:nvSpPr>
          <p:cNvPr id="22" name="Shape 20"/>
          <p:cNvSpPr/>
          <p:nvPr/>
        </p:nvSpPr>
        <p:spPr>
          <a:xfrm>
            <a:off x="8046720" y="2423160"/>
            <a:ext cx="3200400" cy="1874520"/>
          </a:xfrm>
          <a:prstGeom prst="roundRect">
            <a:avLst>
              <a:gd name="adj" fmla="val 4878"/>
            </a:avLst>
          </a:prstGeom>
          <a:solidFill>
            <a:srgbClr val="E2E7F2"/>
          </a:solidFill>
          <a:ln w="12700">
            <a:solidFill>
              <a:srgbClr val="C6D0E4"/>
            </a:solidFill>
            <a:prstDash val="dash"/>
          </a:ln>
        </p:spPr>
      </p:sp>
      <p:sp>
        <p:nvSpPr>
          <p:cNvPr id="23" name="Text 21"/>
          <p:cNvSpPr txBox="1"/>
          <p:nvPr/>
        </p:nvSpPr>
        <p:spPr>
          <a:xfrm>
            <a:off x="8138160" y="2423160"/>
            <a:ext cx="3017520" cy="1874520"/>
          </a:xfrm>
          <a:prstGeom prst="rect">
            <a:avLst/>
          </a:prstGeom>
          <a:noFill/>
          <a:ln/>
        </p:spPr>
        <p:txBody>
          <a:bodyPr wrap="square" lIns="0" tIns="0" rIns="0" bIns="0" rtlCol="0" anchor="ctr"/>
          <a:lstStyle/>
          <a:p>
            <a:pPr algn="ctr" indent="0" marL="0">
              <a:buNone/>
            </a:pPr>
            <a:r>
              <a:rPr lang="en-US" sz="1300" i="1" dirty="0">
                <a:solidFill>
                  <a:srgbClr val="5B6780"/>
                </a:solidFill>
                <a:latin typeface="Calibri" pitchFamily="34" charset="0"/>
                <a:ea typeface="Calibri" pitchFamily="34" charset="-122"/>
                <a:cs typeface="Calibri" pitchFamily="34" charset="-120"/>
              </a:rPr>
              <a:t>[ Drop your UI screenshot,</a:t>
            </a:r>
            <a:endParaRPr lang="en-US" sz="1300" dirty="0"/>
          </a:p>
          <a:p>
            <a:pPr algn="ctr" indent="0" marL="0">
              <a:buNone/>
            </a:pPr>
            <a:r>
              <a:rPr lang="en-US" sz="1300" i="1" dirty="0">
                <a:solidFill>
                  <a:srgbClr val="5B6780"/>
                </a:solidFill>
                <a:latin typeface="Calibri" pitchFamily="34" charset="0"/>
                <a:ea typeface="Calibri" pitchFamily="34" charset="-122"/>
                <a:cs typeface="Calibri" pitchFamily="34" charset="-120"/>
              </a:rPr>
              <a:t>wireframe, or CAD render here ]</a:t>
            </a:r>
            <a:endParaRPr lang="en-US" sz="1300" dirty="0"/>
          </a:p>
        </p:txBody>
      </p:sp>
      <p:sp>
        <p:nvSpPr>
          <p:cNvPr id="24" name="Shape 22"/>
          <p:cNvSpPr/>
          <p:nvPr/>
        </p:nvSpPr>
        <p:spPr>
          <a:xfrm>
            <a:off x="7772400" y="4663440"/>
            <a:ext cx="3749040" cy="1371600"/>
          </a:xfrm>
          <a:prstGeom prst="roundRect">
            <a:avLst>
              <a:gd name="adj" fmla="val 8000"/>
            </a:avLst>
          </a:prstGeom>
          <a:solidFill>
            <a:srgbClr val="0E1F44"/>
          </a:solidFill>
          <a:ln w="12700">
            <a:solidFill>
              <a:srgbClr val="0E1F44"/>
            </a:solidFill>
            <a:prstDash val="solid"/>
          </a:ln>
          <a:effectLst>
            <a:outerShdw sx="100000" sy="100000" kx="0" ky="0" algn="bl" rotWithShape="0" blurRad="127000" dist="25400" dir="5400000">
              <a:srgbClr val="9AA5BD">
                <a:alpha val="25000"/>
              </a:srgbClr>
            </a:outerShdw>
          </a:effectLst>
        </p:spPr>
      </p:sp>
      <p:sp>
        <p:nvSpPr>
          <p:cNvPr id="25" name="Text 23"/>
          <p:cNvSpPr txBox="1"/>
          <p:nvPr/>
        </p:nvSpPr>
        <p:spPr>
          <a:xfrm>
            <a:off x="8046720" y="4828032"/>
            <a:ext cx="3200400" cy="274320"/>
          </a:xfrm>
          <a:prstGeom prst="rect">
            <a:avLst/>
          </a:prstGeom>
          <a:noFill/>
          <a:ln/>
        </p:spPr>
        <p:txBody>
          <a:bodyPr wrap="square" lIns="0" tIns="0" rIns="0" bIns="0" rtlCol="0" anchor="ctr"/>
          <a:lstStyle/>
          <a:p>
            <a:pPr indent="0" marL="0">
              <a:buNone/>
            </a:pPr>
            <a:r>
              <a:rPr lang="en-US" sz="1100" b="1" spc="150" kern="0" dirty="0">
                <a:solidFill>
                  <a:srgbClr val="F2A71B"/>
                </a:solidFill>
                <a:latin typeface="Calibri" pitchFamily="34" charset="0"/>
                <a:ea typeface="Calibri" pitchFamily="34" charset="-122"/>
                <a:cs typeface="Calibri" pitchFamily="34" charset="-120"/>
              </a:rPr>
              <a:t>KEY DESIGN DECISIONS</a:t>
            </a:r>
            <a:endParaRPr lang="en-US" sz="1100" dirty="0"/>
          </a:p>
        </p:txBody>
      </p:sp>
      <p:sp>
        <p:nvSpPr>
          <p:cNvPr id="26" name="Text 24"/>
          <p:cNvSpPr txBox="1"/>
          <p:nvPr/>
        </p:nvSpPr>
        <p:spPr>
          <a:xfrm>
            <a:off x="8183880" y="5120640"/>
            <a:ext cx="3108960" cy="77724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 Why this stack / offline-first / low-cost hardware ]</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 Accessibility or language choice ]</a:t>
            </a:r>
            <a:endParaRPr lang="en-US" sz="1200" dirty="0"/>
          </a:p>
        </p:txBody>
      </p:sp>
      <p:sp>
        <p:nvSpPr>
          <p:cNvPr id="27" name="Text 25"/>
          <p:cNvSpPr txBox="1"/>
          <p:nvPr/>
        </p:nvSpPr>
        <p:spPr>
          <a:xfrm>
            <a:off x="640080" y="6327648"/>
            <a:ext cx="6400800" cy="274320"/>
          </a:xfrm>
          <a:prstGeom prst="rect">
            <a:avLst/>
          </a:prstGeom>
          <a:noFill/>
          <a:ln/>
        </p:spPr>
        <p:txBody>
          <a:bodyPr wrap="square" lIns="0" tIns="0" rIns="0" bIns="0" rtlCol="0" anchor="ctr"/>
          <a:lstStyle/>
          <a:p>
            <a:pPr indent="0" marL="0">
              <a:buNone/>
            </a:pPr>
            <a:r>
              <a:rPr lang="en-US" sz="1000" dirty="0">
                <a:solidFill>
                  <a:srgbClr val="9AA5BD"/>
                </a:solidFill>
                <a:latin typeface="Calibri" pitchFamily="34" charset="0"/>
                <a:ea typeface="Calibri" pitchFamily="34" charset="-122"/>
                <a:cs typeface="Calibri" pitchFamily="34" charset="-120"/>
              </a:rPr>
              <a:t>HACK4AFRICA 2026  |  Africa University</a:t>
            </a:r>
            <a:endParaRPr lang="en-US" sz="1000" dirty="0"/>
          </a:p>
        </p:txBody>
      </p:sp>
      <p:sp>
        <p:nvSpPr>
          <p:cNvPr id="28" name="Text 26"/>
          <p:cNvSpPr txBox="1"/>
          <p:nvPr/>
        </p:nvSpPr>
        <p:spPr>
          <a:xfrm>
            <a:off x="10972800" y="6327648"/>
            <a:ext cx="548640" cy="274320"/>
          </a:xfrm>
          <a:prstGeom prst="rect">
            <a:avLst/>
          </a:prstGeom>
          <a:noFill/>
          <a:ln/>
        </p:spPr>
        <p:txBody>
          <a:bodyPr wrap="square" lIns="0" tIns="0" rIns="0" bIns="0" rtlCol="0" anchor="ctr"/>
          <a:lstStyle/>
          <a:p>
            <a:pPr algn="r" indent="0" marL="0">
              <a:buNone/>
            </a:pPr>
            <a:r>
              <a:rPr lang="en-US" sz="1000" dirty="0">
                <a:solidFill>
                  <a:srgbClr val="9AA5BD"/>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F44"/>
        </a:solidFill>
      </p:bgPr>
    </p:bg>
    <p:spTree>
      <p:nvGrpSpPr>
        <p:cNvPr id="1" name=""/>
        <p:cNvGrpSpPr/>
        <p:nvPr/>
      </p:nvGrpSpPr>
      <p:grpSpPr>
        <a:xfrm>
          <a:off x="0" y="0"/>
          <a:ext cx="0" cy="0"/>
          <a:chOff x="0" y="0"/>
          <a:chExt cx="0" cy="0"/>
        </a:xfrm>
      </p:grpSpPr>
      <p:sp>
        <p:nvSpPr>
          <p:cNvPr id="2" name="Shape 0"/>
          <p:cNvSpPr/>
          <p:nvPr/>
        </p:nvSpPr>
        <p:spPr>
          <a:xfrm>
            <a:off x="9692640" y="-2011680"/>
            <a:ext cx="4937760" cy="4937760"/>
          </a:xfrm>
          <a:prstGeom prst="ellipse">
            <a:avLst/>
          </a:prstGeom>
          <a:solidFill>
            <a:srgbClr val="17305E"/>
          </a:solidFill>
          <a:ln/>
        </p:spPr>
      </p:sp>
      <p:sp>
        <p:nvSpPr>
          <p:cNvPr id="3" name="Shape 1"/>
          <p:cNvSpPr/>
          <p:nvPr/>
        </p:nvSpPr>
        <p:spPr>
          <a:xfrm>
            <a:off x="-1463040" y="4754880"/>
            <a:ext cx="3474720" cy="3474720"/>
          </a:xfrm>
          <a:prstGeom prst="ellipse">
            <a:avLst/>
          </a:prstGeom>
          <a:solidFill>
            <a:srgbClr val="17305E"/>
          </a:solidFill>
          <a:ln/>
        </p:spPr>
      </p:sp>
      <p:sp>
        <p:nvSpPr>
          <p:cNvPr id="4" name="Shape 2"/>
          <p:cNvSpPr/>
          <p:nvPr/>
        </p:nvSpPr>
        <p:spPr>
          <a:xfrm>
            <a:off x="640080" y="475488"/>
            <a:ext cx="201168" cy="201168"/>
          </a:xfrm>
          <a:prstGeom prst="ellipse">
            <a:avLst/>
          </a:prstGeom>
          <a:solidFill>
            <a:srgbClr val="F2A71B"/>
          </a:solidFill>
          <a:ln/>
        </p:spPr>
      </p:sp>
      <p:sp>
        <p:nvSpPr>
          <p:cNvPr id="5" name="Text 3"/>
          <p:cNvSpPr txBox="1"/>
          <p:nvPr/>
        </p:nvSpPr>
        <p:spPr>
          <a:xfrm>
            <a:off x="932688" y="402336"/>
            <a:ext cx="5943600" cy="347472"/>
          </a:xfrm>
          <a:prstGeom prst="rect">
            <a:avLst/>
          </a:prstGeom>
          <a:noFill/>
          <a:ln/>
        </p:spPr>
        <p:txBody>
          <a:bodyPr wrap="square" lIns="0" tIns="0" rIns="0" bIns="0" rtlCol="0" anchor="ctr"/>
          <a:lstStyle/>
          <a:p>
            <a:pPr indent="0" marL="0">
              <a:buNone/>
            </a:pPr>
            <a:r>
              <a:rPr lang="en-US" sz="1300" b="1" spc="200" kern="0" dirty="0">
                <a:solidFill>
                  <a:srgbClr val="F2A71B"/>
                </a:solidFill>
                <a:latin typeface="Calibri" pitchFamily="34" charset="0"/>
                <a:ea typeface="Calibri" pitchFamily="34" charset="-122"/>
                <a:cs typeface="Calibri" pitchFamily="34" charset="-120"/>
              </a:rPr>
              <a:t>06 — ORIGINALITY</a:t>
            </a:r>
            <a:endParaRPr lang="en-US" sz="1300" dirty="0"/>
          </a:p>
        </p:txBody>
      </p:sp>
      <p:sp>
        <p:nvSpPr>
          <p:cNvPr id="6" name="Text 4"/>
          <p:cNvSpPr txBox="1"/>
          <p:nvPr/>
        </p:nvSpPr>
        <p:spPr>
          <a:xfrm>
            <a:off x="6035040" y="402336"/>
            <a:ext cx="5486400" cy="347472"/>
          </a:xfrm>
          <a:prstGeom prst="rect">
            <a:avLst/>
          </a:prstGeom>
          <a:noFill/>
          <a:ln/>
        </p:spPr>
        <p:txBody>
          <a:bodyPr wrap="square" lIns="0" tIns="0" rIns="0" bIns="0" rtlCol="0" anchor="ctr"/>
          <a:lstStyle/>
          <a:p>
            <a:pPr algn="r" indent="0" marL="0">
              <a:buNone/>
            </a:pPr>
            <a:r>
              <a:rPr lang="en-US" sz="1000" b="1" spc="100" kern="0" dirty="0">
                <a:solidFill>
                  <a:srgbClr val="8FA0C4"/>
                </a:solidFill>
                <a:latin typeface="Calibri" pitchFamily="34" charset="0"/>
                <a:ea typeface="Calibri" pitchFamily="34" charset="-122"/>
                <a:cs typeface="Calibri" pitchFamily="34" charset="-120"/>
              </a:rPr>
              <a:t>JUDGED ON  ·  2. ORIGINALITY &amp; INNOVATION</a:t>
            </a:r>
            <a:endParaRPr lang="en-US" sz="1000" dirty="0"/>
          </a:p>
        </p:txBody>
      </p:sp>
      <p:sp>
        <p:nvSpPr>
          <p:cNvPr id="7" name="Text 5"/>
          <p:cNvSpPr txBox="1"/>
          <p:nvPr/>
        </p:nvSpPr>
        <p:spPr>
          <a:xfrm>
            <a:off x="640080" y="804672"/>
            <a:ext cx="10881360" cy="77724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What makes this different</a:t>
            </a:r>
            <a:endParaRPr lang="en-US" sz="3600" dirty="0"/>
          </a:p>
        </p:txBody>
      </p:sp>
      <p:sp>
        <p:nvSpPr>
          <p:cNvPr id="8" name="Text 6"/>
          <p:cNvSpPr txBox="1"/>
          <p:nvPr/>
        </p:nvSpPr>
        <p:spPr>
          <a:xfrm>
            <a:off x="640080" y="1627632"/>
            <a:ext cx="10881360" cy="457200"/>
          </a:xfrm>
          <a:prstGeom prst="rect">
            <a:avLst/>
          </a:prstGeom>
          <a:noFill/>
          <a:ln/>
        </p:spPr>
        <p:txBody>
          <a:bodyPr wrap="square" lIns="0" tIns="0" rIns="0" bIns="0" rtlCol="0" anchor="ctr"/>
          <a:lstStyle/>
          <a:p>
            <a:pPr indent="0" marL="0">
              <a:buNone/>
            </a:pPr>
            <a:r>
              <a:rPr lang="en-US" sz="1800" i="1" dirty="0">
                <a:solidFill>
                  <a:srgbClr val="F2A71B"/>
                </a:solidFill>
                <a:latin typeface="Calibri" pitchFamily="34" charset="0"/>
                <a:ea typeface="Calibri" pitchFamily="34" charset="-122"/>
                <a:cs typeface="Calibri" pitchFamily="34" charset="-120"/>
              </a:rPr>
              <a:t>[ One sentence naming the single thing nobody else is doing. ]</a:t>
            </a:r>
            <a:endParaRPr lang="en-US" sz="1800" dirty="0"/>
          </a:p>
        </p:txBody>
      </p:sp>
      <p:sp>
        <p:nvSpPr>
          <p:cNvPr id="9" name="Shape 7"/>
          <p:cNvSpPr/>
          <p:nvPr/>
        </p:nvSpPr>
        <p:spPr>
          <a:xfrm>
            <a:off x="640080" y="2240280"/>
            <a:ext cx="5303520" cy="1965960"/>
          </a:xfrm>
          <a:prstGeom prst="roundRect">
            <a:avLst>
              <a:gd name="adj" fmla="val 5581"/>
            </a:avLst>
          </a:prstGeom>
          <a:solidFill>
            <a:srgbClr val="17305E"/>
          </a:solidFill>
          <a:ln w="12700">
            <a:solidFill>
              <a:srgbClr val="17305E"/>
            </a:solidFill>
            <a:prstDash val="solid"/>
          </a:ln>
          <a:effectLst>
            <a:outerShdw sx="100000" sy="100000" kx="0" ky="0" algn="bl" rotWithShape="0" blurRad="127000" dist="25400" dir="5400000">
              <a:srgbClr val="9AA5BD">
                <a:alpha val="25000"/>
              </a:srgbClr>
            </a:outerShdw>
          </a:effectLst>
        </p:spPr>
      </p:sp>
      <p:sp>
        <p:nvSpPr>
          <p:cNvPr id="10" name="Text 8"/>
          <p:cNvSpPr txBox="1"/>
          <p:nvPr/>
        </p:nvSpPr>
        <p:spPr>
          <a:xfrm>
            <a:off x="960120" y="2450592"/>
            <a:ext cx="4663440" cy="274320"/>
          </a:xfrm>
          <a:prstGeom prst="rect">
            <a:avLst/>
          </a:prstGeom>
          <a:noFill/>
          <a:ln/>
        </p:spPr>
        <p:txBody>
          <a:bodyPr wrap="square" lIns="0" tIns="0" rIns="0" bIns="0" rtlCol="0" anchor="ctr"/>
          <a:lstStyle/>
          <a:p>
            <a:pPr indent="0" marL="0">
              <a:buNone/>
            </a:pPr>
            <a:r>
              <a:rPr lang="en-US" sz="1100" b="1" spc="150" kern="0" dirty="0">
                <a:solidFill>
                  <a:srgbClr val="AEB9D2"/>
                </a:solidFill>
                <a:latin typeface="Calibri" pitchFamily="34" charset="0"/>
                <a:ea typeface="Calibri" pitchFamily="34" charset="-122"/>
                <a:cs typeface="Calibri" pitchFamily="34" charset="-120"/>
              </a:rPr>
              <a:t>THE USUAL APPROACH</a:t>
            </a:r>
            <a:endParaRPr lang="en-US" sz="1100" dirty="0"/>
          </a:p>
        </p:txBody>
      </p:sp>
      <p:sp>
        <p:nvSpPr>
          <p:cNvPr id="11" name="Text 9"/>
          <p:cNvSpPr txBox="1"/>
          <p:nvPr/>
        </p:nvSpPr>
        <p:spPr>
          <a:xfrm>
            <a:off x="1097280" y="2788920"/>
            <a:ext cx="4526280" cy="1234440"/>
          </a:xfrm>
          <a:prstGeom prst="rect">
            <a:avLst/>
          </a:prstGeom>
          <a:noFill/>
          <a:ln/>
        </p:spPr>
        <p:txBody>
          <a:bodyPr wrap="square" lIns="0" tIns="0" rIns="0" bIns="0" rtlCol="0" anchor="ctr"/>
          <a:lstStyle/>
          <a:p>
            <a:pPr marL="342900" indent="-342900">
              <a:spcAft>
                <a:spcPts val="600"/>
              </a:spcAft>
              <a:buSzPct val="100000"/>
              <a:buChar char="•"/>
            </a:pPr>
            <a:r>
              <a:rPr lang="en-US" sz="1400" dirty="0">
                <a:solidFill>
                  <a:srgbClr val="CFD8EC"/>
                </a:solidFill>
                <a:latin typeface="Calibri" pitchFamily="34" charset="0"/>
                <a:ea typeface="Calibri" pitchFamily="34" charset="-122"/>
                <a:cs typeface="Calibri" pitchFamily="34" charset="-120"/>
              </a:rPr>
              <a:t>[ How the problem is handled today ]</a:t>
            </a:r>
            <a:endParaRPr lang="en-US" sz="1400" dirty="0"/>
          </a:p>
          <a:p>
            <a:pPr marL="342900" indent="-342900">
              <a:spcAft>
                <a:spcPts val="600"/>
              </a:spcAft>
              <a:buSzPct val="100000"/>
              <a:buChar char="•"/>
            </a:pPr>
            <a:r>
              <a:rPr lang="en-US" sz="1400" dirty="0">
                <a:solidFill>
                  <a:srgbClr val="CFD8EC"/>
                </a:solidFill>
                <a:latin typeface="Calibri" pitchFamily="34" charset="0"/>
                <a:ea typeface="Calibri" pitchFamily="34" charset="-122"/>
                <a:cs typeface="Calibri" pitchFamily="34" charset="-120"/>
              </a:rPr>
              <a:t>[ What that costs in time or money ]</a:t>
            </a:r>
            <a:endParaRPr lang="en-US" sz="1400" dirty="0"/>
          </a:p>
          <a:p>
            <a:pPr marL="342900" indent="-342900">
              <a:buSzPct val="100000"/>
              <a:buChar char="•"/>
            </a:pPr>
            <a:r>
              <a:rPr lang="en-US" sz="1400" dirty="0">
                <a:solidFill>
                  <a:srgbClr val="CFD8EC"/>
                </a:solidFill>
                <a:latin typeface="Calibri" pitchFamily="34" charset="0"/>
                <a:ea typeface="Calibri" pitchFamily="34" charset="-122"/>
                <a:cs typeface="Calibri" pitchFamily="34" charset="-120"/>
              </a:rPr>
              <a:t>[ Who it leaves out ]</a:t>
            </a:r>
            <a:endParaRPr lang="en-US" sz="1400" dirty="0"/>
          </a:p>
        </p:txBody>
      </p:sp>
      <p:sp>
        <p:nvSpPr>
          <p:cNvPr id="12" name="Shape 10"/>
          <p:cNvSpPr/>
          <p:nvPr/>
        </p:nvSpPr>
        <p:spPr>
          <a:xfrm>
            <a:off x="6217920" y="2240280"/>
            <a:ext cx="5303520" cy="1965960"/>
          </a:xfrm>
          <a:prstGeom prst="roundRect">
            <a:avLst>
              <a:gd name="adj" fmla="val 5581"/>
            </a:avLst>
          </a:prstGeom>
          <a:solidFill>
            <a:srgbClr val="C8102E"/>
          </a:solidFill>
          <a:ln w="12700">
            <a:solidFill>
              <a:srgbClr val="C8102E"/>
            </a:solidFill>
            <a:prstDash val="solid"/>
          </a:ln>
          <a:effectLst>
            <a:outerShdw sx="100000" sy="100000" kx="0" ky="0" algn="bl" rotWithShape="0" blurRad="127000" dist="25400" dir="5400000">
              <a:srgbClr val="9AA5BD">
                <a:alpha val="25000"/>
              </a:srgbClr>
            </a:outerShdw>
          </a:effectLst>
        </p:spPr>
      </p:sp>
      <p:sp>
        <p:nvSpPr>
          <p:cNvPr id="13" name="Text 11"/>
          <p:cNvSpPr txBox="1"/>
          <p:nvPr/>
        </p:nvSpPr>
        <p:spPr>
          <a:xfrm>
            <a:off x="6537960" y="2450592"/>
            <a:ext cx="4663440" cy="274320"/>
          </a:xfrm>
          <a:prstGeom prst="rect">
            <a:avLst/>
          </a:prstGeom>
          <a:noFill/>
          <a:ln/>
        </p:spPr>
        <p:txBody>
          <a:bodyPr wrap="square" lIns="0" tIns="0" rIns="0" bIns="0" rtlCol="0" anchor="ctr"/>
          <a:lstStyle/>
          <a:p>
            <a:pPr indent="0" marL="0">
              <a:buNone/>
            </a:pPr>
            <a:r>
              <a:rPr lang="en-US" sz="1100" b="1" spc="150" kern="0" dirty="0">
                <a:solidFill>
                  <a:srgbClr val="FFD9DE"/>
                </a:solidFill>
                <a:latin typeface="Calibri" pitchFamily="34" charset="0"/>
                <a:ea typeface="Calibri" pitchFamily="34" charset="-122"/>
                <a:cs typeface="Calibri" pitchFamily="34" charset="-120"/>
              </a:rPr>
              <a:t>OUR APPROACH</a:t>
            </a:r>
            <a:endParaRPr lang="en-US" sz="1100" dirty="0"/>
          </a:p>
        </p:txBody>
      </p:sp>
      <p:sp>
        <p:nvSpPr>
          <p:cNvPr id="14" name="Text 12"/>
          <p:cNvSpPr txBox="1"/>
          <p:nvPr/>
        </p:nvSpPr>
        <p:spPr>
          <a:xfrm>
            <a:off x="6675120" y="2788920"/>
            <a:ext cx="4526280" cy="1234440"/>
          </a:xfrm>
          <a:prstGeom prst="rect">
            <a:avLst/>
          </a:prstGeom>
          <a:noFill/>
          <a:ln/>
        </p:spPr>
        <p:txBody>
          <a:bodyPr wrap="square" lIns="0" tIns="0" rIns="0" bIns="0" rtlCol="0" anchor="ctr"/>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 The change you introduce ]</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 The gain it produces — be numeric ]</a:t>
            </a:r>
            <a:endParaRPr lang="en-US" sz="1400" dirty="0"/>
          </a:p>
          <a:p>
            <a:pPr marL="342900" indent="-342900">
              <a:buSzPct val="100000"/>
              <a:buChar char="•"/>
            </a:pPr>
            <a:r>
              <a:rPr lang="en-US" sz="1400" dirty="0">
                <a:solidFill>
                  <a:srgbClr val="FFFFFF"/>
                </a:solidFill>
                <a:latin typeface="Calibri" pitchFamily="34" charset="0"/>
                <a:ea typeface="Calibri" pitchFamily="34" charset="-122"/>
                <a:cs typeface="Calibri" pitchFamily="34" charset="-120"/>
              </a:rPr>
              <a:t>[ Who it now reaches ]</a:t>
            </a:r>
            <a:endParaRPr lang="en-US" sz="1400" dirty="0"/>
          </a:p>
        </p:txBody>
      </p:sp>
      <p:sp>
        <p:nvSpPr>
          <p:cNvPr id="15" name="Text 13"/>
          <p:cNvSpPr txBox="1"/>
          <p:nvPr/>
        </p:nvSpPr>
        <p:spPr>
          <a:xfrm>
            <a:off x="640080" y="4434840"/>
            <a:ext cx="7315200" cy="320040"/>
          </a:xfrm>
          <a:prstGeom prst="rect">
            <a:avLst/>
          </a:prstGeom>
          <a:noFill/>
          <a:ln/>
        </p:spPr>
        <p:txBody>
          <a:bodyPr wrap="square" lIns="0" tIns="0" rIns="0" bIns="0" rtlCol="0" anchor="ctr"/>
          <a:lstStyle/>
          <a:p>
            <a:pPr indent="0" marL="0">
              <a:buNone/>
            </a:pPr>
            <a:r>
              <a:rPr lang="en-US" sz="1200" b="1" spc="150" kern="0" dirty="0">
                <a:solidFill>
                  <a:srgbClr val="F2A71B"/>
                </a:solidFill>
                <a:latin typeface="Calibri" pitchFamily="34" charset="0"/>
                <a:ea typeface="Calibri" pitchFamily="34" charset="-122"/>
                <a:cs typeface="Calibri" pitchFamily="34" charset="-120"/>
              </a:rPr>
              <a:t>OUR INNOVATION EDGE</a:t>
            </a:r>
            <a:endParaRPr lang="en-US" sz="1200" dirty="0"/>
          </a:p>
        </p:txBody>
      </p:sp>
      <p:sp>
        <p:nvSpPr>
          <p:cNvPr id="16" name="Shape 14"/>
          <p:cNvSpPr/>
          <p:nvPr/>
        </p:nvSpPr>
        <p:spPr>
          <a:xfrm>
            <a:off x="640080" y="4846320"/>
            <a:ext cx="3429000" cy="1188720"/>
          </a:xfrm>
          <a:prstGeom prst="roundRect">
            <a:avLst>
              <a:gd name="adj" fmla="val 9231"/>
            </a:avLst>
          </a:prstGeom>
          <a:solidFill>
            <a:srgbClr val="17305E"/>
          </a:solidFill>
          <a:ln w="12700">
            <a:solidFill>
              <a:srgbClr val="17305E"/>
            </a:solidFill>
            <a:prstDash val="solid"/>
          </a:ln>
          <a:effectLst>
            <a:outerShdw sx="100000" sy="100000" kx="0" ky="0" algn="bl" rotWithShape="0" blurRad="127000" dist="25400" dir="5400000">
              <a:srgbClr val="9AA5BD">
                <a:alpha val="25000"/>
              </a:srgbClr>
            </a:outerShdw>
          </a:effectLst>
        </p:spPr>
      </p:sp>
      <p:sp>
        <p:nvSpPr>
          <p:cNvPr id="17" name="Shape 15"/>
          <p:cNvSpPr/>
          <p:nvPr/>
        </p:nvSpPr>
        <p:spPr>
          <a:xfrm>
            <a:off x="896112" y="5029200"/>
            <a:ext cx="402336" cy="402336"/>
          </a:xfrm>
          <a:prstGeom prst="ellipse">
            <a:avLst/>
          </a:prstGeom>
          <a:solidFill>
            <a:srgbClr val="F2A71B"/>
          </a:solidFill>
          <a:ln/>
        </p:spPr>
      </p:sp>
      <p:sp>
        <p:nvSpPr>
          <p:cNvPr id="18" name="Text 16"/>
          <p:cNvSpPr txBox="1"/>
          <p:nvPr/>
        </p:nvSpPr>
        <p:spPr>
          <a:xfrm>
            <a:off x="896112" y="502920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9" name="Text 17"/>
          <p:cNvSpPr txBox="1"/>
          <p:nvPr/>
        </p:nvSpPr>
        <p:spPr>
          <a:xfrm>
            <a:off x="1417320" y="4983480"/>
            <a:ext cx="2514600" cy="3200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Novel use of technology</a:t>
            </a:r>
            <a:endParaRPr lang="en-US" sz="1500" dirty="0"/>
          </a:p>
        </p:txBody>
      </p:sp>
      <p:sp>
        <p:nvSpPr>
          <p:cNvPr id="20" name="Text 18"/>
          <p:cNvSpPr txBox="1"/>
          <p:nvPr/>
        </p:nvSpPr>
        <p:spPr>
          <a:xfrm>
            <a:off x="1417320" y="5303520"/>
            <a:ext cx="2514600" cy="640080"/>
          </a:xfrm>
          <a:prstGeom prst="rect">
            <a:avLst/>
          </a:prstGeom>
          <a:noFill/>
          <a:ln/>
        </p:spPr>
        <p:txBody>
          <a:bodyPr wrap="square" lIns="0" tIns="0" rIns="0" bIns="0" rtlCol="0" anchor="t"/>
          <a:lstStyle/>
          <a:p>
            <a:pPr indent="0" marL="0">
              <a:buNone/>
            </a:pPr>
            <a:r>
              <a:rPr lang="en-US" sz="1200" dirty="0">
                <a:solidFill>
                  <a:srgbClr val="CFD8EC"/>
                </a:solidFill>
                <a:latin typeface="Calibri" pitchFamily="34" charset="0"/>
                <a:ea typeface="Calibri" pitchFamily="34" charset="-122"/>
                <a:cs typeface="Calibri" pitchFamily="34" charset="-120"/>
              </a:rPr>
              <a:t>[ The technique, model, or material others have not applied here ]</a:t>
            </a:r>
            <a:endParaRPr lang="en-US" sz="1200" dirty="0"/>
          </a:p>
        </p:txBody>
      </p:sp>
      <p:sp>
        <p:nvSpPr>
          <p:cNvPr id="21" name="Shape 19"/>
          <p:cNvSpPr/>
          <p:nvPr/>
        </p:nvSpPr>
        <p:spPr>
          <a:xfrm>
            <a:off x="4343400" y="4846320"/>
            <a:ext cx="3429000" cy="1188720"/>
          </a:xfrm>
          <a:prstGeom prst="roundRect">
            <a:avLst>
              <a:gd name="adj" fmla="val 9231"/>
            </a:avLst>
          </a:prstGeom>
          <a:solidFill>
            <a:srgbClr val="17305E"/>
          </a:solidFill>
          <a:ln w="12700">
            <a:solidFill>
              <a:srgbClr val="17305E"/>
            </a:solidFill>
            <a:prstDash val="solid"/>
          </a:ln>
          <a:effectLst>
            <a:outerShdw sx="100000" sy="100000" kx="0" ky="0" algn="bl" rotWithShape="0" blurRad="127000" dist="25400" dir="5400000">
              <a:srgbClr val="9AA5BD">
                <a:alpha val="25000"/>
              </a:srgbClr>
            </a:outerShdw>
          </a:effectLst>
        </p:spPr>
      </p:sp>
      <p:sp>
        <p:nvSpPr>
          <p:cNvPr id="22" name="Shape 20"/>
          <p:cNvSpPr/>
          <p:nvPr/>
        </p:nvSpPr>
        <p:spPr>
          <a:xfrm>
            <a:off x="4599432" y="5029200"/>
            <a:ext cx="402336" cy="402336"/>
          </a:xfrm>
          <a:prstGeom prst="ellipse">
            <a:avLst/>
          </a:prstGeom>
          <a:solidFill>
            <a:srgbClr val="F2A71B"/>
          </a:solidFill>
          <a:ln/>
        </p:spPr>
      </p:sp>
      <p:sp>
        <p:nvSpPr>
          <p:cNvPr id="23" name="Text 21"/>
          <p:cNvSpPr txBox="1"/>
          <p:nvPr/>
        </p:nvSpPr>
        <p:spPr>
          <a:xfrm>
            <a:off x="4599432" y="502920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24" name="Text 22"/>
          <p:cNvSpPr txBox="1"/>
          <p:nvPr/>
        </p:nvSpPr>
        <p:spPr>
          <a:xfrm>
            <a:off x="5120640" y="4983480"/>
            <a:ext cx="2514600" cy="3200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Context-fit design</a:t>
            </a:r>
            <a:endParaRPr lang="en-US" sz="1500" dirty="0"/>
          </a:p>
        </p:txBody>
      </p:sp>
      <p:sp>
        <p:nvSpPr>
          <p:cNvPr id="25" name="Text 23"/>
          <p:cNvSpPr txBox="1"/>
          <p:nvPr/>
        </p:nvSpPr>
        <p:spPr>
          <a:xfrm>
            <a:off x="5120640" y="5303520"/>
            <a:ext cx="2514600" cy="640080"/>
          </a:xfrm>
          <a:prstGeom prst="rect">
            <a:avLst/>
          </a:prstGeom>
          <a:noFill/>
          <a:ln/>
        </p:spPr>
        <p:txBody>
          <a:bodyPr wrap="square" lIns="0" tIns="0" rIns="0" bIns="0" rtlCol="0" anchor="t"/>
          <a:lstStyle/>
          <a:p>
            <a:pPr indent="0" marL="0">
              <a:buNone/>
            </a:pPr>
            <a:r>
              <a:rPr lang="en-US" sz="1200" dirty="0">
                <a:solidFill>
                  <a:srgbClr val="CFD8EC"/>
                </a:solidFill>
                <a:latin typeface="Calibri" pitchFamily="34" charset="0"/>
                <a:ea typeface="Calibri" pitchFamily="34" charset="-122"/>
                <a:cs typeface="Calibri" pitchFamily="34" charset="-120"/>
              </a:rPr>
              <a:t>[ What makes it work in African conditions — power, data, cost, language ]</a:t>
            </a:r>
            <a:endParaRPr lang="en-US" sz="1200" dirty="0"/>
          </a:p>
        </p:txBody>
      </p:sp>
      <p:sp>
        <p:nvSpPr>
          <p:cNvPr id="26" name="Shape 24"/>
          <p:cNvSpPr/>
          <p:nvPr/>
        </p:nvSpPr>
        <p:spPr>
          <a:xfrm>
            <a:off x="8046720" y="4846320"/>
            <a:ext cx="3429000" cy="1188720"/>
          </a:xfrm>
          <a:prstGeom prst="roundRect">
            <a:avLst>
              <a:gd name="adj" fmla="val 9231"/>
            </a:avLst>
          </a:prstGeom>
          <a:solidFill>
            <a:srgbClr val="17305E"/>
          </a:solidFill>
          <a:ln w="12700">
            <a:solidFill>
              <a:srgbClr val="17305E"/>
            </a:solidFill>
            <a:prstDash val="solid"/>
          </a:ln>
          <a:effectLst>
            <a:outerShdw sx="100000" sy="100000" kx="0" ky="0" algn="bl" rotWithShape="0" blurRad="127000" dist="25400" dir="5400000">
              <a:srgbClr val="9AA5BD">
                <a:alpha val="25000"/>
              </a:srgbClr>
            </a:outerShdw>
          </a:effectLst>
        </p:spPr>
      </p:sp>
      <p:sp>
        <p:nvSpPr>
          <p:cNvPr id="27" name="Shape 25"/>
          <p:cNvSpPr/>
          <p:nvPr/>
        </p:nvSpPr>
        <p:spPr>
          <a:xfrm>
            <a:off x="8302752" y="5029200"/>
            <a:ext cx="402336" cy="402336"/>
          </a:xfrm>
          <a:prstGeom prst="ellipse">
            <a:avLst/>
          </a:prstGeom>
          <a:solidFill>
            <a:srgbClr val="F2A71B"/>
          </a:solidFill>
          <a:ln/>
        </p:spPr>
      </p:sp>
      <p:sp>
        <p:nvSpPr>
          <p:cNvPr id="28" name="Text 26"/>
          <p:cNvSpPr txBox="1"/>
          <p:nvPr/>
        </p:nvSpPr>
        <p:spPr>
          <a:xfrm>
            <a:off x="8302752" y="502920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9" name="Text 27"/>
          <p:cNvSpPr txBox="1"/>
          <p:nvPr/>
        </p:nvSpPr>
        <p:spPr>
          <a:xfrm>
            <a:off x="8823960" y="4983480"/>
            <a:ext cx="2514600" cy="3200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Defensible advantage</a:t>
            </a:r>
            <a:endParaRPr lang="en-US" sz="1500" dirty="0"/>
          </a:p>
        </p:txBody>
      </p:sp>
      <p:sp>
        <p:nvSpPr>
          <p:cNvPr id="30" name="Text 28"/>
          <p:cNvSpPr txBox="1"/>
          <p:nvPr/>
        </p:nvSpPr>
        <p:spPr>
          <a:xfrm>
            <a:off x="8823960" y="5303520"/>
            <a:ext cx="2514600" cy="640080"/>
          </a:xfrm>
          <a:prstGeom prst="rect">
            <a:avLst/>
          </a:prstGeom>
          <a:noFill/>
          <a:ln/>
        </p:spPr>
        <p:txBody>
          <a:bodyPr wrap="square" lIns="0" tIns="0" rIns="0" bIns="0" rtlCol="0" anchor="t"/>
          <a:lstStyle/>
          <a:p>
            <a:pPr indent="0" marL="0">
              <a:buNone/>
            </a:pPr>
            <a:r>
              <a:rPr lang="en-US" sz="1200" dirty="0">
                <a:solidFill>
                  <a:srgbClr val="CFD8EC"/>
                </a:solidFill>
                <a:latin typeface="Calibri" pitchFamily="34" charset="0"/>
                <a:ea typeface="Calibri" pitchFamily="34" charset="-122"/>
                <a:cs typeface="Calibri" pitchFamily="34" charset="-120"/>
              </a:rPr>
              <a:t>[ Dataset, partnership, IP, or know-how others cannot copy quickly ]</a:t>
            </a:r>
            <a:endParaRPr lang="en-US" sz="1200" dirty="0"/>
          </a:p>
        </p:txBody>
      </p:sp>
      <p:sp>
        <p:nvSpPr>
          <p:cNvPr id="31" name="Text 29"/>
          <p:cNvSpPr txBox="1"/>
          <p:nvPr/>
        </p:nvSpPr>
        <p:spPr>
          <a:xfrm>
            <a:off x="640080" y="6327648"/>
            <a:ext cx="6400800" cy="274320"/>
          </a:xfrm>
          <a:prstGeom prst="rect">
            <a:avLst/>
          </a:prstGeom>
          <a:noFill/>
          <a:ln/>
        </p:spPr>
        <p:txBody>
          <a:bodyPr wrap="square" lIns="0" tIns="0" rIns="0" bIns="0" rtlCol="0" anchor="ctr"/>
          <a:lstStyle/>
          <a:p>
            <a:pPr indent="0" marL="0">
              <a:buNone/>
            </a:pPr>
            <a:r>
              <a:rPr lang="en-US" sz="1000" dirty="0">
                <a:solidFill>
                  <a:srgbClr val="8FA0C4"/>
                </a:solidFill>
                <a:latin typeface="Calibri" pitchFamily="34" charset="0"/>
                <a:ea typeface="Calibri" pitchFamily="34" charset="-122"/>
                <a:cs typeface="Calibri" pitchFamily="34" charset="-120"/>
              </a:rPr>
              <a:t>HACK4AFRICA 2026  |  Africa University</a:t>
            </a:r>
            <a:endParaRPr lang="en-US" sz="1000" dirty="0"/>
          </a:p>
        </p:txBody>
      </p:sp>
      <p:sp>
        <p:nvSpPr>
          <p:cNvPr id="32" name="Text 30"/>
          <p:cNvSpPr txBox="1"/>
          <p:nvPr/>
        </p:nvSpPr>
        <p:spPr>
          <a:xfrm>
            <a:off x="10972800" y="6327648"/>
            <a:ext cx="548640" cy="274320"/>
          </a:xfrm>
          <a:prstGeom prst="rect">
            <a:avLst/>
          </a:prstGeom>
          <a:noFill/>
          <a:ln/>
        </p:spPr>
        <p:txBody>
          <a:bodyPr wrap="square" lIns="0" tIns="0" rIns="0" bIns="0" rtlCol="0" anchor="ctr"/>
          <a:lstStyle/>
          <a:p>
            <a:pPr algn="r" indent="0" marL="0">
              <a:buNone/>
            </a:pPr>
            <a:r>
              <a:rPr lang="en-US" sz="1000" dirty="0">
                <a:solidFill>
                  <a:srgbClr val="8FA0C4"/>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881360" y="-1371600"/>
            <a:ext cx="2926080" cy="2926080"/>
          </a:xfrm>
          <a:prstGeom prst="ellipse">
            <a:avLst/>
          </a:prstGeom>
          <a:solidFill>
            <a:srgbClr val="F3F5FA"/>
          </a:solidFill>
          <a:ln/>
        </p:spPr>
      </p:sp>
      <p:sp>
        <p:nvSpPr>
          <p:cNvPr id="3" name="Shape 1"/>
          <p:cNvSpPr/>
          <p:nvPr/>
        </p:nvSpPr>
        <p:spPr>
          <a:xfrm>
            <a:off x="640080" y="475488"/>
            <a:ext cx="201168" cy="201168"/>
          </a:xfrm>
          <a:prstGeom prst="ellipse">
            <a:avLst/>
          </a:prstGeom>
          <a:solidFill>
            <a:srgbClr val="C8102E"/>
          </a:solidFill>
          <a:ln/>
        </p:spPr>
      </p:sp>
      <p:sp>
        <p:nvSpPr>
          <p:cNvPr id="4" name="Text 2"/>
          <p:cNvSpPr txBox="1"/>
          <p:nvPr/>
        </p:nvSpPr>
        <p:spPr>
          <a:xfrm>
            <a:off x="932688" y="402336"/>
            <a:ext cx="5943600" cy="347472"/>
          </a:xfrm>
          <a:prstGeom prst="rect">
            <a:avLst/>
          </a:prstGeom>
          <a:noFill/>
          <a:ln/>
        </p:spPr>
        <p:txBody>
          <a:bodyPr wrap="square" lIns="0" tIns="0" rIns="0" bIns="0" rtlCol="0" anchor="ctr"/>
          <a:lstStyle/>
          <a:p>
            <a:pPr indent="0" marL="0">
              <a:buNone/>
            </a:pPr>
            <a:r>
              <a:rPr lang="en-US" sz="1300" b="1" spc="200" kern="0" dirty="0">
                <a:solidFill>
                  <a:srgbClr val="C8102E"/>
                </a:solidFill>
                <a:latin typeface="Calibri" pitchFamily="34" charset="0"/>
                <a:ea typeface="Calibri" pitchFamily="34" charset="-122"/>
                <a:cs typeface="Calibri" pitchFamily="34" charset="-120"/>
              </a:rPr>
              <a:t>07 — RESULTS</a:t>
            </a:r>
            <a:endParaRPr lang="en-US" sz="1300" dirty="0"/>
          </a:p>
        </p:txBody>
      </p:sp>
      <p:sp>
        <p:nvSpPr>
          <p:cNvPr id="5" name="Text 3"/>
          <p:cNvSpPr txBox="1"/>
          <p:nvPr/>
        </p:nvSpPr>
        <p:spPr>
          <a:xfrm>
            <a:off x="6035040" y="402336"/>
            <a:ext cx="5486400" cy="347472"/>
          </a:xfrm>
          <a:prstGeom prst="rect">
            <a:avLst/>
          </a:prstGeom>
          <a:noFill/>
          <a:ln/>
        </p:spPr>
        <p:txBody>
          <a:bodyPr wrap="square" lIns="0" tIns="0" rIns="0" bIns="0" rtlCol="0" anchor="ctr"/>
          <a:lstStyle/>
          <a:p>
            <a:pPr algn="r" indent="0" marL="0">
              <a:buNone/>
            </a:pPr>
            <a:r>
              <a:rPr lang="en-US" sz="1000" b="1" spc="100" kern="0" dirty="0">
                <a:solidFill>
                  <a:srgbClr val="9AA5BD"/>
                </a:solidFill>
                <a:latin typeface="Calibri" pitchFamily="34" charset="0"/>
                <a:ea typeface="Calibri" pitchFamily="34" charset="-122"/>
                <a:cs typeface="Calibri" pitchFamily="34" charset="-120"/>
              </a:rPr>
              <a:t>JUDGED ON  ·  3. TECHNICAL FEASIBILITY &amp; EXECUTION</a:t>
            </a:r>
            <a:endParaRPr lang="en-US" sz="1000" dirty="0"/>
          </a:p>
        </p:txBody>
      </p:sp>
      <p:sp>
        <p:nvSpPr>
          <p:cNvPr id="6" name="Text 4"/>
          <p:cNvSpPr txBox="1"/>
          <p:nvPr/>
        </p:nvSpPr>
        <p:spPr>
          <a:xfrm>
            <a:off x="640080" y="804672"/>
            <a:ext cx="10881360" cy="777240"/>
          </a:xfrm>
          <a:prstGeom prst="rect">
            <a:avLst/>
          </a:prstGeom>
          <a:noFill/>
          <a:ln/>
        </p:spPr>
        <p:txBody>
          <a:bodyPr wrap="square" lIns="0" tIns="0" rIns="0" bIns="0" rtlCol="0" anchor="ctr"/>
          <a:lstStyle/>
          <a:p>
            <a:pPr indent="0" marL="0">
              <a:buNone/>
            </a:pPr>
            <a:r>
              <a:rPr lang="en-US" sz="3600" b="1" dirty="0">
                <a:solidFill>
                  <a:srgbClr val="0E1F44"/>
                </a:solidFill>
                <a:latin typeface="Arial" pitchFamily="34" charset="0"/>
                <a:ea typeface="Arial" pitchFamily="34" charset="-122"/>
                <a:cs typeface="Arial" pitchFamily="34" charset="-120"/>
              </a:rPr>
              <a:t>What we achieved &amp; measured</a:t>
            </a:r>
            <a:endParaRPr lang="en-US" sz="3600" dirty="0"/>
          </a:p>
        </p:txBody>
      </p:sp>
      <p:sp>
        <p:nvSpPr>
          <p:cNvPr id="7" name="Shape 5"/>
          <p:cNvSpPr/>
          <p:nvPr/>
        </p:nvSpPr>
        <p:spPr>
          <a:xfrm>
            <a:off x="640080" y="1874520"/>
            <a:ext cx="5577840" cy="4160520"/>
          </a:xfrm>
          <a:prstGeom prst="roundRect">
            <a:avLst>
              <a:gd name="adj" fmla="val 2637"/>
            </a:avLst>
          </a:prstGeom>
          <a:solidFill>
            <a:srgbClr val="F3F5FA"/>
          </a:solidFill>
          <a:ln w="12700">
            <a:solidFill>
              <a:srgbClr val="F3F5FA"/>
            </a:solidFill>
            <a:prstDash val="solid"/>
          </a:ln>
          <a:effectLst>
            <a:outerShdw sx="100000" sy="100000" kx="0" ky="0" algn="bl" rotWithShape="0" blurRad="127000" dist="25400" dir="5400000">
              <a:srgbClr val="9AA5BD">
                <a:alpha val="25000"/>
              </a:srgbClr>
            </a:outerShdw>
          </a:effectLst>
        </p:spPr>
      </p:sp>
      <p:sp>
        <p:nvSpPr>
          <p:cNvPr id="8" name="Text 6"/>
          <p:cNvSpPr txBox="1"/>
          <p:nvPr/>
        </p:nvSpPr>
        <p:spPr>
          <a:xfrm>
            <a:off x="914400" y="2103120"/>
            <a:ext cx="5029200" cy="274320"/>
          </a:xfrm>
          <a:prstGeom prst="rect">
            <a:avLst/>
          </a:prstGeom>
          <a:noFill/>
          <a:ln/>
        </p:spPr>
        <p:txBody>
          <a:bodyPr wrap="square" lIns="0" tIns="0" rIns="0" bIns="0" rtlCol="0" anchor="ctr"/>
          <a:lstStyle/>
          <a:p>
            <a:pPr indent="0" marL="0">
              <a:buNone/>
            </a:pPr>
            <a:r>
              <a:rPr lang="en-US" sz="1200" b="1" spc="150" kern="0" dirty="0">
                <a:solidFill>
                  <a:srgbClr val="C8102E"/>
                </a:solidFill>
                <a:latin typeface="Calibri" pitchFamily="34" charset="0"/>
                <a:ea typeface="Calibri" pitchFamily="34" charset="-122"/>
                <a:cs typeface="Calibri" pitchFamily="34" charset="-120"/>
              </a:rPr>
              <a:t>PERFORMANCE / TESTING OUTCOMES</a:t>
            </a:r>
            <a:endParaRPr lang="en-US" sz="1200" dirty="0"/>
          </a:p>
        </p:txBody>
      </p:sp>
      <p:graphicFrame>
        <p:nvGraphicFramePr>
          <p:cNvPr id="9" name="Chart 0" descr=""/>
          <p:cNvGraphicFramePr/>
          <p:nvPr/>
        </p:nvGraphicFramePr>
        <p:xfrm>
          <a:off x="868680" y="2468880"/>
          <a:ext cx="5120640" cy="3291840"/>
        </p:xfrm>
        <a:graphic xmlns:a="http://schemas.openxmlformats.org/drawingml/2006/main">
          <a:graphicData uri="http://schemas.openxmlformats.org/drawingml/2006/chart">
            <c:chart xmlns:c="http://schemas.openxmlformats.org/drawingml/2006/chart" r:id="rId1"/>
          </a:graphicData>
        </a:graphic>
      </p:graphicFrame>
      <p:sp>
        <p:nvSpPr>
          <p:cNvPr id="10" name="Shape 7"/>
          <p:cNvSpPr/>
          <p:nvPr/>
        </p:nvSpPr>
        <p:spPr>
          <a:xfrm>
            <a:off x="6537960" y="1874520"/>
            <a:ext cx="4983480" cy="1234440"/>
          </a:xfrm>
          <a:prstGeom prst="roundRect">
            <a:avLst>
              <a:gd name="adj" fmla="val 8889"/>
            </a:avLst>
          </a:prstGeom>
          <a:solidFill>
            <a:srgbClr val="F3F5FA"/>
          </a:solidFill>
          <a:ln w="12700">
            <a:solidFill>
              <a:srgbClr val="F3F5FA"/>
            </a:solidFill>
            <a:prstDash val="solid"/>
          </a:ln>
          <a:effectLst>
            <a:outerShdw sx="100000" sy="100000" kx="0" ky="0" algn="bl" rotWithShape="0" blurRad="127000" dist="25400" dir="5400000">
              <a:srgbClr val="9AA5BD">
                <a:alpha val="25000"/>
              </a:srgbClr>
            </a:outerShdw>
          </a:effectLst>
        </p:spPr>
      </p:sp>
      <p:sp>
        <p:nvSpPr>
          <p:cNvPr id="11" name="Shape 8"/>
          <p:cNvSpPr/>
          <p:nvPr/>
        </p:nvSpPr>
        <p:spPr>
          <a:xfrm>
            <a:off x="6812280" y="2258568"/>
            <a:ext cx="457200" cy="457200"/>
          </a:xfrm>
          <a:prstGeom prst="ellipse">
            <a:avLst/>
          </a:prstGeom>
          <a:solidFill>
            <a:srgbClr val="0E1F44"/>
          </a:solidFill>
          <a:ln/>
        </p:spPr>
      </p:sp>
      <p:sp>
        <p:nvSpPr>
          <p:cNvPr id="12" name="Text 9"/>
          <p:cNvSpPr txBox="1"/>
          <p:nvPr/>
        </p:nvSpPr>
        <p:spPr>
          <a:xfrm>
            <a:off x="6812280" y="225856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3" name="Text 10"/>
          <p:cNvSpPr txBox="1"/>
          <p:nvPr/>
        </p:nvSpPr>
        <p:spPr>
          <a:xfrm>
            <a:off x="7434072" y="2112264"/>
            <a:ext cx="3931920" cy="347472"/>
          </a:xfrm>
          <a:prstGeom prst="rect">
            <a:avLst/>
          </a:prstGeom>
          <a:noFill/>
          <a:ln/>
        </p:spPr>
        <p:txBody>
          <a:bodyPr wrap="square" lIns="0" tIns="0" rIns="0" bIns="0" rtlCol="0" anchor="ctr"/>
          <a:lstStyle/>
          <a:p>
            <a:pPr indent="0" marL="0">
              <a:buNone/>
            </a:pPr>
            <a:r>
              <a:rPr lang="en-US" sz="1700" b="1" dirty="0">
                <a:solidFill>
                  <a:srgbClr val="0E1F44"/>
                </a:solidFill>
                <a:latin typeface="Arial" pitchFamily="34" charset="0"/>
                <a:ea typeface="Arial" pitchFamily="34" charset="-122"/>
                <a:cs typeface="Arial" pitchFamily="34" charset="-120"/>
              </a:rPr>
              <a:t>Working prototype</a:t>
            </a:r>
            <a:endParaRPr lang="en-US" sz="1700" dirty="0"/>
          </a:p>
        </p:txBody>
      </p:sp>
      <p:sp>
        <p:nvSpPr>
          <p:cNvPr id="14" name="Text 11"/>
          <p:cNvSpPr txBox="1"/>
          <p:nvPr/>
        </p:nvSpPr>
        <p:spPr>
          <a:xfrm>
            <a:off x="7434072" y="2468880"/>
            <a:ext cx="3931920" cy="502920"/>
          </a:xfrm>
          <a:prstGeom prst="rect">
            <a:avLst/>
          </a:prstGeom>
          <a:noFill/>
          <a:ln/>
        </p:spPr>
        <p:txBody>
          <a:bodyPr wrap="square" lIns="0" tIns="0" rIns="0" bIns="0" rtlCol="0" anchor="t"/>
          <a:lstStyle/>
          <a:p>
            <a:pPr indent="0" marL="0">
              <a:buNone/>
            </a:pPr>
            <a:r>
              <a:rPr lang="en-US" sz="1300" dirty="0">
                <a:solidFill>
                  <a:srgbClr val="5B6780"/>
                </a:solidFill>
                <a:latin typeface="Calibri" pitchFamily="34" charset="0"/>
                <a:ea typeface="Calibri" pitchFamily="34" charset="-122"/>
                <a:cs typeface="Calibri" pitchFamily="34" charset="-120"/>
              </a:rPr>
              <a:t>[ What actually runs today — be honest about scope ]</a:t>
            </a:r>
            <a:endParaRPr lang="en-US" sz="1300" dirty="0"/>
          </a:p>
        </p:txBody>
      </p:sp>
      <p:sp>
        <p:nvSpPr>
          <p:cNvPr id="15" name="Shape 12"/>
          <p:cNvSpPr/>
          <p:nvPr/>
        </p:nvSpPr>
        <p:spPr>
          <a:xfrm>
            <a:off x="6537960" y="3337560"/>
            <a:ext cx="4983480" cy="1234440"/>
          </a:xfrm>
          <a:prstGeom prst="roundRect">
            <a:avLst>
              <a:gd name="adj" fmla="val 8889"/>
            </a:avLst>
          </a:prstGeom>
          <a:solidFill>
            <a:srgbClr val="F3F5FA"/>
          </a:solidFill>
          <a:ln w="12700">
            <a:solidFill>
              <a:srgbClr val="F3F5FA"/>
            </a:solidFill>
            <a:prstDash val="solid"/>
          </a:ln>
          <a:effectLst>
            <a:outerShdw sx="100000" sy="100000" kx="0" ky="0" algn="bl" rotWithShape="0" blurRad="127000" dist="25400" dir="5400000">
              <a:srgbClr val="9AA5BD">
                <a:alpha val="25000"/>
              </a:srgbClr>
            </a:outerShdw>
          </a:effectLst>
        </p:spPr>
      </p:sp>
      <p:sp>
        <p:nvSpPr>
          <p:cNvPr id="16" name="Shape 13"/>
          <p:cNvSpPr/>
          <p:nvPr/>
        </p:nvSpPr>
        <p:spPr>
          <a:xfrm>
            <a:off x="6812280" y="3721608"/>
            <a:ext cx="457200" cy="457200"/>
          </a:xfrm>
          <a:prstGeom prst="ellipse">
            <a:avLst/>
          </a:prstGeom>
          <a:solidFill>
            <a:srgbClr val="17305E"/>
          </a:solidFill>
          <a:ln/>
        </p:spPr>
      </p:sp>
      <p:sp>
        <p:nvSpPr>
          <p:cNvPr id="17" name="Text 14"/>
          <p:cNvSpPr txBox="1"/>
          <p:nvPr/>
        </p:nvSpPr>
        <p:spPr>
          <a:xfrm>
            <a:off x="6812280" y="372160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8" name="Text 15"/>
          <p:cNvSpPr txBox="1"/>
          <p:nvPr/>
        </p:nvSpPr>
        <p:spPr>
          <a:xfrm>
            <a:off x="7434072" y="3575304"/>
            <a:ext cx="3931920" cy="347472"/>
          </a:xfrm>
          <a:prstGeom prst="rect">
            <a:avLst/>
          </a:prstGeom>
          <a:noFill/>
          <a:ln/>
        </p:spPr>
        <p:txBody>
          <a:bodyPr wrap="square" lIns="0" tIns="0" rIns="0" bIns="0" rtlCol="0" anchor="ctr"/>
          <a:lstStyle/>
          <a:p>
            <a:pPr indent="0" marL="0">
              <a:buNone/>
            </a:pPr>
            <a:r>
              <a:rPr lang="en-US" sz="1700" b="1" dirty="0">
                <a:solidFill>
                  <a:srgbClr val="0E1F44"/>
                </a:solidFill>
                <a:latin typeface="Arial" pitchFamily="34" charset="0"/>
                <a:ea typeface="Arial" pitchFamily="34" charset="-122"/>
                <a:cs typeface="Arial" pitchFamily="34" charset="-120"/>
              </a:rPr>
              <a:t>Validated with users</a:t>
            </a:r>
            <a:endParaRPr lang="en-US" sz="1700" dirty="0"/>
          </a:p>
        </p:txBody>
      </p:sp>
      <p:sp>
        <p:nvSpPr>
          <p:cNvPr id="19" name="Text 16"/>
          <p:cNvSpPr txBox="1"/>
          <p:nvPr/>
        </p:nvSpPr>
        <p:spPr>
          <a:xfrm>
            <a:off x="7434072" y="3931920"/>
            <a:ext cx="3931920" cy="502920"/>
          </a:xfrm>
          <a:prstGeom prst="rect">
            <a:avLst/>
          </a:prstGeom>
          <a:noFill/>
          <a:ln/>
        </p:spPr>
        <p:txBody>
          <a:bodyPr wrap="square" lIns="0" tIns="0" rIns="0" bIns="0" rtlCol="0" anchor="t"/>
          <a:lstStyle/>
          <a:p>
            <a:pPr indent="0" marL="0">
              <a:buNone/>
            </a:pPr>
            <a:r>
              <a:rPr lang="en-US" sz="1300" dirty="0">
                <a:solidFill>
                  <a:srgbClr val="5B6780"/>
                </a:solidFill>
                <a:latin typeface="Calibri" pitchFamily="34" charset="0"/>
                <a:ea typeface="Calibri" pitchFamily="34" charset="-122"/>
                <a:cs typeface="Calibri" pitchFamily="34" charset="-120"/>
              </a:rPr>
              <a:t>[ How many testers, what feedback came back ]</a:t>
            </a:r>
            <a:endParaRPr lang="en-US" sz="1300" dirty="0"/>
          </a:p>
        </p:txBody>
      </p:sp>
      <p:sp>
        <p:nvSpPr>
          <p:cNvPr id="20" name="Shape 17"/>
          <p:cNvSpPr/>
          <p:nvPr/>
        </p:nvSpPr>
        <p:spPr>
          <a:xfrm>
            <a:off x="6537960" y="4800600"/>
            <a:ext cx="4983480" cy="1234440"/>
          </a:xfrm>
          <a:prstGeom prst="roundRect">
            <a:avLst>
              <a:gd name="adj" fmla="val 8889"/>
            </a:avLst>
          </a:prstGeom>
          <a:solidFill>
            <a:srgbClr val="F3F5FA"/>
          </a:solidFill>
          <a:ln w="12700">
            <a:solidFill>
              <a:srgbClr val="F3F5FA"/>
            </a:solidFill>
            <a:prstDash val="solid"/>
          </a:ln>
          <a:effectLst>
            <a:outerShdw sx="100000" sy="100000" kx="0" ky="0" algn="bl" rotWithShape="0" blurRad="127000" dist="25400" dir="5400000">
              <a:srgbClr val="9AA5BD">
                <a:alpha val="25000"/>
              </a:srgbClr>
            </a:outerShdw>
          </a:effectLst>
        </p:spPr>
      </p:sp>
      <p:sp>
        <p:nvSpPr>
          <p:cNvPr id="21" name="Shape 18"/>
          <p:cNvSpPr/>
          <p:nvPr/>
        </p:nvSpPr>
        <p:spPr>
          <a:xfrm>
            <a:off x="6812280" y="5184648"/>
            <a:ext cx="457200" cy="457200"/>
          </a:xfrm>
          <a:prstGeom prst="ellipse">
            <a:avLst/>
          </a:prstGeom>
          <a:solidFill>
            <a:srgbClr val="2E8B8B"/>
          </a:solidFill>
          <a:ln/>
        </p:spPr>
      </p:sp>
      <p:sp>
        <p:nvSpPr>
          <p:cNvPr id="22" name="Text 19"/>
          <p:cNvSpPr txBox="1"/>
          <p:nvPr/>
        </p:nvSpPr>
        <p:spPr>
          <a:xfrm>
            <a:off x="6812280" y="518464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23" name="Text 20"/>
          <p:cNvSpPr txBox="1"/>
          <p:nvPr/>
        </p:nvSpPr>
        <p:spPr>
          <a:xfrm>
            <a:off x="7434072" y="5038344"/>
            <a:ext cx="3931920" cy="347472"/>
          </a:xfrm>
          <a:prstGeom prst="rect">
            <a:avLst/>
          </a:prstGeom>
          <a:noFill/>
          <a:ln/>
        </p:spPr>
        <p:txBody>
          <a:bodyPr wrap="square" lIns="0" tIns="0" rIns="0" bIns="0" rtlCol="0" anchor="ctr"/>
          <a:lstStyle/>
          <a:p>
            <a:pPr indent="0" marL="0">
              <a:buNone/>
            </a:pPr>
            <a:r>
              <a:rPr lang="en-US" sz="1700" b="1" dirty="0">
                <a:solidFill>
                  <a:srgbClr val="0E1F44"/>
                </a:solidFill>
                <a:latin typeface="Arial" pitchFamily="34" charset="0"/>
                <a:ea typeface="Arial" pitchFamily="34" charset="-122"/>
                <a:cs typeface="Arial" pitchFamily="34" charset="-120"/>
              </a:rPr>
              <a:t>Measured impact</a:t>
            </a:r>
            <a:endParaRPr lang="en-US" sz="1700" dirty="0"/>
          </a:p>
        </p:txBody>
      </p:sp>
      <p:sp>
        <p:nvSpPr>
          <p:cNvPr id="24" name="Text 21"/>
          <p:cNvSpPr txBox="1"/>
          <p:nvPr/>
        </p:nvSpPr>
        <p:spPr>
          <a:xfrm>
            <a:off x="7434072" y="5394960"/>
            <a:ext cx="3931920" cy="502920"/>
          </a:xfrm>
          <a:prstGeom prst="rect">
            <a:avLst/>
          </a:prstGeom>
          <a:noFill/>
          <a:ln/>
        </p:spPr>
        <p:txBody>
          <a:bodyPr wrap="square" lIns="0" tIns="0" rIns="0" bIns="0" rtlCol="0" anchor="t"/>
          <a:lstStyle/>
          <a:p>
            <a:pPr indent="0" marL="0">
              <a:buNone/>
            </a:pPr>
            <a:r>
              <a:rPr lang="en-US" sz="1300" dirty="0">
                <a:solidFill>
                  <a:srgbClr val="5B6780"/>
                </a:solidFill>
                <a:latin typeface="Calibri" pitchFamily="34" charset="0"/>
                <a:ea typeface="Calibri" pitchFamily="34" charset="-122"/>
                <a:cs typeface="Calibri" pitchFamily="34" charset="-120"/>
              </a:rPr>
              <a:t>[ Time saved, cost cut, accuracy gained ]</a:t>
            </a:r>
            <a:endParaRPr lang="en-US" sz="1300" dirty="0"/>
          </a:p>
        </p:txBody>
      </p:sp>
      <p:sp>
        <p:nvSpPr>
          <p:cNvPr id="25" name="Text 22"/>
          <p:cNvSpPr txBox="1"/>
          <p:nvPr/>
        </p:nvSpPr>
        <p:spPr>
          <a:xfrm>
            <a:off x="640080" y="6327648"/>
            <a:ext cx="6400800" cy="274320"/>
          </a:xfrm>
          <a:prstGeom prst="rect">
            <a:avLst/>
          </a:prstGeom>
          <a:noFill/>
          <a:ln/>
        </p:spPr>
        <p:txBody>
          <a:bodyPr wrap="square" lIns="0" tIns="0" rIns="0" bIns="0" rtlCol="0" anchor="ctr"/>
          <a:lstStyle/>
          <a:p>
            <a:pPr indent="0" marL="0">
              <a:buNone/>
            </a:pPr>
            <a:r>
              <a:rPr lang="en-US" sz="1000" dirty="0">
                <a:solidFill>
                  <a:srgbClr val="9AA5BD"/>
                </a:solidFill>
                <a:latin typeface="Calibri" pitchFamily="34" charset="0"/>
                <a:ea typeface="Calibri" pitchFamily="34" charset="-122"/>
                <a:cs typeface="Calibri" pitchFamily="34" charset="-120"/>
              </a:rPr>
              <a:t>HACK4AFRICA 2026  |  Africa University</a:t>
            </a:r>
            <a:endParaRPr lang="en-US" sz="1000" dirty="0"/>
          </a:p>
        </p:txBody>
      </p:sp>
      <p:sp>
        <p:nvSpPr>
          <p:cNvPr id="26" name="Text 23"/>
          <p:cNvSpPr txBox="1"/>
          <p:nvPr/>
        </p:nvSpPr>
        <p:spPr>
          <a:xfrm>
            <a:off x="10972800" y="6327648"/>
            <a:ext cx="548640" cy="274320"/>
          </a:xfrm>
          <a:prstGeom prst="rect">
            <a:avLst/>
          </a:prstGeom>
          <a:noFill/>
          <a:ln/>
        </p:spPr>
        <p:txBody>
          <a:bodyPr wrap="square" lIns="0" tIns="0" rIns="0" bIns="0" rtlCol="0" anchor="ctr"/>
          <a:lstStyle/>
          <a:p>
            <a:pPr algn="r" indent="0" marL="0">
              <a:buNone/>
            </a:pPr>
            <a:r>
              <a:rPr lang="en-US" sz="1000" dirty="0">
                <a:solidFill>
                  <a:srgbClr val="9AA5BD"/>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881360" y="-1371600"/>
            <a:ext cx="2926080" cy="2926080"/>
          </a:xfrm>
          <a:prstGeom prst="ellipse">
            <a:avLst/>
          </a:prstGeom>
          <a:solidFill>
            <a:srgbClr val="F3F5FA"/>
          </a:solidFill>
          <a:ln/>
        </p:spPr>
      </p:sp>
      <p:sp>
        <p:nvSpPr>
          <p:cNvPr id="3" name="Shape 1"/>
          <p:cNvSpPr/>
          <p:nvPr/>
        </p:nvSpPr>
        <p:spPr>
          <a:xfrm>
            <a:off x="640080" y="475488"/>
            <a:ext cx="201168" cy="201168"/>
          </a:xfrm>
          <a:prstGeom prst="ellipse">
            <a:avLst/>
          </a:prstGeom>
          <a:solidFill>
            <a:srgbClr val="C8102E"/>
          </a:solidFill>
          <a:ln/>
        </p:spPr>
      </p:sp>
      <p:sp>
        <p:nvSpPr>
          <p:cNvPr id="4" name="Text 2"/>
          <p:cNvSpPr txBox="1"/>
          <p:nvPr/>
        </p:nvSpPr>
        <p:spPr>
          <a:xfrm>
            <a:off x="932688" y="402336"/>
            <a:ext cx="5943600" cy="347472"/>
          </a:xfrm>
          <a:prstGeom prst="rect">
            <a:avLst/>
          </a:prstGeom>
          <a:noFill/>
          <a:ln/>
        </p:spPr>
        <p:txBody>
          <a:bodyPr wrap="square" lIns="0" tIns="0" rIns="0" bIns="0" rtlCol="0" anchor="ctr"/>
          <a:lstStyle/>
          <a:p>
            <a:pPr indent="0" marL="0">
              <a:buNone/>
            </a:pPr>
            <a:r>
              <a:rPr lang="en-US" sz="1300" b="1" spc="200" kern="0" dirty="0">
                <a:solidFill>
                  <a:srgbClr val="C8102E"/>
                </a:solidFill>
                <a:latin typeface="Calibri" pitchFamily="34" charset="0"/>
                <a:ea typeface="Calibri" pitchFamily="34" charset="-122"/>
                <a:cs typeface="Calibri" pitchFamily="34" charset="-120"/>
              </a:rPr>
              <a:t>08 — IMPACT &amp; SDGS</a:t>
            </a:r>
            <a:endParaRPr lang="en-US" sz="1300" dirty="0"/>
          </a:p>
        </p:txBody>
      </p:sp>
      <p:sp>
        <p:nvSpPr>
          <p:cNvPr id="5" name="Text 3"/>
          <p:cNvSpPr txBox="1"/>
          <p:nvPr/>
        </p:nvSpPr>
        <p:spPr>
          <a:xfrm>
            <a:off x="6035040" y="402336"/>
            <a:ext cx="5486400" cy="347472"/>
          </a:xfrm>
          <a:prstGeom prst="rect">
            <a:avLst/>
          </a:prstGeom>
          <a:noFill/>
          <a:ln/>
        </p:spPr>
        <p:txBody>
          <a:bodyPr wrap="square" lIns="0" tIns="0" rIns="0" bIns="0" rtlCol="0" anchor="ctr"/>
          <a:lstStyle/>
          <a:p>
            <a:pPr algn="r" indent="0" marL="0">
              <a:buNone/>
            </a:pPr>
            <a:r>
              <a:rPr lang="en-US" sz="1000" b="1" spc="100" kern="0" dirty="0">
                <a:solidFill>
                  <a:srgbClr val="9AA5BD"/>
                </a:solidFill>
                <a:latin typeface="Calibri" pitchFamily="34" charset="0"/>
                <a:ea typeface="Calibri" pitchFamily="34" charset="-122"/>
                <a:cs typeface="Calibri" pitchFamily="34" charset="-120"/>
              </a:rPr>
              <a:t>JUDGED ON  ·  4. IMPACT &amp; SCALABILITY  ·  6. SDG ALIGNMENT</a:t>
            </a:r>
            <a:endParaRPr lang="en-US" sz="1000" dirty="0"/>
          </a:p>
        </p:txBody>
      </p:sp>
      <p:sp>
        <p:nvSpPr>
          <p:cNvPr id="6" name="Text 4"/>
          <p:cNvSpPr txBox="1"/>
          <p:nvPr/>
        </p:nvSpPr>
        <p:spPr>
          <a:xfrm>
            <a:off x="640080" y="804672"/>
            <a:ext cx="10881360" cy="777240"/>
          </a:xfrm>
          <a:prstGeom prst="rect">
            <a:avLst/>
          </a:prstGeom>
          <a:noFill/>
          <a:ln/>
        </p:spPr>
        <p:txBody>
          <a:bodyPr wrap="square" lIns="0" tIns="0" rIns="0" bIns="0" rtlCol="0" anchor="ctr"/>
          <a:lstStyle/>
          <a:p>
            <a:pPr indent="0" marL="0">
              <a:buNone/>
            </a:pPr>
            <a:r>
              <a:rPr lang="en-US" sz="3600" b="1" dirty="0">
                <a:solidFill>
                  <a:srgbClr val="0E1F44"/>
                </a:solidFill>
                <a:latin typeface="Arial" pitchFamily="34" charset="0"/>
                <a:ea typeface="Arial" pitchFamily="34" charset="-122"/>
                <a:cs typeface="Arial" pitchFamily="34" charset="-120"/>
              </a:rPr>
              <a:t>Who benefits, how many, and why it matters</a:t>
            </a:r>
            <a:endParaRPr lang="en-US" sz="3600" dirty="0"/>
          </a:p>
        </p:txBody>
      </p:sp>
      <p:sp>
        <p:nvSpPr>
          <p:cNvPr id="7" name="Shape 5"/>
          <p:cNvSpPr/>
          <p:nvPr/>
        </p:nvSpPr>
        <p:spPr>
          <a:xfrm>
            <a:off x="640080" y="1874520"/>
            <a:ext cx="5577840" cy="4160520"/>
          </a:xfrm>
          <a:prstGeom prst="roundRect">
            <a:avLst>
              <a:gd name="adj" fmla="val 2637"/>
            </a:avLst>
          </a:prstGeom>
          <a:solidFill>
            <a:srgbClr val="F3F5FA"/>
          </a:solidFill>
          <a:ln w="12700">
            <a:solidFill>
              <a:srgbClr val="F3F5FA"/>
            </a:solidFill>
            <a:prstDash val="solid"/>
          </a:ln>
          <a:effectLst>
            <a:outerShdw sx="100000" sy="100000" kx="0" ky="0" algn="bl" rotWithShape="0" blurRad="127000" dist="25400" dir="5400000">
              <a:srgbClr val="9AA5BD">
                <a:alpha val="25000"/>
              </a:srgbClr>
            </a:outerShdw>
          </a:effectLst>
        </p:spPr>
      </p:sp>
      <p:sp>
        <p:nvSpPr>
          <p:cNvPr id="8" name="Text 6"/>
          <p:cNvSpPr txBox="1"/>
          <p:nvPr/>
        </p:nvSpPr>
        <p:spPr>
          <a:xfrm>
            <a:off x="914400" y="2103120"/>
            <a:ext cx="5029200" cy="274320"/>
          </a:xfrm>
          <a:prstGeom prst="rect">
            <a:avLst/>
          </a:prstGeom>
          <a:noFill/>
          <a:ln/>
        </p:spPr>
        <p:txBody>
          <a:bodyPr wrap="square" lIns="0" tIns="0" rIns="0" bIns="0" rtlCol="0" anchor="ctr"/>
          <a:lstStyle/>
          <a:p>
            <a:pPr indent="0" marL="0">
              <a:buNone/>
            </a:pPr>
            <a:r>
              <a:rPr lang="en-US" sz="1200" b="1" spc="150" kern="0" dirty="0">
                <a:solidFill>
                  <a:srgbClr val="C8102E"/>
                </a:solidFill>
                <a:latin typeface="Calibri" pitchFamily="34" charset="0"/>
                <a:ea typeface="Calibri" pitchFamily="34" charset="-122"/>
                <a:cs typeface="Calibri" pitchFamily="34" charset="-120"/>
              </a:rPr>
              <a:t>REACH &amp; SCALABILITY</a:t>
            </a:r>
            <a:endParaRPr lang="en-US" sz="1200" dirty="0"/>
          </a:p>
        </p:txBody>
      </p:sp>
      <p:sp>
        <p:nvSpPr>
          <p:cNvPr id="9" name="Shape 7"/>
          <p:cNvSpPr/>
          <p:nvPr/>
        </p:nvSpPr>
        <p:spPr>
          <a:xfrm>
            <a:off x="914400" y="2468880"/>
            <a:ext cx="5029200" cy="1005840"/>
          </a:xfrm>
          <a:prstGeom prst="roundRect">
            <a:avLst>
              <a:gd name="adj" fmla="val 9091"/>
            </a:avLst>
          </a:prstGeom>
          <a:solidFill>
            <a:srgbClr val="0E1F44"/>
          </a:solidFill>
          <a:ln/>
        </p:spPr>
      </p:sp>
      <p:sp>
        <p:nvSpPr>
          <p:cNvPr id="10" name="Text 8"/>
          <p:cNvSpPr txBox="1"/>
          <p:nvPr/>
        </p:nvSpPr>
        <p:spPr>
          <a:xfrm>
            <a:off x="1170432" y="2596896"/>
            <a:ext cx="1828800" cy="274320"/>
          </a:xfrm>
          <a:prstGeom prst="rect">
            <a:avLst/>
          </a:prstGeom>
          <a:noFill/>
          <a:ln/>
        </p:spPr>
        <p:txBody>
          <a:bodyPr wrap="square" lIns="0" tIns="0" rIns="0" bIns="0" rtlCol="0" anchor="ctr"/>
          <a:lstStyle/>
          <a:p>
            <a:pPr indent="0" marL="0">
              <a:buNone/>
            </a:pPr>
            <a:r>
              <a:rPr lang="en-US" sz="1100" b="1" spc="150" kern="0" dirty="0">
                <a:solidFill>
                  <a:srgbClr val="F2A71B"/>
                </a:solidFill>
                <a:latin typeface="Calibri" pitchFamily="34" charset="0"/>
                <a:ea typeface="Calibri" pitchFamily="34" charset="-122"/>
                <a:cs typeface="Calibri" pitchFamily="34" charset="-120"/>
              </a:rPr>
              <a:t>TODAY</a:t>
            </a:r>
            <a:endParaRPr lang="en-US" sz="1100" dirty="0"/>
          </a:p>
        </p:txBody>
      </p:sp>
      <p:sp>
        <p:nvSpPr>
          <p:cNvPr id="11" name="Text 9"/>
          <p:cNvSpPr txBox="1"/>
          <p:nvPr/>
        </p:nvSpPr>
        <p:spPr>
          <a:xfrm>
            <a:off x="1170432" y="2871216"/>
            <a:ext cx="1828800" cy="45720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[ 00 ]</a:t>
            </a:r>
            <a:endParaRPr lang="en-US" sz="2400" dirty="0"/>
          </a:p>
        </p:txBody>
      </p:sp>
      <p:sp>
        <p:nvSpPr>
          <p:cNvPr id="12" name="Text 10"/>
          <p:cNvSpPr txBox="1"/>
          <p:nvPr/>
        </p:nvSpPr>
        <p:spPr>
          <a:xfrm>
            <a:off x="3154680" y="2651760"/>
            <a:ext cx="2606040" cy="685800"/>
          </a:xfrm>
          <a:prstGeom prst="rect">
            <a:avLst/>
          </a:prstGeom>
          <a:noFill/>
          <a:ln/>
        </p:spPr>
        <p:txBody>
          <a:bodyPr wrap="square" lIns="0" tIns="0" rIns="0" bIns="0" rtlCol="0" anchor="ctr"/>
          <a:lstStyle/>
          <a:p>
            <a:pPr indent="0" marL="0">
              <a:buNone/>
            </a:pPr>
            <a:r>
              <a:rPr lang="en-US" sz="1300" dirty="0">
                <a:solidFill>
                  <a:srgbClr val="CFD8EC"/>
                </a:solidFill>
                <a:latin typeface="Calibri" pitchFamily="34" charset="0"/>
                <a:ea typeface="Calibri" pitchFamily="34" charset="-122"/>
                <a:cs typeface="Calibri" pitchFamily="34" charset="-120"/>
              </a:rPr>
              <a:t>[ Users reached by the prototype ]</a:t>
            </a:r>
            <a:endParaRPr lang="en-US" sz="1300" dirty="0"/>
          </a:p>
        </p:txBody>
      </p:sp>
      <p:sp>
        <p:nvSpPr>
          <p:cNvPr id="13" name="Shape 11"/>
          <p:cNvSpPr/>
          <p:nvPr/>
        </p:nvSpPr>
        <p:spPr>
          <a:xfrm>
            <a:off x="914400" y="3657600"/>
            <a:ext cx="5029200" cy="1005840"/>
          </a:xfrm>
          <a:prstGeom prst="roundRect">
            <a:avLst>
              <a:gd name="adj" fmla="val 9091"/>
            </a:avLst>
          </a:prstGeom>
          <a:solidFill>
            <a:srgbClr val="17305E"/>
          </a:solidFill>
          <a:ln/>
        </p:spPr>
      </p:sp>
      <p:sp>
        <p:nvSpPr>
          <p:cNvPr id="14" name="Text 12"/>
          <p:cNvSpPr txBox="1"/>
          <p:nvPr/>
        </p:nvSpPr>
        <p:spPr>
          <a:xfrm>
            <a:off x="1170432" y="3785616"/>
            <a:ext cx="1828800" cy="274320"/>
          </a:xfrm>
          <a:prstGeom prst="rect">
            <a:avLst/>
          </a:prstGeom>
          <a:noFill/>
          <a:ln/>
        </p:spPr>
        <p:txBody>
          <a:bodyPr wrap="square" lIns="0" tIns="0" rIns="0" bIns="0" rtlCol="0" anchor="ctr"/>
          <a:lstStyle/>
          <a:p>
            <a:pPr indent="0" marL="0">
              <a:buNone/>
            </a:pPr>
            <a:r>
              <a:rPr lang="en-US" sz="1100" b="1" spc="150" kern="0" dirty="0">
                <a:solidFill>
                  <a:srgbClr val="F2A71B"/>
                </a:solidFill>
                <a:latin typeface="Calibri" pitchFamily="34" charset="0"/>
                <a:ea typeface="Calibri" pitchFamily="34" charset="-122"/>
                <a:cs typeface="Calibri" pitchFamily="34" charset="-120"/>
              </a:rPr>
              <a:t>YEAR 1</a:t>
            </a:r>
            <a:endParaRPr lang="en-US" sz="1100" dirty="0"/>
          </a:p>
        </p:txBody>
      </p:sp>
      <p:sp>
        <p:nvSpPr>
          <p:cNvPr id="15" name="Text 13"/>
          <p:cNvSpPr txBox="1"/>
          <p:nvPr/>
        </p:nvSpPr>
        <p:spPr>
          <a:xfrm>
            <a:off x="1170432" y="4059936"/>
            <a:ext cx="1828800" cy="45720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[ 0,000 ]</a:t>
            </a:r>
            <a:endParaRPr lang="en-US" sz="2400" dirty="0"/>
          </a:p>
        </p:txBody>
      </p:sp>
      <p:sp>
        <p:nvSpPr>
          <p:cNvPr id="16" name="Text 14"/>
          <p:cNvSpPr txBox="1"/>
          <p:nvPr/>
        </p:nvSpPr>
        <p:spPr>
          <a:xfrm>
            <a:off x="3154680" y="3840480"/>
            <a:ext cx="2606040" cy="685800"/>
          </a:xfrm>
          <a:prstGeom prst="rect">
            <a:avLst/>
          </a:prstGeom>
          <a:noFill/>
          <a:ln/>
        </p:spPr>
        <p:txBody>
          <a:bodyPr wrap="square" lIns="0" tIns="0" rIns="0" bIns="0" rtlCol="0" anchor="ctr"/>
          <a:lstStyle/>
          <a:p>
            <a:pPr indent="0" marL="0">
              <a:buNone/>
            </a:pPr>
            <a:r>
              <a:rPr lang="en-US" sz="1300" dirty="0">
                <a:solidFill>
                  <a:srgbClr val="CFD8EC"/>
                </a:solidFill>
                <a:latin typeface="Calibri" pitchFamily="34" charset="0"/>
                <a:ea typeface="Calibri" pitchFamily="34" charset="-122"/>
                <a:cs typeface="Calibri" pitchFamily="34" charset="-120"/>
              </a:rPr>
              <a:t>[ Realistic reach after a pilot ]</a:t>
            </a:r>
            <a:endParaRPr lang="en-US" sz="1300" dirty="0"/>
          </a:p>
        </p:txBody>
      </p:sp>
      <p:sp>
        <p:nvSpPr>
          <p:cNvPr id="17" name="Shape 15"/>
          <p:cNvSpPr/>
          <p:nvPr/>
        </p:nvSpPr>
        <p:spPr>
          <a:xfrm>
            <a:off x="914400" y="4846320"/>
            <a:ext cx="5029200" cy="1005840"/>
          </a:xfrm>
          <a:prstGeom prst="roundRect">
            <a:avLst>
              <a:gd name="adj" fmla="val 9091"/>
            </a:avLst>
          </a:prstGeom>
          <a:solidFill>
            <a:srgbClr val="2E8B8B"/>
          </a:solidFill>
          <a:ln/>
        </p:spPr>
      </p:sp>
      <p:sp>
        <p:nvSpPr>
          <p:cNvPr id="18" name="Text 16"/>
          <p:cNvSpPr txBox="1"/>
          <p:nvPr/>
        </p:nvSpPr>
        <p:spPr>
          <a:xfrm>
            <a:off x="1170432" y="4974336"/>
            <a:ext cx="1828800" cy="274320"/>
          </a:xfrm>
          <a:prstGeom prst="rect">
            <a:avLst/>
          </a:prstGeom>
          <a:noFill/>
          <a:ln/>
        </p:spPr>
        <p:txBody>
          <a:bodyPr wrap="square" lIns="0" tIns="0" rIns="0" bIns="0" rtlCol="0" anchor="ctr"/>
          <a:lstStyle/>
          <a:p>
            <a:pPr indent="0" marL="0">
              <a:buNone/>
            </a:pPr>
            <a:r>
              <a:rPr lang="en-US" sz="1100" b="1" spc="150" kern="0" dirty="0">
                <a:solidFill>
                  <a:srgbClr val="FFFFFF"/>
                </a:solidFill>
                <a:latin typeface="Calibri" pitchFamily="34" charset="0"/>
                <a:ea typeface="Calibri" pitchFamily="34" charset="-122"/>
                <a:cs typeface="Calibri" pitchFamily="34" charset="-120"/>
              </a:rPr>
              <a:t>AT SCALE</a:t>
            </a:r>
            <a:endParaRPr lang="en-US" sz="1100" dirty="0"/>
          </a:p>
        </p:txBody>
      </p:sp>
      <p:sp>
        <p:nvSpPr>
          <p:cNvPr id="19" name="Text 17"/>
          <p:cNvSpPr txBox="1"/>
          <p:nvPr/>
        </p:nvSpPr>
        <p:spPr>
          <a:xfrm>
            <a:off x="1170432" y="5248656"/>
            <a:ext cx="1828800" cy="45720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[ 00,000+ ]</a:t>
            </a:r>
            <a:endParaRPr lang="en-US" sz="2400" dirty="0"/>
          </a:p>
        </p:txBody>
      </p:sp>
      <p:sp>
        <p:nvSpPr>
          <p:cNvPr id="20" name="Text 18"/>
          <p:cNvSpPr txBox="1"/>
          <p:nvPr/>
        </p:nvSpPr>
        <p:spPr>
          <a:xfrm>
            <a:off x="3154680" y="5029200"/>
            <a:ext cx="2606040" cy="685800"/>
          </a:xfrm>
          <a:prstGeom prst="rect">
            <a:avLst/>
          </a:prstGeom>
          <a:noFill/>
          <a:ln/>
        </p:spPr>
        <p:txBody>
          <a:bodyPr wrap="square" lIns="0" tIns="0" rIns="0" bIns="0" rtlCol="0" anchor="ctr"/>
          <a:lstStyle/>
          <a:p>
            <a:pPr indent="0" marL="0">
              <a:buNone/>
            </a:pPr>
            <a:r>
              <a:rPr lang="en-US" sz="1300" dirty="0">
                <a:solidFill>
                  <a:srgbClr val="CFD8EC"/>
                </a:solidFill>
                <a:latin typeface="Calibri" pitchFamily="34" charset="0"/>
                <a:ea typeface="Calibri" pitchFamily="34" charset="-122"/>
                <a:cs typeface="Calibri" pitchFamily="34" charset="-120"/>
              </a:rPr>
              <a:t>[ Ceiling if it works across the region ]</a:t>
            </a:r>
            <a:endParaRPr lang="en-US" sz="1300" dirty="0"/>
          </a:p>
        </p:txBody>
      </p:sp>
      <p:sp>
        <p:nvSpPr>
          <p:cNvPr id="21" name="Shape 19"/>
          <p:cNvSpPr/>
          <p:nvPr/>
        </p:nvSpPr>
        <p:spPr>
          <a:xfrm>
            <a:off x="6537960" y="1874520"/>
            <a:ext cx="4983480" cy="4160520"/>
          </a:xfrm>
          <a:prstGeom prst="roundRect">
            <a:avLst>
              <a:gd name="adj" fmla="val 2637"/>
            </a:avLst>
          </a:prstGeom>
          <a:solidFill>
            <a:srgbClr val="F3F5FA"/>
          </a:solidFill>
          <a:ln w="12700">
            <a:solidFill>
              <a:srgbClr val="F3F5FA"/>
            </a:solidFill>
            <a:prstDash val="solid"/>
          </a:ln>
          <a:effectLst>
            <a:outerShdw sx="100000" sy="100000" kx="0" ky="0" algn="bl" rotWithShape="0" blurRad="127000" dist="25400" dir="5400000">
              <a:srgbClr val="9AA5BD">
                <a:alpha val="25000"/>
              </a:srgbClr>
            </a:outerShdw>
          </a:effectLst>
        </p:spPr>
      </p:sp>
      <p:sp>
        <p:nvSpPr>
          <p:cNvPr id="22" name="Text 20"/>
          <p:cNvSpPr txBox="1"/>
          <p:nvPr/>
        </p:nvSpPr>
        <p:spPr>
          <a:xfrm>
            <a:off x="6812280" y="2103120"/>
            <a:ext cx="4389120" cy="274320"/>
          </a:xfrm>
          <a:prstGeom prst="rect">
            <a:avLst/>
          </a:prstGeom>
          <a:noFill/>
          <a:ln/>
        </p:spPr>
        <p:txBody>
          <a:bodyPr wrap="square" lIns="0" tIns="0" rIns="0" bIns="0" rtlCol="0" anchor="ctr"/>
          <a:lstStyle/>
          <a:p>
            <a:pPr indent="0" marL="0">
              <a:buNone/>
            </a:pPr>
            <a:r>
              <a:rPr lang="en-US" sz="1200" b="1" spc="150" kern="0" dirty="0">
                <a:solidFill>
                  <a:srgbClr val="C8102E"/>
                </a:solidFill>
                <a:latin typeface="Calibri" pitchFamily="34" charset="0"/>
                <a:ea typeface="Calibri" pitchFamily="34" charset="-122"/>
                <a:cs typeface="Calibri" pitchFamily="34" charset="-120"/>
              </a:rPr>
              <a:t>SDG ALIGNMENT</a:t>
            </a:r>
            <a:endParaRPr lang="en-US" sz="1200" dirty="0"/>
          </a:p>
        </p:txBody>
      </p:sp>
      <p:sp>
        <p:nvSpPr>
          <p:cNvPr id="23" name="Shape 21"/>
          <p:cNvSpPr/>
          <p:nvPr/>
        </p:nvSpPr>
        <p:spPr>
          <a:xfrm>
            <a:off x="6812280" y="2514600"/>
            <a:ext cx="4434840" cy="1188720"/>
          </a:xfrm>
          <a:prstGeom prst="roundRect">
            <a:avLst>
              <a:gd name="adj" fmla="val 7692"/>
            </a:avLst>
          </a:prstGeom>
          <a:solidFill>
            <a:srgbClr val="E7EBF4"/>
          </a:solidFill>
          <a:ln/>
        </p:spPr>
      </p:sp>
      <p:sp>
        <p:nvSpPr>
          <p:cNvPr id="24" name="Shape 22"/>
          <p:cNvSpPr/>
          <p:nvPr/>
        </p:nvSpPr>
        <p:spPr>
          <a:xfrm>
            <a:off x="7040880" y="2807208"/>
            <a:ext cx="566928" cy="566928"/>
          </a:xfrm>
          <a:prstGeom prst="ellipse">
            <a:avLst/>
          </a:prstGeom>
          <a:solidFill>
            <a:srgbClr val="2E8B8B"/>
          </a:solidFill>
          <a:ln/>
        </p:spPr>
      </p:sp>
      <p:sp>
        <p:nvSpPr>
          <p:cNvPr id="25" name="Text 23"/>
          <p:cNvSpPr txBox="1"/>
          <p:nvPr/>
        </p:nvSpPr>
        <p:spPr>
          <a:xfrm>
            <a:off x="7040880" y="280720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00</a:t>
            </a:r>
            <a:endParaRPr lang="en-US" sz="1800" dirty="0"/>
          </a:p>
        </p:txBody>
      </p:sp>
      <p:sp>
        <p:nvSpPr>
          <p:cNvPr id="26" name="Text 24"/>
          <p:cNvSpPr txBox="1"/>
          <p:nvPr/>
        </p:nvSpPr>
        <p:spPr>
          <a:xfrm>
            <a:off x="7726680" y="2715768"/>
            <a:ext cx="3383280" cy="320040"/>
          </a:xfrm>
          <a:prstGeom prst="rect">
            <a:avLst/>
          </a:prstGeom>
          <a:noFill/>
          <a:ln/>
        </p:spPr>
        <p:txBody>
          <a:bodyPr wrap="square" lIns="0" tIns="0" rIns="0" bIns="0" rtlCol="0" anchor="ctr"/>
          <a:lstStyle/>
          <a:p>
            <a:pPr indent="0" marL="0">
              <a:buNone/>
            </a:pPr>
            <a:r>
              <a:rPr lang="en-US" sz="1600" b="1" dirty="0">
                <a:solidFill>
                  <a:srgbClr val="0E1F44"/>
                </a:solidFill>
                <a:latin typeface="Arial" pitchFamily="34" charset="0"/>
                <a:ea typeface="Arial" pitchFamily="34" charset="-122"/>
                <a:cs typeface="Arial" pitchFamily="34" charset="-120"/>
              </a:rPr>
              <a:t>[ SDG name ]</a:t>
            </a:r>
            <a:endParaRPr lang="en-US" sz="1600" dirty="0"/>
          </a:p>
        </p:txBody>
      </p:sp>
      <p:sp>
        <p:nvSpPr>
          <p:cNvPr id="27" name="Text 25"/>
          <p:cNvSpPr txBox="1"/>
          <p:nvPr/>
        </p:nvSpPr>
        <p:spPr>
          <a:xfrm>
            <a:off x="7726680" y="3035808"/>
            <a:ext cx="3383280" cy="594360"/>
          </a:xfrm>
          <a:prstGeom prst="rect">
            <a:avLst/>
          </a:prstGeom>
          <a:noFill/>
          <a:ln/>
        </p:spPr>
        <p:txBody>
          <a:bodyPr wrap="square" lIns="0" tIns="0" rIns="0" bIns="0" rtlCol="0" anchor="t"/>
          <a:lstStyle/>
          <a:p>
            <a:pPr indent="0" marL="0">
              <a:buNone/>
            </a:pPr>
            <a:r>
              <a:rPr lang="en-US" sz="1200" dirty="0">
                <a:solidFill>
                  <a:srgbClr val="5B6780"/>
                </a:solidFill>
                <a:latin typeface="Calibri" pitchFamily="34" charset="0"/>
                <a:ea typeface="Calibri" pitchFamily="34" charset="-122"/>
                <a:cs typeface="Calibri" pitchFamily="34" charset="-120"/>
              </a:rPr>
              <a:t>[ The specific target you advance, and how you would measure it ]</a:t>
            </a:r>
            <a:endParaRPr lang="en-US" sz="1200" dirty="0"/>
          </a:p>
        </p:txBody>
      </p:sp>
      <p:sp>
        <p:nvSpPr>
          <p:cNvPr id="28" name="Shape 26"/>
          <p:cNvSpPr/>
          <p:nvPr/>
        </p:nvSpPr>
        <p:spPr>
          <a:xfrm>
            <a:off x="6812280" y="3886200"/>
            <a:ext cx="4434840" cy="1188720"/>
          </a:xfrm>
          <a:prstGeom prst="roundRect">
            <a:avLst>
              <a:gd name="adj" fmla="val 7692"/>
            </a:avLst>
          </a:prstGeom>
          <a:solidFill>
            <a:srgbClr val="E7EBF4"/>
          </a:solidFill>
          <a:ln/>
        </p:spPr>
      </p:sp>
      <p:sp>
        <p:nvSpPr>
          <p:cNvPr id="29" name="Shape 27"/>
          <p:cNvSpPr/>
          <p:nvPr/>
        </p:nvSpPr>
        <p:spPr>
          <a:xfrm>
            <a:off x="7040880" y="4178808"/>
            <a:ext cx="566928" cy="566928"/>
          </a:xfrm>
          <a:prstGeom prst="ellipse">
            <a:avLst/>
          </a:prstGeom>
          <a:solidFill>
            <a:srgbClr val="17305E"/>
          </a:solidFill>
          <a:ln/>
        </p:spPr>
      </p:sp>
      <p:sp>
        <p:nvSpPr>
          <p:cNvPr id="30" name="Text 28"/>
          <p:cNvSpPr txBox="1"/>
          <p:nvPr/>
        </p:nvSpPr>
        <p:spPr>
          <a:xfrm>
            <a:off x="7040880" y="417880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00</a:t>
            </a:r>
            <a:endParaRPr lang="en-US" sz="1800" dirty="0"/>
          </a:p>
        </p:txBody>
      </p:sp>
      <p:sp>
        <p:nvSpPr>
          <p:cNvPr id="31" name="Text 29"/>
          <p:cNvSpPr txBox="1"/>
          <p:nvPr/>
        </p:nvSpPr>
        <p:spPr>
          <a:xfrm>
            <a:off x="7726680" y="4087368"/>
            <a:ext cx="3383280" cy="320040"/>
          </a:xfrm>
          <a:prstGeom prst="rect">
            <a:avLst/>
          </a:prstGeom>
          <a:noFill/>
          <a:ln/>
        </p:spPr>
        <p:txBody>
          <a:bodyPr wrap="square" lIns="0" tIns="0" rIns="0" bIns="0" rtlCol="0" anchor="ctr"/>
          <a:lstStyle/>
          <a:p>
            <a:pPr indent="0" marL="0">
              <a:buNone/>
            </a:pPr>
            <a:r>
              <a:rPr lang="en-US" sz="1600" b="1" dirty="0">
                <a:solidFill>
                  <a:srgbClr val="0E1F44"/>
                </a:solidFill>
                <a:latin typeface="Arial" pitchFamily="34" charset="0"/>
                <a:ea typeface="Arial" pitchFamily="34" charset="-122"/>
                <a:cs typeface="Arial" pitchFamily="34" charset="-120"/>
              </a:rPr>
              <a:t>[ SDG name ]</a:t>
            </a:r>
            <a:endParaRPr lang="en-US" sz="1600" dirty="0"/>
          </a:p>
        </p:txBody>
      </p:sp>
      <p:sp>
        <p:nvSpPr>
          <p:cNvPr id="32" name="Text 30"/>
          <p:cNvSpPr txBox="1"/>
          <p:nvPr/>
        </p:nvSpPr>
        <p:spPr>
          <a:xfrm>
            <a:off x="7726680" y="4407408"/>
            <a:ext cx="3383280" cy="594360"/>
          </a:xfrm>
          <a:prstGeom prst="rect">
            <a:avLst/>
          </a:prstGeom>
          <a:noFill/>
          <a:ln/>
        </p:spPr>
        <p:txBody>
          <a:bodyPr wrap="square" lIns="0" tIns="0" rIns="0" bIns="0" rtlCol="0" anchor="t"/>
          <a:lstStyle/>
          <a:p>
            <a:pPr indent="0" marL="0">
              <a:buNone/>
            </a:pPr>
            <a:r>
              <a:rPr lang="en-US" sz="1200" dirty="0">
                <a:solidFill>
                  <a:srgbClr val="5B6780"/>
                </a:solidFill>
                <a:latin typeface="Calibri" pitchFamily="34" charset="0"/>
                <a:ea typeface="Calibri" pitchFamily="34" charset="-122"/>
                <a:cs typeface="Calibri" pitchFamily="34" charset="-120"/>
              </a:rPr>
              <a:t>[ A second goal, only if the link is genuine and measurable ]</a:t>
            </a:r>
            <a:endParaRPr lang="en-US" sz="1200" dirty="0"/>
          </a:p>
        </p:txBody>
      </p:sp>
      <p:sp>
        <p:nvSpPr>
          <p:cNvPr id="33" name="Shape 31"/>
          <p:cNvSpPr/>
          <p:nvPr/>
        </p:nvSpPr>
        <p:spPr>
          <a:xfrm>
            <a:off x="6812280" y="5257800"/>
            <a:ext cx="4434840" cy="594360"/>
          </a:xfrm>
          <a:prstGeom prst="roundRect">
            <a:avLst>
              <a:gd name="adj" fmla="val 15385"/>
            </a:avLst>
          </a:prstGeom>
          <a:solidFill>
            <a:srgbClr val="0E1F44"/>
          </a:solidFill>
          <a:ln/>
        </p:spPr>
      </p:sp>
      <p:sp>
        <p:nvSpPr>
          <p:cNvPr id="34" name="Text 32"/>
          <p:cNvSpPr txBox="1"/>
          <p:nvPr/>
        </p:nvSpPr>
        <p:spPr>
          <a:xfrm>
            <a:off x="6995160" y="5257800"/>
            <a:ext cx="4114800" cy="594360"/>
          </a:xfrm>
          <a:prstGeom prst="rect">
            <a:avLst/>
          </a:prstGeom>
          <a:noFill/>
          <a:ln/>
        </p:spPr>
        <p:txBody>
          <a:bodyPr wrap="square" lIns="0" tIns="0" rIns="0" bIns="0" rtlCol="0" anchor="ctr"/>
          <a:lstStyle/>
          <a:p>
            <a:pPr indent="0" marL="0">
              <a:buNone/>
            </a:pPr>
            <a:r>
              <a:rPr lang="en-US" sz="1200" i="1" dirty="0">
                <a:solidFill>
                  <a:srgbClr val="FFFFFF"/>
                </a:solidFill>
                <a:latin typeface="Calibri" pitchFamily="34" charset="0"/>
                <a:ea typeface="Calibri" pitchFamily="34" charset="-122"/>
                <a:cs typeface="Calibri" pitchFamily="34" charset="-120"/>
              </a:rPr>
              <a:t>Be specific: name the SDG target number, not just the goal.</a:t>
            </a:r>
            <a:endParaRPr lang="en-US" sz="1200" dirty="0"/>
          </a:p>
        </p:txBody>
      </p:sp>
      <p:sp>
        <p:nvSpPr>
          <p:cNvPr id="35" name="Text 33"/>
          <p:cNvSpPr txBox="1"/>
          <p:nvPr/>
        </p:nvSpPr>
        <p:spPr>
          <a:xfrm>
            <a:off x="640080" y="6327648"/>
            <a:ext cx="6400800" cy="274320"/>
          </a:xfrm>
          <a:prstGeom prst="rect">
            <a:avLst/>
          </a:prstGeom>
          <a:noFill/>
          <a:ln/>
        </p:spPr>
        <p:txBody>
          <a:bodyPr wrap="square" lIns="0" tIns="0" rIns="0" bIns="0" rtlCol="0" anchor="ctr"/>
          <a:lstStyle/>
          <a:p>
            <a:pPr indent="0" marL="0">
              <a:buNone/>
            </a:pPr>
            <a:r>
              <a:rPr lang="en-US" sz="1000" dirty="0">
                <a:solidFill>
                  <a:srgbClr val="9AA5BD"/>
                </a:solidFill>
                <a:latin typeface="Calibri" pitchFamily="34" charset="0"/>
                <a:ea typeface="Calibri" pitchFamily="34" charset="-122"/>
                <a:cs typeface="Calibri" pitchFamily="34" charset="-120"/>
              </a:rPr>
              <a:t>HACK4AFRICA 2026  |  Africa University</a:t>
            </a:r>
            <a:endParaRPr lang="en-US" sz="1000" dirty="0"/>
          </a:p>
        </p:txBody>
      </p:sp>
      <p:sp>
        <p:nvSpPr>
          <p:cNvPr id="36" name="Text 34"/>
          <p:cNvSpPr txBox="1"/>
          <p:nvPr/>
        </p:nvSpPr>
        <p:spPr>
          <a:xfrm>
            <a:off x="10972800" y="6327648"/>
            <a:ext cx="548640" cy="274320"/>
          </a:xfrm>
          <a:prstGeom prst="rect">
            <a:avLst/>
          </a:prstGeom>
          <a:noFill/>
          <a:ln/>
        </p:spPr>
        <p:txBody>
          <a:bodyPr wrap="square" lIns="0" tIns="0" rIns="0" bIns="0" rtlCol="0" anchor="ctr"/>
          <a:lstStyle/>
          <a:p>
            <a:pPr algn="r" indent="0" marL="0">
              <a:buNone/>
            </a:pPr>
            <a:r>
              <a:rPr lang="en-US" sz="1000" dirty="0">
                <a:solidFill>
                  <a:srgbClr val="9AA5BD"/>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881360" y="-1371600"/>
            <a:ext cx="2926080" cy="2926080"/>
          </a:xfrm>
          <a:prstGeom prst="ellipse">
            <a:avLst/>
          </a:prstGeom>
          <a:solidFill>
            <a:srgbClr val="F3F5FA"/>
          </a:solidFill>
          <a:ln/>
        </p:spPr>
      </p:sp>
      <p:sp>
        <p:nvSpPr>
          <p:cNvPr id="3" name="Shape 1"/>
          <p:cNvSpPr/>
          <p:nvPr/>
        </p:nvSpPr>
        <p:spPr>
          <a:xfrm>
            <a:off x="640080" y="475488"/>
            <a:ext cx="201168" cy="201168"/>
          </a:xfrm>
          <a:prstGeom prst="ellipse">
            <a:avLst/>
          </a:prstGeom>
          <a:solidFill>
            <a:srgbClr val="C8102E"/>
          </a:solidFill>
          <a:ln/>
        </p:spPr>
      </p:sp>
      <p:sp>
        <p:nvSpPr>
          <p:cNvPr id="4" name="Text 2"/>
          <p:cNvSpPr txBox="1"/>
          <p:nvPr/>
        </p:nvSpPr>
        <p:spPr>
          <a:xfrm>
            <a:off x="932688" y="402336"/>
            <a:ext cx="5943600" cy="347472"/>
          </a:xfrm>
          <a:prstGeom prst="rect">
            <a:avLst/>
          </a:prstGeom>
          <a:noFill/>
          <a:ln/>
        </p:spPr>
        <p:txBody>
          <a:bodyPr wrap="square" lIns="0" tIns="0" rIns="0" bIns="0" rtlCol="0" anchor="ctr"/>
          <a:lstStyle/>
          <a:p>
            <a:pPr indent="0" marL="0">
              <a:buNone/>
            </a:pPr>
            <a:r>
              <a:rPr lang="en-US" sz="1300" b="1" spc="200" kern="0" dirty="0">
                <a:solidFill>
                  <a:srgbClr val="C8102E"/>
                </a:solidFill>
                <a:latin typeface="Calibri" pitchFamily="34" charset="0"/>
                <a:ea typeface="Calibri" pitchFamily="34" charset="-122"/>
                <a:cs typeface="Calibri" pitchFamily="34" charset="-120"/>
              </a:rPr>
              <a:t>09 — COMMERCIALIZATION</a:t>
            </a:r>
            <a:endParaRPr lang="en-US" sz="1300" dirty="0"/>
          </a:p>
        </p:txBody>
      </p:sp>
      <p:sp>
        <p:nvSpPr>
          <p:cNvPr id="5" name="Text 3"/>
          <p:cNvSpPr txBox="1"/>
          <p:nvPr/>
        </p:nvSpPr>
        <p:spPr>
          <a:xfrm>
            <a:off x="6035040" y="402336"/>
            <a:ext cx="5486400" cy="347472"/>
          </a:xfrm>
          <a:prstGeom prst="rect">
            <a:avLst/>
          </a:prstGeom>
          <a:noFill/>
          <a:ln/>
        </p:spPr>
        <p:txBody>
          <a:bodyPr wrap="square" lIns="0" tIns="0" rIns="0" bIns="0" rtlCol="0" anchor="ctr"/>
          <a:lstStyle/>
          <a:p>
            <a:pPr algn="r" indent="0" marL="0">
              <a:buNone/>
            </a:pPr>
            <a:r>
              <a:rPr lang="en-US" sz="1000" b="1" spc="100" kern="0" dirty="0">
                <a:solidFill>
                  <a:srgbClr val="9AA5BD"/>
                </a:solidFill>
                <a:latin typeface="Calibri" pitchFamily="34" charset="0"/>
                <a:ea typeface="Calibri" pitchFamily="34" charset="-122"/>
                <a:cs typeface="Calibri" pitchFamily="34" charset="-120"/>
              </a:rPr>
              <a:t>JUDGED ON  ·  7. COMMERCIALIZATION POTENTIAL</a:t>
            </a:r>
            <a:endParaRPr lang="en-US" sz="1000" dirty="0"/>
          </a:p>
        </p:txBody>
      </p:sp>
      <p:sp>
        <p:nvSpPr>
          <p:cNvPr id="6" name="Text 4"/>
          <p:cNvSpPr txBox="1"/>
          <p:nvPr/>
        </p:nvSpPr>
        <p:spPr>
          <a:xfrm>
            <a:off x="640080" y="804672"/>
            <a:ext cx="10881360" cy="777240"/>
          </a:xfrm>
          <a:prstGeom prst="rect">
            <a:avLst/>
          </a:prstGeom>
          <a:noFill/>
          <a:ln/>
        </p:spPr>
        <p:txBody>
          <a:bodyPr wrap="square" lIns="0" tIns="0" rIns="0" bIns="0" rtlCol="0" anchor="ctr"/>
          <a:lstStyle/>
          <a:p>
            <a:pPr indent="0" marL="0">
              <a:buNone/>
            </a:pPr>
            <a:r>
              <a:rPr lang="en-US" sz="3600" b="1" dirty="0">
                <a:solidFill>
                  <a:srgbClr val="0E1F44"/>
                </a:solidFill>
                <a:latin typeface="Arial" pitchFamily="34" charset="0"/>
                <a:ea typeface="Arial" pitchFamily="34" charset="-122"/>
                <a:cs typeface="Arial" pitchFamily="34" charset="-120"/>
              </a:rPr>
              <a:t>Business model &amp; route to market</a:t>
            </a:r>
            <a:endParaRPr lang="en-US" sz="3600" dirty="0"/>
          </a:p>
        </p:txBody>
      </p:sp>
      <p:sp>
        <p:nvSpPr>
          <p:cNvPr id="7" name="Shape 5"/>
          <p:cNvSpPr/>
          <p:nvPr/>
        </p:nvSpPr>
        <p:spPr>
          <a:xfrm>
            <a:off x="640080" y="1874520"/>
            <a:ext cx="3429000" cy="2148840"/>
          </a:xfrm>
          <a:prstGeom prst="roundRect">
            <a:avLst>
              <a:gd name="adj" fmla="val 5106"/>
            </a:avLst>
          </a:prstGeom>
          <a:solidFill>
            <a:srgbClr val="F3F5FA"/>
          </a:solidFill>
          <a:ln w="12700">
            <a:solidFill>
              <a:srgbClr val="F3F5FA"/>
            </a:solidFill>
            <a:prstDash val="solid"/>
          </a:ln>
          <a:effectLst>
            <a:outerShdw sx="100000" sy="100000" kx="0" ky="0" algn="bl" rotWithShape="0" blurRad="127000" dist="25400" dir="5400000">
              <a:srgbClr val="9AA5BD">
                <a:alpha val="25000"/>
              </a:srgbClr>
            </a:outerShdw>
          </a:effectLst>
        </p:spPr>
      </p:sp>
      <p:sp>
        <p:nvSpPr>
          <p:cNvPr id="8" name="Shape 6"/>
          <p:cNvSpPr/>
          <p:nvPr/>
        </p:nvSpPr>
        <p:spPr>
          <a:xfrm>
            <a:off x="914400" y="2103120"/>
            <a:ext cx="457200" cy="457200"/>
          </a:xfrm>
          <a:prstGeom prst="ellipse">
            <a:avLst/>
          </a:prstGeom>
          <a:solidFill>
            <a:srgbClr val="C8102E"/>
          </a:solidFill>
          <a:ln/>
        </p:spPr>
      </p:sp>
      <p:sp>
        <p:nvSpPr>
          <p:cNvPr id="9" name="Text 7"/>
          <p:cNvSpPr txBox="1"/>
          <p:nvPr/>
        </p:nvSpPr>
        <p:spPr>
          <a:xfrm>
            <a:off x="914400" y="21031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914400" y="2606040"/>
            <a:ext cx="2880360" cy="365760"/>
          </a:xfrm>
          <a:prstGeom prst="rect">
            <a:avLst/>
          </a:prstGeom>
          <a:noFill/>
          <a:ln/>
        </p:spPr>
        <p:txBody>
          <a:bodyPr wrap="square" lIns="0" tIns="0" rIns="0" bIns="0" rtlCol="0" anchor="ctr"/>
          <a:lstStyle/>
          <a:p>
            <a:pPr indent="0" marL="0">
              <a:buNone/>
            </a:pPr>
            <a:r>
              <a:rPr lang="en-US" sz="1800" b="1" dirty="0">
                <a:solidFill>
                  <a:srgbClr val="0E1F44"/>
                </a:solidFill>
                <a:latin typeface="Arial" pitchFamily="34" charset="0"/>
                <a:ea typeface="Arial" pitchFamily="34" charset="-122"/>
                <a:cs typeface="Arial" pitchFamily="34" charset="-120"/>
              </a:rPr>
              <a:t>Revenue model</a:t>
            </a:r>
            <a:endParaRPr lang="en-US" sz="1800" dirty="0"/>
          </a:p>
        </p:txBody>
      </p:sp>
      <p:sp>
        <p:nvSpPr>
          <p:cNvPr id="11" name="Text 9"/>
          <p:cNvSpPr txBox="1"/>
          <p:nvPr/>
        </p:nvSpPr>
        <p:spPr>
          <a:xfrm>
            <a:off x="914400" y="3017520"/>
            <a:ext cx="2880360" cy="914400"/>
          </a:xfrm>
          <a:prstGeom prst="rect">
            <a:avLst/>
          </a:prstGeom>
          <a:noFill/>
          <a:ln/>
        </p:spPr>
        <p:txBody>
          <a:bodyPr wrap="square" lIns="0" tIns="0" rIns="0" bIns="0" rtlCol="0" anchor="t"/>
          <a:lstStyle/>
          <a:p>
            <a:pPr indent="0" marL="0">
              <a:buNone/>
            </a:pPr>
            <a:r>
              <a:rPr lang="en-US" sz="1300" dirty="0">
                <a:solidFill>
                  <a:srgbClr val="5B6780"/>
                </a:solidFill>
                <a:latin typeface="Calibri" pitchFamily="34" charset="0"/>
                <a:ea typeface="Calibri" pitchFamily="34" charset="-122"/>
                <a:cs typeface="Calibri" pitchFamily="34" charset="-120"/>
              </a:rPr>
              <a:t>[ How money comes in — subscription, per-use, licensing, grant-funded, hardware margin ]</a:t>
            </a:r>
            <a:endParaRPr lang="en-US" sz="1300" dirty="0"/>
          </a:p>
        </p:txBody>
      </p:sp>
      <p:sp>
        <p:nvSpPr>
          <p:cNvPr id="12" name="Shape 10"/>
          <p:cNvSpPr/>
          <p:nvPr/>
        </p:nvSpPr>
        <p:spPr>
          <a:xfrm>
            <a:off x="4343400" y="1874520"/>
            <a:ext cx="3429000" cy="2148840"/>
          </a:xfrm>
          <a:prstGeom prst="roundRect">
            <a:avLst>
              <a:gd name="adj" fmla="val 5106"/>
            </a:avLst>
          </a:prstGeom>
          <a:solidFill>
            <a:srgbClr val="F3F5FA"/>
          </a:solidFill>
          <a:ln w="12700">
            <a:solidFill>
              <a:srgbClr val="F3F5FA"/>
            </a:solidFill>
            <a:prstDash val="solid"/>
          </a:ln>
          <a:effectLst>
            <a:outerShdw sx="100000" sy="100000" kx="0" ky="0" algn="bl" rotWithShape="0" blurRad="127000" dist="25400" dir="5400000">
              <a:srgbClr val="9AA5BD">
                <a:alpha val="25000"/>
              </a:srgbClr>
            </a:outerShdw>
          </a:effectLst>
        </p:spPr>
      </p:sp>
      <p:sp>
        <p:nvSpPr>
          <p:cNvPr id="13" name="Shape 11"/>
          <p:cNvSpPr/>
          <p:nvPr/>
        </p:nvSpPr>
        <p:spPr>
          <a:xfrm>
            <a:off x="4617720" y="2103120"/>
            <a:ext cx="457200" cy="457200"/>
          </a:xfrm>
          <a:prstGeom prst="ellipse">
            <a:avLst/>
          </a:prstGeom>
          <a:solidFill>
            <a:srgbClr val="17305E"/>
          </a:solidFill>
          <a:ln/>
        </p:spPr>
      </p:sp>
      <p:sp>
        <p:nvSpPr>
          <p:cNvPr id="14" name="Text 12"/>
          <p:cNvSpPr txBox="1"/>
          <p:nvPr/>
        </p:nvSpPr>
        <p:spPr>
          <a:xfrm>
            <a:off x="4617720" y="21031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5" name="Text 13"/>
          <p:cNvSpPr txBox="1"/>
          <p:nvPr/>
        </p:nvSpPr>
        <p:spPr>
          <a:xfrm>
            <a:off x="4617720" y="2606040"/>
            <a:ext cx="2880360" cy="365760"/>
          </a:xfrm>
          <a:prstGeom prst="rect">
            <a:avLst/>
          </a:prstGeom>
          <a:noFill/>
          <a:ln/>
        </p:spPr>
        <p:txBody>
          <a:bodyPr wrap="square" lIns="0" tIns="0" rIns="0" bIns="0" rtlCol="0" anchor="ctr"/>
          <a:lstStyle/>
          <a:p>
            <a:pPr indent="0" marL="0">
              <a:buNone/>
            </a:pPr>
            <a:r>
              <a:rPr lang="en-US" sz="1800" b="1" dirty="0">
                <a:solidFill>
                  <a:srgbClr val="0E1F44"/>
                </a:solidFill>
                <a:latin typeface="Arial" pitchFamily="34" charset="0"/>
                <a:ea typeface="Arial" pitchFamily="34" charset="-122"/>
                <a:cs typeface="Arial" pitchFamily="34" charset="-120"/>
              </a:rPr>
              <a:t>Cost to deliver</a:t>
            </a:r>
            <a:endParaRPr lang="en-US" sz="1800" dirty="0"/>
          </a:p>
        </p:txBody>
      </p:sp>
      <p:sp>
        <p:nvSpPr>
          <p:cNvPr id="16" name="Text 14"/>
          <p:cNvSpPr txBox="1"/>
          <p:nvPr/>
        </p:nvSpPr>
        <p:spPr>
          <a:xfrm>
            <a:off x="4617720" y="3017520"/>
            <a:ext cx="2880360" cy="914400"/>
          </a:xfrm>
          <a:prstGeom prst="rect">
            <a:avLst/>
          </a:prstGeom>
          <a:noFill/>
          <a:ln/>
        </p:spPr>
        <p:txBody>
          <a:bodyPr wrap="square" lIns="0" tIns="0" rIns="0" bIns="0" rtlCol="0" anchor="t"/>
          <a:lstStyle/>
          <a:p>
            <a:pPr indent="0" marL="0">
              <a:buNone/>
            </a:pPr>
            <a:r>
              <a:rPr lang="en-US" sz="1300" dirty="0">
                <a:solidFill>
                  <a:srgbClr val="5B6780"/>
                </a:solidFill>
                <a:latin typeface="Calibri" pitchFamily="34" charset="0"/>
                <a:ea typeface="Calibri" pitchFamily="34" charset="-122"/>
                <a:cs typeface="Calibri" pitchFamily="34" charset="-120"/>
              </a:rPr>
              <a:t>[ What one unit or one user costs you, and what falls as you scale ]</a:t>
            </a:r>
            <a:endParaRPr lang="en-US" sz="1300" dirty="0"/>
          </a:p>
        </p:txBody>
      </p:sp>
      <p:sp>
        <p:nvSpPr>
          <p:cNvPr id="17" name="Shape 15"/>
          <p:cNvSpPr/>
          <p:nvPr/>
        </p:nvSpPr>
        <p:spPr>
          <a:xfrm>
            <a:off x="8046720" y="1874520"/>
            <a:ext cx="3429000" cy="2148840"/>
          </a:xfrm>
          <a:prstGeom prst="roundRect">
            <a:avLst>
              <a:gd name="adj" fmla="val 5106"/>
            </a:avLst>
          </a:prstGeom>
          <a:solidFill>
            <a:srgbClr val="F3F5FA"/>
          </a:solidFill>
          <a:ln w="12700">
            <a:solidFill>
              <a:srgbClr val="F3F5FA"/>
            </a:solidFill>
            <a:prstDash val="solid"/>
          </a:ln>
          <a:effectLst>
            <a:outerShdw sx="100000" sy="100000" kx="0" ky="0" algn="bl" rotWithShape="0" blurRad="127000" dist="25400" dir="5400000">
              <a:srgbClr val="9AA5BD">
                <a:alpha val="25000"/>
              </a:srgbClr>
            </a:outerShdw>
          </a:effectLst>
        </p:spPr>
      </p:sp>
      <p:sp>
        <p:nvSpPr>
          <p:cNvPr id="18" name="Shape 16"/>
          <p:cNvSpPr/>
          <p:nvPr/>
        </p:nvSpPr>
        <p:spPr>
          <a:xfrm>
            <a:off x="8321040" y="2103120"/>
            <a:ext cx="457200" cy="457200"/>
          </a:xfrm>
          <a:prstGeom prst="ellipse">
            <a:avLst/>
          </a:prstGeom>
          <a:solidFill>
            <a:srgbClr val="2E8B8B"/>
          </a:solidFill>
          <a:ln/>
        </p:spPr>
      </p:sp>
      <p:sp>
        <p:nvSpPr>
          <p:cNvPr id="19" name="Text 17"/>
          <p:cNvSpPr txBox="1"/>
          <p:nvPr/>
        </p:nvSpPr>
        <p:spPr>
          <a:xfrm>
            <a:off x="8321040" y="21031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0" name="Text 18"/>
          <p:cNvSpPr txBox="1"/>
          <p:nvPr/>
        </p:nvSpPr>
        <p:spPr>
          <a:xfrm>
            <a:off x="8321040" y="2606040"/>
            <a:ext cx="2880360" cy="365760"/>
          </a:xfrm>
          <a:prstGeom prst="rect">
            <a:avLst/>
          </a:prstGeom>
          <a:noFill/>
          <a:ln/>
        </p:spPr>
        <p:txBody>
          <a:bodyPr wrap="square" lIns="0" tIns="0" rIns="0" bIns="0" rtlCol="0" anchor="ctr"/>
          <a:lstStyle/>
          <a:p>
            <a:pPr indent="0" marL="0">
              <a:buNone/>
            </a:pPr>
            <a:r>
              <a:rPr lang="en-US" sz="1800" b="1" dirty="0">
                <a:solidFill>
                  <a:srgbClr val="0E1F44"/>
                </a:solidFill>
                <a:latin typeface="Arial" pitchFamily="34" charset="0"/>
                <a:ea typeface="Arial" pitchFamily="34" charset="-122"/>
                <a:cs typeface="Arial" pitchFamily="34" charset="-120"/>
              </a:rPr>
              <a:t>First customers</a:t>
            </a:r>
            <a:endParaRPr lang="en-US" sz="1800" dirty="0"/>
          </a:p>
        </p:txBody>
      </p:sp>
      <p:sp>
        <p:nvSpPr>
          <p:cNvPr id="21" name="Text 19"/>
          <p:cNvSpPr txBox="1"/>
          <p:nvPr/>
        </p:nvSpPr>
        <p:spPr>
          <a:xfrm>
            <a:off x="8321040" y="3017520"/>
            <a:ext cx="2880360" cy="914400"/>
          </a:xfrm>
          <a:prstGeom prst="rect">
            <a:avLst/>
          </a:prstGeom>
          <a:noFill/>
          <a:ln/>
        </p:spPr>
        <p:txBody>
          <a:bodyPr wrap="square" lIns="0" tIns="0" rIns="0" bIns="0" rtlCol="0" anchor="t"/>
          <a:lstStyle/>
          <a:p>
            <a:pPr indent="0" marL="0">
              <a:buNone/>
            </a:pPr>
            <a:r>
              <a:rPr lang="en-US" sz="1300" dirty="0">
                <a:solidFill>
                  <a:srgbClr val="5B6780"/>
                </a:solidFill>
                <a:latin typeface="Calibri" pitchFamily="34" charset="0"/>
                <a:ea typeface="Calibri" pitchFamily="34" charset="-122"/>
                <a:cs typeface="Calibri" pitchFamily="34" charset="-120"/>
              </a:rPr>
              <a:t>[ Who pays first — clinics, farmers, councils, schools, a ministry ]</a:t>
            </a:r>
            <a:endParaRPr lang="en-US" sz="1300" dirty="0"/>
          </a:p>
        </p:txBody>
      </p:sp>
      <p:sp>
        <p:nvSpPr>
          <p:cNvPr id="22" name="Text 20"/>
          <p:cNvSpPr txBox="1"/>
          <p:nvPr/>
        </p:nvSpPr>
        <p:spPr>
          <a:xfrm>
            <a:off x="640080" y="4206240"/>
            <a:ext cx="7315200" cy="320040"/>
          </a:xfrm>
          <a:prstGeom prst="rect">
            <a:avLst/>
          </a:prstGeom>
          <a:noFill/>
          <a:ln/>
        </p:spPr>
        <p:txBody>
          <a:bodyPr wrap="square" lIns="0" tIns="0" rIns="0" bIns="0" rtlCol="0" anchor="ctr"/>
          <a:lstStyle/>
          <a:p>
            <a:pPr indent="0" marL="0">
              <a:buNone/>
            </a:pPr>
            <a:r>
              <a:rPr lang="en-US" sz="1200" b="1" spc="150" kern="0" dirty="0">
                <a:solidFill>
                  <a:srgbClr val="C8102E"/>
                </a:solidFill>
                <a:latin typeface="Calibri" pitchFamily="34" charset="0"/>
                <a:ea typeface="Calibri" pitchFamily="34" charset="-122"/>
                <a:cs typeface="Calibri" pitchFamily="34" charset="-120"/>
              </a:rPr>
              <a:t>ROADMAP BEYOND THE HACKATHON</a:t>
            </a:r>
            <a:endParaRPr lang="en-US" sz="1200" dirty="0"/>
          </a:p>
        </p:txBody>
      </p:sp>
      <p:sp>
        <p:nvSpPr>
          <p:cNvPr id="23" name="Shape 21"/>
          <p:cNvSpPr/>
          <p:nvPr/>
        </p:nvSpPr>
        <p:spPr>
          <a:xfrm>
            <a:off x="640080" y="4617720"/>
            <a:ext cx="3429000" cy="1280160"/>
          </a:xfrm>
          <a:prstGeom prst="roundRect">
            <a:avLst>
              <a:gd name="adj" fmla="val 7143"/>
            </a:avLst>
          </a:prstGeom>
          <a:solidFill>
            <a:srgbClr val="E7EBF4"/>
          </a:solidFill>
          <a:ln/>
        </p:spPr>
      </p:sp>
      <p:sp>
        <p:nvSpPr>
          <p:cNvPr id="24" name="Shape 22"/>
          <p:cNvSpPr/>
          <p:nvPr/>
        </p:nvSpPr>
        <p:spPr>
          <a:xfrm>
            <a:off x="896112" y="4800600"/>
            <a:ext cx="1600200" cy="347472"/>
          </a:xfrm>
          <a:prstGeom prst="roundRect">
            <a:avLst>
              <a:gd name="adj" fmla="val 44737"/>
            </a:avLst>
          </a:prstGeom>
          <a:solidFill>
            <a:srgbClr val="C8102E"/>
          </a:solidFill>
          <a:ln/>
        </p:spPr>
      </p:sp>
      <p:sp>
        <p:nvSpPr>
          <p:cNvPr id="25" name="Text 23"/>
          <p:cNvSpPr txBox="1"/>
          <p:nvPr/>
        </p:nvSpPr>
        <p:spPr>
          <a:xfrm>
            <a:off x="896112" y="4800600"/>
            <a:ext cx="1600200" cy="347472"/>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NOW</a:t>
            </a:r>
            <a:endParaRPr lang="en-US" sz="1100" dirty="0"/>
          </a:p>
        </p:txBody>
      </p:sp>
      <p:sp>
        <p:nvSpPr>
          <p:cNvPr id="26" name="Text 24"/>
          <p:cNvSpPr txBox="1"/>
          <p:nvPr/>
        </p:nvSpPr>
        <p:spPr>
          <a:xfrm>
            <a:off x="896112" y="5212080"/>
            <a:ext cx="2926080" cy="548640"/>
          </a:xfrm>
          <a:prstGeom prst="rect">
            <a:avLst/>
          </a:prstGeom>
          <a:noFill/>
          <a:ln/>
        </p:spPr>
        <p:txBody>
          <a:bodyPr wrap="square" lIns="0" tIns="0" rIns="0" bIns="0" rtlCol="0" anchor="t"/>
          <a:lstStyle/>
          <a:p>
            <a:pPr indent="0" marL="0">
              <a:buNone/>
            </a:pPr>
            <a:r>
              <a:rPr lang="en-US" sz="1300" dirty="0">
                <a:solidFill>
                  <a:srgbClr val="0E1F44"/>
                </a:solidFill>
                <a:latin typeface="Calibri" pitchFamily="34" charset="0"/>
                <a:ea typeface="Calibri" pitchFamily="34" charset="-122"/>
                <a:cs typeface="Calibri" pitchFamily="34" charset="-120"/>
              </a:rPr>
              <a:t>[ Fixes, pilot users, mentorship needed ]</a:t>
            </a:r>
            <a:endParaRPr lang="en-US" sz="1300" dirty="0"/>
          </a:p>
        </p:txBody>
      </p:sp>
      <p:sp>
        <p:nvSpPr>
          <p:cNvPr id="27" name="Shape 25"/>
          <p:cNvSpPr/>
          <p:nvPr/>
        </p:nvSpPr>
        <p:spPr>
          <a:xfrm>
            <a:off x="4343400" y="4617720"/>
            <a:ext cx="3429000" cy="1280160"/>
          </a:xfrm>
          <a:prstGeom prst="roundRect">
            <a:avLst>
              <a:gd name="adj" fmla="val 7143"/>
            </a:avLst>
          </a:prstGeom>
          <a:solidFill>
            <a:srgbClr val="E7EBF4"/>
          </a:solidFill>
          <a:ln/>
        </p:spPr>
      </p:sp>
      <p:sp>
        <p:nvSpPr>
          <p:cNvPr id="28" name="Shape 26"/>
          <p:cNvSpPr/>
          <p:nvPr/>
        </p:nvSpPr>
        <p:spPr>
          <a:xfrm>
            <a:off x="4599432" y="4800600"/>
            <a:ext cx="1600200" cy="347472"/>
          </a:xfrm>
          <a:prstGeom prst="roundRect">
            <a:avLst>
              <a:gd name="adj" fmla="val 44737"/>
            </a:avLst>
          </a:prstGeom>
          <a:solidFill>
            <a:srgbClr val="17305E"/>
          </a:solidFill>
          <a:ln/>
        </p:spPr>
      </p:sp>
      <p:sp>
        <p:nvSpPr>
          <p:cNvPr id="29" name="Text 27"/>
          <p:cNvSpPr txBox="1"/>
          <p:nvPr/>
        </p:nvSpPr>
        <p:spPr>
          <a:xfrm>
            <a:off x="4599432" y="4800600"/>
            <a:ext cx="1600200" cy="347472"/>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3 MONTHS</a:t>
            </a:r>
            <a:endParaRPr lang="en-US" sz="1100" dirty="0"/>
          </a:p>
        </p:txBody>
      </p:sp>
      <p:sp>
        <p:nvSpPr>
          <p:cNvPr id="30" name="Text 28"/>
          <p:cNvSpPr txBox="1"/>
          <p:nvPr/>
        </p:nvSpPr>
        <p:spPr>
          <a:xfrm>
            <a:off x="4599432" y="5212080"/>
            <a:ext cx="2926080" cy="548640"/>
          </a:xfrm>
          <a:prstGeom prst="rect">
            <a:avLst/>
          </a:prstGeom>
          <a:noFill/>
          <a:ln/>
        </p:spPr>
        <p:txBody>
          <a:bodyPr wrap="square" lIns="0" tIns="0" rIns="0" bIns="0" rtlCol="0" anchor="t"/>
          <a:lstStyle/>
          <a:p>
            <a:pPr indent="0" marL="0">
              <a:buNone/>
            </a:pPr>
            <a:r>
              <a:rPr lang="en-US" sz="1300" dirty="0">
                <a:solidFill>
                  <a:srgbClr val="0E1F44"/>
                </a:solidFill>
                <a:latin typeface="Calibri" pitchFamily="34" charset="0"/>
                <a:ea typeface="Calibri" pitchFamily="34" charset="-122"/>
                <a:cs typeface="Calibri" pitchFamily="34" charset="-120"/>
              </a:rPr>
              <a:t>[ Where you pilot, with whom, at what scale ]</a:t>
            </a:r>
            <a:endParaRPr lang="en-US" sz="1300" dirty="0"/>
          </a:p>
        </p:txBody>
      </p:sp>
      <p:sp>
        <p:nvSpPr>
          <p:cNvPr id="31" name="Shape 29"/>
          <p:cNvSpPr/>
          <p:nvPr/>
        </p:nvSpPr>
        <p:spPr>
          <a:xfrm>
            <a:off x="8046720" y="4617720"/>
            <a:ext cx="3429000" cy="1280160"/>
          </a:xfrm>
          <a:prstGeom prst="roundRect">
            <a:avLst>
              <a:gd name="adj" fmla="val 7143"/>
            </a:avLst>
          </a:prstGeom>
          <a:solidFill>
            <a:srgbClr val="E7EBF4"/>
          </a:solidFill>
          <a:ln/>
        </p:spPr>
      </p:sp>
      <p:sp>
        <p:nvSpPr>
          <p:cNvPr id="32" name="Shape 30"/>
          <p:cNvSpPr/>
          <p:nvPr/>
        </p:nvSpPr>
        <p:spPr>
          <a:xfrm>
            <a:off x="8302752" y="4800600"/>
            <a:ext cx="1600200" cy="347472"/>
          </a:xfrm>
          <a:prstGeom prst="roundRect">
            <a:avLst>
              <a:gd name="adj" fmla="val 44737"/>
            </a:avLst>
          </a:prstGeom>
          <a:solidFill>
            <a:srgbClr val="2E8B8B"/>
          </a:solidFill>
          <a:ln/>
        </p:spPr>
      </p:sp>
      <p:sp>
        <p:nvSpPr>
          <p:cNvPr id="33" name="Text 31"/>
          <p:cNvSpPr txBox="1"/>
          <p:nvPr/>
        </p:nvSpPr>
        <p:spPr>
          <a:xfrm>
            <a:off x="8302752" y="4800600"/>
            <a:ext cx="1600200" cy="347472"/>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12 MONTHS</a:t>
            </a:r>
            <a:endParaRPr lang="en-US" sz="1100" dirty="0"/>
          </a:p>
        </p:txBody>
      </p:sp>
      <p:sp>
        <p:nvSpPr>
          <p:cNvPr id="34" name="Text 32"/>
          <p:cNvSpPr txBox="1"/>
          <p:nvPr/>
        </p:nvSpPr>
        <p:spPr>
          <a:xfrm>
            <a:off x="8302752" y="5212080"/>
            <a:ext cx="2926080" cy="548640"/>
          </a:xfrm>
          <a:prstGeom prst="rect">
            <a:avLst/>
          </a:prstGeom>
          <a:noFill/>
          <a:ln/>
        </p:spPr>
        <p:txBody>
          <a:bodyPr wrap="square" lIns="0" tIns="0" rIns="0" bIns="0" rtlCol="0" anchor="t"/>
          <a:lstStyle/>
          <a:p>
            <a:pPr indent="0" marL="0">
              <a:buNone/>
            </a:pPr>
            <a:r>
              <a:rPr lang="en-US" sz="1300" dirty="0">
                <a:solidFill>
                  <a:srgbClr val="0E1F44"/>
                </a:solidFill>
                <a:latin typeface="Calibri" pitchFamily="34" charset="0"/>
                <a:ea typeface="Calibri" pitchFamily="34" charset="-122"/>
                <a:cs typeface="Calibri" pitchFamily="34" charset="-120"/>
              </a:rPr>
              <a:t>[ Partners, funding, expansion plan ]</a:t>
            </a:r>
            <a:endParaRPr lang="en-US" sz="1300" dirty="0"/>
          </a:p>
        </p:txBody>
      </p:sp>
      <p:sp>
        <p:nvSpPr>
          <p:cNvPr id="35" name="Text 33"/>
          <p:cNvSpPr txBox="1"/>
          <p:nvPr/>
        </p:nvSpPr>
        <p:spPr>
          <a:xfrm>
            <a:off x="640080" y="6327648"/>
            <a:ext cx="6400800" cy="274320"/>
          </a:xfrm>
          <a:prstGeom prst="rect">
            <a:avLst/>
          </a:prstGeom>
          <a:noFill/>
          <a:ln/>
        </p:spPr>
        <p:txBody>
          <a:bodyPr wrap="square" lIns="0" tIns="0" rIns="0" bIns="0" rtlCol="0" anchor="ctr"/>
          <a:lstStyle/>
          <a:p>
            <a:pPr indent="0" marL="0">
              <a:buNone/>
            </a:pPr>
            <a:r>
              <a:rPr lang="en-US" sz="1000" dirty="0">
                <a:solidFill>
                  <a:srgbClr val="9AA5BD"/>
                </a:solidFill>
                <a:latin typeface="Calibri" pitchFamily="34" charset="0"/>
                <a:ea typeface="Calibri" pitchFamily="34" charset="-122"/>
                <a:cs typeface="Calibri" pitchFamily="34" charset="-120"/>
              </a:rPr>
              <a:t>HACK4AFRICA 2026  |  Africa University</a:t>
            </a:r>
            <a:endParaRPr lang="en-US" sz="1000" dirty="0"/>
          </a:p>
        </p:txBody>
      </p:sp>
      <p:sp>
        <p:nvSpPr>
          <p:cNvPr id="36" name="Text 34"/>
          <p:cNvSpPr txBox="1"/>
          <p:nvPr/>
        </p:nvSpPr>
        <p:spPr>
          <a:xfrm>
            <a:off x="10972800" y="6327648"/>
            <a:ext cx="548640" cy="274320"/>
          </a:xfrm>
          <a:prstGeom prst="rect">
            <a:avLst/>
          </a:prstGeom>
          <a:noFill/>
          <a:ln/>
        </p:spPr>
        <p:txBody>
          <a:bodyPr wrap="square" lIns="0" tIns="0" rIns="0" bIns="0" rtlCol="0" anchor="ctr"/>
          <a:lstStyle/>
          <a:p>
            <a:pPr algn="r" indent="0" marL="0">
              <a:buNone/>
            </a:pPr>
            <a:r>
              <a:rPr lang="en-US" sz="1000" dirty="0">
                <a:solidFill>
                  <a:srgbClr val="9AA5BD"/>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F44"/>
        </a:solidFill>
      </p:bgPr>
    </p:bg>
    <p:spTree>
      <p:nvGrpSpPr>
        <p:cNvPr id="1" name=""/>
        <p:cNvGrpSpPr/>
        <p:nvPr/>
      </p:nvGrpSpPr>
      <p:grpSpPr>
        <a:xfrm>
          <a:off x="0" y="0"/>
          <a:ext cx="0" cy="0"/>
          <a:chOff x="0" y="0"/>
          <a:chExt cx="0" cy="0"/>
        </a:xfrm>
      </p:grpSpPr>
      <p:sp>
        <p:nvSpPr>
          <p:cNvPr id="2" name="Shape 0"/>
          <p:cNvSpPr/>
          <p:nvPr/>
        </p:nvSpPr>
        <p:spPr>
          <a:xfrm>
            <a:off x="9692640" y="-2011680"/>
            <a:ext cx="4937760" cy="4937760"/>
          </a:xfrm>
          <a:prstGeom prst="ellipse">
            <a:avLst/>
          </a:prstGeom>
          <a:solidFill>
            <a:srgbClr val="17305E"/>
          </a:solidFill>
          <a:ln/>
        </p:spPr>
      </p:sp>
      <p:sp>
        <p:nvSpPr>
          <p:cNvPr id="3" name="Shape 1"/>
          <p:cNvSpPr/>
          <p:nvPr/>
        </p:nvSpPr>
        <p:spPr>
          <a:xfrm>
            <a:off x="-1463040" y="4754880"/>
            <a:ext cx="3474720" cy="3474720"/>
          </a:xfrm>
          <a:prstGeom prst="ellipse">
            <a:avLst/>
          </a:prstGeom>
          <a:solidFill>
            <a:srgbClr val="17305E"/>
          </a:solidFill>
          <a:ln/>
        </p:spPr>
      </p:sp>
      <p:sp>
        <p:nvSpPr>
          <p:cNvPr id="4" name="Shape 2"/>
          <p:cNvSpPr/>
          <p:nvPr/>
        </p:nvSpPr>
        <p:spPr>
          <a:xfrm>
            <a:off x="640080" y="475488"/>
            <a:ext cx="201168" cy="201168"/>
          </a:xfrm>
          <a:prstGeom prst="ellipse">
            <a:avLst/>
          </a:prstGeom>
          <a:solidFill>
            <a:srgbClr val="F2A71B"/>
          </a:solidFill>
          <a:ln/>
        </p:spPr>
      </p:sp>
      <p:sp>
        <p:nvSpPr>
          <p:cNvPr id="5" name="Text 3"/>
          <p:cNvSpPr txBox="1"/>
          <p:nvPr/>
        </p:nvSpPr>
        <p:spPr>
          <a:xfrm>
            <a:off x="932688" y="402336"/>
            <a:ext cx="5943600" cy="347472"/>
          </a:xfrm>
          <a:prstGeom prst="rect">
            <a:avLst/>
          </a:prstGeom>
          <a:noFill/>
          <a:ln/>
        </p:spPr>
        <p:txBody>
          <a:bodyPr wrap="square" lIns="0" tIns="0" rIns="0" bIns="0" rtlCol="0" anchor="ctr"/>
          <a:lstStyle/>
          <a:p>
            <a:pPr indent="0" marL="0">
              <a:buNone/>
            </a:pPr>
            <a:r>
              <a:rPr lang="en-US" sz="1300" b="1" spc="200" kern="0" dirty="0">
                <a:solidFill>
                  <a:srgbClr val="F2A71B"/>
                </a:solidFill>
                <a:latin typeface="Calibri" pitchFamily="34" charset="0"/>
                <a:ea typeface="Calibri" pitchFamily="34" charset="-122"/>
                <a:cs typeface="Calibri" pitchFamily="34" charset="-120"/>
              </a:rPr>
              <a:t>10 — LIVE DEMONSTRATION</a:t>
            </a:r>
            <a:endParaRPr lang="en-US" sz="1300" dirty="0"/>
          </a:p>
        </p:txBody>
      </p:sp>
      <p:sp>
        <p:nvSpPr>
          <p:cNvPr id="6" name="Text 4"/>
          <p:cNvSpPr txBox="1"/>
          <p:nvPr/>
        </p:nvSpPr>
        <p:spPr>
          <a:xfrm>
            <a:off x="6035040" y="402336"/>
            <a:ext cx="5486400" cy="347472"/>
          </a:xfrm>
          <a:prstGeom prst="rect">
            <a:avLst/>
          </a:prstGeom>
          <a:noFill/>
          <a:ln/>
        </p:spPr>
        <p:txBody>
          <a:bodyPr wrap="square" lIns="0" tIns="0" rIns="0" bIns="0" rtlCol="0" anchor="ctr"/>
          <a:lstStyle/>
          <a:p>
            <a:pPr algn="r" indent="0" marL="0">
              <a:buNone/>
            </a:pPr>
            <a:r>
              <a:rPr lang="en-US" sz="1000" b="1" spc="100" kern="0" dirty="0">
                <a:solidFill>
                  <a:srgbClr val="8FA0C4"/>
                </a:solidFill>
                <a:latin typeface="Calibri" pitchFamily="34" charset="0"/>
                <a:ea typeface="Calibri" pitchFamily="34" charset="-122"/>
                <a:cs typeface="Calibri" pitchFamily="34" charset="-120"/>
              </a:rPr>
              <a:t>JUDGED ON  ·  3. TECHNICAL FEASIBILITY &amp; EXECUTION</a:t>
            </a:r>
            <a:endParaRPr lang="en-US" sz="1000" dirty="0"/>
          </a:p>
        </p:txBody>
      </p:sp>
      <p:sp>
        <p:nvSpPr>
          <p:cNvPr id="7" name="Text 5"/>
          <p:cNvSpPr txBox="1"/>
          <p:nvPr/>
        </p:nvSpPr>
        <p:spPr>
          <a:xfrm>
            <a:off x="640080" y="804672"/>
            <a:ext cx="10881360" cy="77724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See it in action</a:t>
            </a:r>
            <a:endParaRPr lang="en-US" sz="3600" dirty="0"/>
          </a:p>
        </p:txBody>
      </p:sp>
      <p:sp>
        <p:nvSpPr>
          <p:cNvPr id="8" name="Shape 6"/>
          <p:cNvSpPr/>
          <p:nvPr/>
        </p:nvSpPr>
        <p:spPr>
          <a:xfrm>
            <a:off x="640080" y="1828800"/>
            <a:ext cx="6583680" cy="4023360"/>
          </a:xfrm>
          <a:prstGeom prst="roundRect">
            <a:avLst>
              <a:gd name="adj" fmla="val 2727"/>
            </a:avLst>
          </a:prstGeom>
          <a:solidFill>
            <a:srgbClr val="17305E"/>
          </a:solidFill>
          <a:ln w="12700">
            <a:solidFill>
              <a:srgbClr val="17305E"/>
            </a:solidFill>
            <a:prstDash val="solid"/>
          </a:ln>
          <a:effectLst>
            <a:outerShdw sx="100000" sy="100000" kx="0" ky="0" algn="bl" rotWithShape="0" blurRad="127000" dist="25400" dir="5400000">
              <a:srgbClr val="9AA5BD">
                <a:alpha val="25000"/>
              </a:srgbClr>
            </a:outerShdw>
          </a:effectLst>
        </p:spPr>
      </p:sp>
      <p:sp>
        <p:nvSpPr>
          <p:cNvPr id="9" name="Shape 7"/>
          <p:cNvSpPr/>
          <p:nvPr/>
        </p:nvSpPr>
        <p:spPr>
          <a:xfrm>
            <a:off x="3520440" y="3063240"/>
            <a:ext cx="868680" cy="868680"/>
          </a:xfrm>
          <a:prstGeom prst="ellipse">
            <a:avLst/>
          </a:prstGeom>
          <a:solidFill>
            <a:srgbClr val="C8102E"/>
          </a:solidFill>
          <a:ln/>
        </p:spPr>
      </p:sp>
      <p:sp>
        <p:nvSpPr>
          <p:cNvPr id="10" name="Shape 8"/>
          <p:cNvSpPr/>
          <p:nvPr/>
        </p:nvSpPr>
        <p:spPr>
          <a:xfrm rot="5400000">
            <a:off x="3776472" y="3273552"/>
            <a:ext cx="384048" cy="438912"/>
          </a:xfrm>
          <a:prstGeom prst="triangle">
            <a:avLst/>
          </a:prstGeom>
          <a:solidFill>
            <a:srgbClr val="FFFFFF"/>
          </a:solidFill>
          <a:ln/>
        </p:spPr>
      </p:sp>
      <p:sp>
        <p:nvSpPr>
          <p:cNvPr id="11" name="Text 9"/>
          <p:cNvSpPr txBox="1"/>
          <p:nvPr/>
        </p:nvSpPr>
        <p:spPr>
          <a:xfrm>
            <a:off x="1005840" y="4069080"/>
            <a:ext cx="5852160" cy="822960"/>
          </a:xfrm>
          <a:prstGeom prst="rect">
            <a:avLst/>
          </a:prstGeom>
          <a:noFill/>
          <a:ln/>
        </p:spPr>
        <p:txBody>
          <a:bodyPr wrap="square" lIns="0" tIns="0" rIns="0" bIns="0" rtlCol="0" anchor="t"/>
          <a:lstStyle/>
          <a:p>
            <a:pPr algn="ctr" indent="0" marL="0">
              <a:buNone/>
            </a:pPr>
            <a:r>
              <a:rPr lang="en-US" sz="1400" i="1" dirty="0">
                <a:solidFill>
                  <a:srgbClr val="AEB9D2"/>
                </a:solidFill>
                <a:latin typeface="Calibri" pitchFamily="34" charset="0"/>
                <a:ea typeface="Calibri" pitchFamily="34" charset="-122"/>
                <a:cs typeface="Calibri" pitchFamily="34" charset="-120"/>
              </a:rPr>
              <a:t>[ Paste a thumbnail of your demo video here,</a:t>
            </a:r>
            <a:endParaRPr lang="en-US" sz="1400" dirty="0"/>
          </a:p>
          <a:p>
            <a:pPr algn="ctr" indent="0" marL="0">
              <a:buNone/>
            </a:pPr>
            <a:r>
              <a:rPr lang="en-US" sz="1400" i="1" dirty="0">
                <a:solidFill>
                  <a:srgbClr val="AEB9D2"/>
                </a:solidFill>
                <a:latin typeface="Calibri" pitchFamily="34" charset="0"/>
                <a:ea typeface="Calibri" pitchFamily="34" charset="-122"/>
                <a:cs typeface="Calibri" pitchFamily="34" charset="-120"/>
              </a:rPr>
              <a:t>or embed the video on this slide ]</a:t>
            </a:r>
            <a:endParaRPr lang="en-US" sz="1400" dirty="0"/>
          </a:p>
        </p:txBody>
      </p:sp>
      <p:sp>
        <p:nvSpPr>
          <p:cNvPr id="12" name="Text 10"/>
          <p:cNvSpPr txBox="1"/>
          <p:nvPr/>
        </p:nvSpPr>
        <p:spPr>
          <a:xfrm>
            <a:off x="7543800" y="2057400"/>
            <a:ext cx="4023360" cy="320040"/>
          </a:xfrm>
          <a:prstGeom prst="rect">
            <a:avLst/>
          </a:prstGeom>
          <a:noFill/>
          <a:ln/>
        </p:spPr>
        <p:txBody>
          <a:bodyPr wrap="square" lIns="0" tIns="0" rIns="0" bIns="0" rtlCol="0" anchor="ctr"/>
          <a:lstStyle/>
          <a:p>
            <a:pPr indent="0" marL="0">
              <a:buNone/>
            </a:pPr>
            <a:r>
              <a:rPr lang="en-US" sz="1200" b="1" spc="150" kern="0" dirty="0">
                <a:solidFill>
                  <a:srgbClr val="F2A71B"/>
                </a:solidFill>
                <a:latin typeface="Calibri" pitchFamily="34" charset="0"/>
                <a:ea typeface="Calibri" pitchFamily="34" charset="-122"/>
                <a:cs typeface="Calibri" pitchFamily="34" charset="-120"/>
              </a:rPr>
              <a:t>WATCH THE DEMO</a:t>
            </a:r>
            <a:endParaRPr lang="en-US" sz="1200" dirty="0"/>
          </a:p>
        </p:txBody>
      </p:sp>
      <p:sp>
        <p:nvSpPr>
          <p:cNvPr id="13" name="Text 11">
            <a:hlinkClick r:id="rId1" tooltip="Replace with your demo video URL"/>
          </p:cNvPr>
          <p:cNvSpPr txBox="1"/>
          <p:nvPr/>
        </p:nvSpPr>
        <p:spPr>
          <a:xfrm>
            <a:off x="7543800" y="2423160"/>
            <a:ext cx="4023360" cy="777240"/>
          </a:xfrm>
          <a:prstGeom prst="rect">
            <a:avLst/>
          </a:prstGeom>
          <a:noFill/>
          <a:ln/>
        </p:spPr>
        <p:txBody>
          <a:bodyPr wrap="square" lIns="0" tIns="0" rIns="0" bIns="0" rtlCol="0" anchor="t"/>
          <a:lstStyle/>
          <a:p>
            <a:pPr indent="0" marL="0">
              <a:buNone/>
            </a:pPr>
            <a:r>
              <a:rPr lang="en-US" sz="1700" b="1" u="sng" dirty="0">
                <a:solidFill>
                  <a:srgbClr val="FFFFFF"/>
                </a:solidFill>
                <a:latin typeface="Calibri" pitchFamily="34" charset="0"/>
                <a:ea typeface="Calibri" pitchFamily="34" charset="-122"/>
                <a:cs typeface="Calibri" pitchFamily="34" charset="-120"/>
                <a:hlinkClick r:id="rId1" invalidUrl="" action="" tgtFrame="" tooltip="Replace with your demo video URL" history="1" highlightClick="0" endSnd="0">
                  <a:extLst>
                    <a:ext uri="{A12FA001-AC4F-418D-AE19-62706E023703}">
                      <ahyp:hlinkClr xmlns:ahyp="http://schemas.microsoft.com/office/drawing/2018/hyperlinkcolor" val="tx"/>
                    </a:ext>
                  </a:extLst>
                </a:hlinkClick>
              </a:rPr>
              <a:t>https://[ your-demo-video-link ]</a:t>
            </a:r>
            <a:endParaRPr lang="en-US" sz="1700" dirty="0"/>
          </a:p>
        </p:txBody>
      </p:sp>
      <p:sp>
        <p:nvSpPr>
          <p:cNvPr id="14" name="Shape 12"/>
          <p:cNvSpPr/>
          <p:nvPr/>
        </p:nvSpPr>
        <p:spPr>
          <a:xfrm>
            <a:off x="7543800" y="3337560"/>
            <a:ext cx="1737360" cy="1737360"/>
          </a:xfrm>
          <a:prstGeom prst="roundRect">
            <a:avLst>
              <a:gd name="adj" fmla="val 5263"/>
            </a:avLst>
          </a:prstGeom>
          <a:solidFill>
            <a:srgbClr val="FFFFFF"/>
          </a:solidFill>
          <a:ln/>
        </p:spPr>
      </p:sp>
      <p:sp>
        <p:nvSpPr>
          <p:cNvPr id="15" name="Text 13"/>
          <p:cNvSpPr txBox="1"/>
          <p:nvPr/>
        </p:nvSpPr>
        <p:spPr>
          <a:xfrm>
            <a:off x="7543800" y="3337560"/>
            <a:ext cx="1737360" cy="1737360"/>
          </a:xfrm>
          <a:prstGeom prst="rect">
            <a:avLst/>
          </a:prstGeom>
          <a:noFill/>
          <a:ln/>
        </p:spPr>
        <p:txBody>
          <a:bodyPr wrap="square" lIns="0" tIns="0" rIns="0" bIns="0" rtlCol="0" anchor="ctr"/>
          <a:lstStyle/>
          <a:p>
            <a:pPr algn="ctr" indent="0" marL="0">
              <a:buNone/>
            </a:pPr>
            <a:r>
              <a:rPr lang="en-US" sz="1300" b="1" dirty="0">
                <a:solidFill>
                  <a:srgbClr val="5B6780"/>
                </a:solidFill>
                <a:latin typeface="Calibri" pitchFamily="34" charset="0"/>
                <a:ea typeface="Calibri" pitchFamily="34" charset="-122"/>
                <a:cs typeface="Calibri" pitchFamily="34" charset="-120"/>
              </a:rPr>
              <a:t>[ QR CODE</a:t>
            </a:r>
            <a:endParaRPr lang="en-US" sz="1300" dirty="0"/>
          </a:p>
          <a:p>
            <a:pPr algn="ctr" indent="0" marL="0">
              <a:buNone/>
            </a:pPr>
            <a:r>
              <a:rPr lang="en-US" sz="1300" b="1" dirty="0">
                <a:solidFill>
                  <a:srgbClr val="5B6780"/>
                </a:solidFill>
                <a:latin typeface="Calibri" pitchFamily="34" charset="0"/>
                <a:ea typeface="Calibri" pitchFamily="34" charset="-122"/>
                <a:cs typeface="Calibri" pitchFamily="34" charset="-120"/>
              </a:rPr>
              <a:t>TO VIDEO ]</a:t>
            </a:r>
            <a:endParaRPr lang="en-US" sz="1300" dirty="0"/>
          </a:p>
        </p:txBody>
      </p:sp>
      <p:sp>
        <p:nvSpPr>
          <p:cNvPr id="16" name="Text 14"/>
          <p:cNvSpPr txBox="1"/>
          <p:nvPr/>
        </p:nvSpPr>
        <p:spPr>
          <a:xfrm>
            <a:off x="9509760" y="3383280"/>
            <a:ext cx="2057400" cy="182880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CFD8EC"/>
                </a:solidFill>
                <a:latin typeface="Calibri" pitchFamily="34" charset="0"/>
                <a:ea typeface="Calibri" pitchFamily="34" charset="-122"/>
                <a:cs typeface="Calibri" pitchFamily="34" charset="-120"/>
              </a:rPr>
              <a:t>Keep it under 2 minutes</a:t>
            </a:r>
            <a:endParaRPr lang="en-US" sz="1200" dirty="0"/>
          </a:p>
          <a:p>
            <a:pPr marL="342900" indent="-342900">
              <a:spcAft>
                <a:spcPts val="600"/>
              </a:spcAft>
              <a:buSzPct val="100000"/>
              <a:buChar char="•"/>
            </a:pPr>
            <a:r>
              <a:rPr lang="en-US" sz="1200" dirty="0">
                <a:solidFill>
                  <a:srgbClr val="CFD8EC"/>
                </a:solidFill>
                <a:latin typeface="Calibri" pitchFamily="34" charset="0"/>
                <a:ea typeface="Calibri" pitchFamily="34" charset="-122"/>
                <a:cs typeface="Calibri" pitchFamily="34" charset="-120"/>
              </a:rPr>
              <a:t>Show the real product, not slides</a:t>
            </a:r>
            <a:endParaRPr lang="en-US" sz="1200" dirty="0"/>
          </a:p>
          <a:p>
            <a:pPr marL="342900" indent="-342900">
              <a:spcAft>
                <a:spcPts val="600"/>
              </a:spcAft>
              <a:buSzPct val="100000"/>
              <a:buChar char="•"/>
            </a:pPr>
            <a:r>
              <a:rPr lang="en-US" sz="1200" dirty="0">
                <a:solidFill>
                  <a:srgbClr val="CFD8EC"/>
                </a:solidFill>
                <a:latin typeface="Calibri" pitchFamily="34" charset="0"/>
                <a:ea typeface="Calibri" pitchFamily="34" charset="-122"/>
                <a:cs typeface="Calibri" pitchFamily="34" charset="-120"/>
              </a:rPr>
              <a:t>Test the link and sound beforehand</a:t>
            </a:r>
            <a:endParaRPr lang="en-US" sz="1200" dirty="0"/>
          </a:p>
          <a:p>
            <a:pPr marL="342900" indent="-342900">
              <a:buSzPct val="100000"/>
              <a:buChar char="•"/>
            </a:pPr>
            <a:r>
              <a:rPr lang="en-US" sz="1200" dirty="0">
                <a:solidFill>
                  <a:srgbClr val="CFD8EC"/>
                </a:solidFill>
                <a:latin typeface="Calibri" pitchFamily="34" charset="0"/>
                <a:ea typeface="Calibri" pitchFamily="34" charset="-122"/>
                <a:cs typeface="Calibri" pitchFamily="34" charset="-120"/>
              </a:rPr>
              <a:t>Carry an offline copy as backup</a:t>
            </a:r>
            <a:endParaRPr lang="en-US" sz="1200" dirty="0"/>
          </a:p>
        </p:txBody>
      </p:sp>
      <p:sp>
        <p:nvSpPr>
          <p:cNvPr id="17" name="Text 15"/>
          <p:cNvSpPr txBox="1"/>
          <p:nvPr/>
        </p:nvSpPr>
        <p:spPr>
          <a:xfrm>
            <a:off x="640080" y="6327648"/>
            <a:ext cx="6400800" cy="274320"/>
          </a:xfrm>
          <a:prstGeom prst="rect">
            <a:avLst/>
          </a:prstGeom>
          <a:noFill/>
          <a:ln/>
        </p:spPr>
        <p:txBody>
          <a:bodyPr wrap="square" lIns="0" tIns="0" rIns="0" bIns="0" rtlCol="0" anchor="ctr"/>
          <a:lstStyle/>
          <a:p>
            <a:pPr indent="0" marL="0">
              <a:buNone/>
            </a:pPr>
            <a:r>
              <a:rPr lang="en-US" sz="1000" dirty="0">
                <a:solidFill>
                  <a:srgbClr val="8FA0C4"/>
                </a:solidFill>
                <a:latin typeface="Calibri" pitchFamily="34" charset="0"/>
                <a:ea typeface="Calibri" pitchFamily="34" charset="-122"/>
                <a:cs typeface="Calibri" pitchFamily="34" charset="-120"/>
              </a:rPr>
              <a:t>HACK4AFRICA 2026  |  Africa University</a:t>
            </a:r>
            <a:endParaRPr lang="en-US" sz="1000" dirty="0"/>
          </a:p>
        </p:txBody>
      </p:sp>
      <p:sp>
        <p:nvSpPr>
          <p:cNvPr id="18" name="Text 16"/>
          <p:cNvSpPr txBox="1"/>
          <p:nvPr/>
        </p:nvSpPr>
        <p:spPr>
          <a:xfrm>
            <a:off x="10972800" y="6327648"/>
            <a:ext cx="548640" cy="274320"/>
          </a:xfrm>
          <a:prstGeom prst="rect">
            <a:avLst/>
          </a:prstGeom>
          <a:noFill/>
          <a:ln/>
        </p:spPr>
        <p:txBody>
          <a:bodyPr wrap="square" lIns="0" tIns="0" rIns="0" bIns="0" rtlCol="0" anchor="ctr"/>
          <a:lstStyle/>
          <a:p>
            <a:pPr algn="r" indent="0" marL="0">
              <a:buNone/>
            </a:pPr>
            <a:r>
              <a:rPr lang="en-US" sz="1000" dirty="0">
                <a:solidFill>
                  <a:srgbClr val="8FA0C4"/>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F44"/>
        </a:solidFill>
      </p:bgPr>
    </p:bg>
    <p:spTree>
      <p:nvGrpSpPr>
        <p:cNvPr id="1" name=""/>
        <p:cNvGrpSpPr/>
        <p:nvPr/>
      </p:nvGrpSpPr>
      <p:grpSpPr>
        <a:xfrm>
          <a:off x="0" y="0"/>
          <a:ext cx="0" cy="0"/>
          <a:chOff x="0" y="0"/>
          <a:chExt cx="0" cy="0"/>
        </a:xfrm>
      </p:grpSpPr>
      <p:sp>
        <p:nvSpPr>
          <p:cNvPr id="2" name="Shape 0"/>
          <p:cNvSpPr/>
          <p:nvPr/>
        </p:nvSpPr>
        <p:spPr>
          <a:xfrm>
            <a:off x="9692640" y="-2011680"/>
            <a:ext cx="4937760" cy="4937760"/>
          </a:xfrm>
          <a:prstGeom prst="ellipse">
            <a:avLst/>
          </a:prstGeom>
          <a:solidFill>
            <a:srgbClr val="17305E"/>
          </a:solidFill>
          <a:ln/>
        </p:spPr>
      </p:sp>
      <p:sp>
        <p:nvSpPr>
          <p:cNvPr id="3" name="Shape 1"/>
          <p:cNvSpPr/>
          <p:nvPr/>
        </p:nvSpPr>
        <p:spPr>
          <a:xfrm>
            <a:off x="-1463040" y="4754880"/>
            <a:ext cx="3474720" cy="3474720"/>
          </a:xfrm>
          <a:prstGeom prst="ellipse">
            <a:avLst/>
          </a:prstGeom>
          <a:solidFill>
            <a:srgbClr val="17305E"/>
          </a:solidFill>
          <a:ln/>
        </p:spPr>
      </p:sp>
      <p:sp>
        <p:nvSpPr>
          <p:cNvPr id="4" name="Text 2"/>
          <p:cNvSpPr txBox="1"/>
          <p:nvPr/>
        </p:nvSpPr>
        <p:spPr>
          <a:xfrm>
            <a:off x="822960" y="1051560"/>
            <a:ext cx="7772400" cy="1005840"/>
          </a:xfrm>
          <a:prstGeom prst="rect">
            <a:avLst/>
          </a:prstGeom>
          <a:noFill/>
          <a:ln/>
        </p:spPr>
        <p:txBody>
          <a:bodyPr wrap="square" lIns="0" tIns="0" rIns="0" bIns="0" rtlCol="0" anchor="ctr"/>
          <a:lstStyle/>
          <a:p>
            <a:pPr indent="0" marL="0">
              <a:buNone/>
            </a:pPr>
            <a:r>
              <a:rPr lang="en-US" sz="5200" b="1" dirty="0">
                <a:solidFill>
                  <a:srgbClr val="FFFFFF"/>
                </a:solidFill>
                <a:latin typeface="Arial" pitchFamily="34" charset="0"/>
                <a:ea typeface="Arial" pitchFamily="34" charset="-122"/>
                <a:cs typeface="Arial" pitchFamily="34" charset="-120"/>
              </a:rPr>
              <a:t>Thank you</a:t>
            </a:r>
            <a:endParaRPr lang="en-US" sz="5200" dirty="0"/>
          </a:p>
        </p:txBody>
      </p:sp>
      <p:sp>
        <p:nvSpPr>
          <p:cNvPr id="5" name="Shape 3"/>
          <p:cNvSpPr/>
          <p:nvPr/>
        </p:nvSpPr>
        <p:spPr>
          <a:xfrm>
            <a:off x="868680" y="2148840"/>
            <a:ext cx="1371600" cy="0"/>
          </a:xfrm>
          <a:prstGeom prst="line">
            <a:avLst/>
          </a:prstGeom>
          <a:noFill/>
          <a:ln w="38100">
            <a:solidFill>
              <a:srgbClr val="C8102E"/>
            </a:solidFill>
            <a:prstDash val="solid"/>
          </a:ln>
        </p:spPr>
      </p:sp>
      <p:sp>
        <p:nvSpPr>
          <p:cNvPr id="6" name="Text 4"/>
          <p:cNvSpPr txBox="1"/>
          <p:nvPr/>
        </p:nvSpPr>
        <p:spPr>
          <a:xfrm>
            <a:off x="822960" y="2331720"/>
            <a:ext cx="7772400" cy="457200"/>
          </a:xfrm>
          <a:prstGeom prst="rect">
            <a:avLst/>
          </a:prstGeom>
          <a:noFill/>
          <a:ln/>
        </p:spPr>
        <p:txBody>
          <a:bodyPr wrap="square" lIns="0" tIns="0" rIns="0" bIns="0" rtlCol="0" anchor="ctr"/>
          <a:lstStyle/>
          <a:p>
            <a:pPr indent="0" marL="0">
              <a:buNone/>
            </a:pPr>
            <a:r>
              <a:rPr lang="en-US" sz="1800" i="1" dirty="0">
                <a:solidFill>
                  <a:srgbClr val="F2A71B"/>
                </a:solidFill>
                <a:latin typeface="Calibri" pitchFamily="34" charset="0"/>
                <a:ea typeface="Calibri" pitchFamily="34" charset="-122"/>
                <a:cs typeface="Calibri" pitchFamily="34" charset="-120"/>
              </a:rPr>
              <a:t>Questions welcome — we would love your feedback.</a:t>
            </a:r>
            <a:endParaRPr lang="en-US" sz="1800" dirty="0"/>
          </a:p>
        </p:txBody>
      </p:sp>
      <p:sp>
        <p:nvSpPr>
          <p:cNvPr id="7" name="Shape 5"/>
          <p:cNvSpPr/>
          <p:nvPr/>
        </p:nvSpPr>
        <p:spPr>
          <a:xfrm>
            <a:off x="822960" y="2971800"/>
            <a:ext cx="10515600" cy="1371600"/>
          </a:xfrm>
          <a:prstGeom prst="roundRect">
            <a:avLst>
              <a:gd name="adj" fmla="val 8000"/>
            </a:avLst>
          </a:prstGeom>
          <a:solidFill>
            <a:srgbClr val="17305E"/>
          </a:solidFill>
          <a:ln w="12700">
            <a:solidFill>
              <a:srgbClr val="17305E"/>
            </a:solidFill>
            <a:prstDash val="solid"/>
          </a:ln>
          <a:effectLst>
            <a:outerShdw sx="100000" sy="100000" kx="0" ky="0" algn="bl" rotWithShape="0" blurRad="127000" dist="25400" dir="5400000">
              <a:srgbClr val="9AA5BD">
                <a:alpha val="25000"/>
              </a:srgbClr>
            </a:outerShdw>
          </a:effectLst>
        </p:spPr>
      </p:sp>
      <p:sp>
        <p:nvSpPr>
          <p:cNvPr id="8" name="Text 6"/>
          <p:cNvSpPr txBox="1"/>
          <p:nvPr/>
        </p:nvSpPr>
        <p:spPr>
          <a:xfrm>
            <a:off x="1143000" y="3182112"/>
            <a:ext cx="2743200" cy="274320"/>
          </a:xfrm>
          <a:prstGeom prst="rect">
            <a:avLst/>
          </a:prstGeom>
          <a:noFill/>
          <a:ln/>
        </p:spPr>
        <p:txBody>
          <a:bodyPr wrap="square" lIns="0" tIns="0" rIns="0" bIns="0" rtlCol="0" anchor="ctr"/>
          <a:lstStyle/>
          <a:p>
            <a:pPr indent="0" marL="0">
              <a:buNone/>
            </a:pPr>
            <a:r>
              <a:rPr lang="en-US" sz="1200" b="1" spc="150" kern="0" dirty="0">
                <a:solidFill>
                  <a:srgbClr val="F2A71B"/>
                </a:solidFill>
                <a:latin typeface="Calibri" pitchFamily="34" charset="0"/>
                <a:ea typeface="Calibri" pitchFamily="34" charset="-122"/>
                <a:cs typeface="Calibri" pitchFamily="34" charset="-120"/>
              </a:rPr>
              <a:t>THE ASK</a:t>
            </a:r>
            <a:endParaRPr lang="en-US" sz="1200" dirty="0"/>
          </a:p>
        </p:txBody>
      </p:sp>
      <p:sp>
        <p:nvSpPr>
          <p:cNvPr id="9" name="Text 7"/>
          <p:cNvSpPr txBox="1"/>
          <p:nvPr/>
        </p:nvSpPr>
        <p:spPr>
          <a:xfrm>
            <a:off x="1143000" y="3493008"/>
            <a:ext cx="9875520" cy="73152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 State exactly what you need to keep going — funding, lab access, a mentor, a pilot partner, or data. Be specific and name a number. ]</a:t>
            </a:r>
            <a:endParaRPr lang="en-US" sz="1600" dirty="0"/>
          </a:p>
        </p:txBody>
      </p:sp>
      <p:sp>
        <p:nvSpPr>
          <p:cNvPr id="10" name="Shape 8"/>
          <p:cNvSpPr/>
          <p:nvPr/>
        </p:nvSpPr>
        <p:spPr>
          <a:xfrm>
            <a:off x="822960" y="4709160"/>
            <a:ext cx="237744" cy="237744"/>
          </a:xfrm>
          <a:prstGeom prst="ellipse">
            <a:avLst/>
          </a:prstGeom>
          <a:solidFill>
            <a:srgbClr val="F2A71B"/>
          </a:solidFill>
          <a:ln/>
        </p:spPr>
      </p:sp>
      <p:sp>
        <p:nvSpPr>
          <p:cNvPr id="11" name="Text 9"/>
          <p:cNvSpPr txBox="1"/>
          <p:nvPr/>
        </p:nvSpPr>
        <p:spPr>
          <a:xfrm>
            <a:off x="1243584" y="4663440"/>
            <a:ext cx="3017520" cy="292608"/>
          </a:xfrm>
          <a:prstGeom prst="rect">
            <a:avLst/>
          </a:prstGeom>
          <a:noFill/>
          <a:ln/>
        </p:spPr>
        <p:txBody>
          <a:bodyPr wrap="square" lIns="0" tIns="0" rIns="0" bIns="0" rtlCol="0" anchor="ctr"/>
          <a:lstStyle/>
          <a:p>
            <a:pPr indent="0" marL="0">
              <a:buNone/>
            </a:pPr>
            <a:r>
              <a:rPr lang="en-US" sz="1100" b="1" spc="150" kern="0" dirty="0">
                <a:solidFill>
                  <a:srgbClr val="F2A71B"/>
                </a:solidFill>
                <a:latin typeface="Calibri" pitchFamily="34" charset="0"/>
                <a:ea typeface="Calibri" pitchFamily="34" charset="-122"/>
                <a:cs typeface="Calibri" pitchFamily="34" charset="-120"/>
              </a:rPr>
              <a:t>TEAM LEAD</a:t>
            </a:r>
            <a:endParaRPr lang="en-US" sz="1100" dirty="0"/>
          </a:p>
        </p:txBody>
      </p:sp>
      <p:sp>
        <p:nvSpPr>
          <p:cNvPr id="12" name="Text 10"/>
          <p:cNvSpPr txBox="1"/>
          <p:nvPr/>
        </p:nvSpPr>
        <p:spPr>
          <a:xfrm>
            <a:off x="1243584" y="4956048"/>
            <a:ext cx="3108960" cy="41148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 Name ]  |  [ email ]</a:t>
            </a:r>
            <a:endParaRPr lang="en-US" sz="1500" dirty="0"/>
          </a:p>
        </p:txBody>
      </p:sp>
      <p:sp>
        <p:nvSpPr>
          <p:cNvPr id="13" name="Shape 11"/>
          <p:cNvSpPr/>
          <p:nvPr/>
        </p:nvSpPr>
        <p:spPr>
          <a:xfrm>
            <a:off x="4480560" y="4709160"/>
            <a:ext cx="237744" cy="237744"/>
          </a:xfrm>
          <a:prstGeom prst="ellipse">
            <a:avLst/>
          </a:prstGeom>
          <a:solidFill>
            <a:srgbClr val="F2A71B"/>
          </a:solidFill>
          <a:ln/>
        </p:spPr>
      </p:sp>
      <p:sp>
        <p:nvSpPr>
          <p:cNvPr id="14" name="Text 12"/>
          <p:cNvSpPr txBox="1"/>
          <p:nvPr/>
        </p:nvSpPr>
        <p:spPr>
          <a:xfrm>
            <a:off x="4901184" y="4663440"/>
            <a:ext cx="3017520" cy="292608"/>
          </a:xfrm>
          <a:prstGeom prst="rect">
            <a:avLst/>
          </a:prstGeom>
          <a:noFill/>
          <a:ln/>
        </p:spPr>
        <p:txBody>
          <a:bodyPr wrap="square" lIns="0" tIns="0" rIns="0" bIns="0" rtlCol="0" anchor="ctr"/>
          <a:lstStyle/>
          <a:p>
            <a:pPr indent="0" marL="0">
              <a:buNone/>
            </a:pPr>
            <a:r>
              <a:rPr lang="en-US" sz="1100" b="1" spc="150" kern="0" dirty="0">
                <a:solidFill>
                  <a:srgbClr val="F2A71B"/>
                </a:solidFill>
                <a:latin typeface="Calibri" pitchFamily="34" charset="0"/>
                <a:ea typeface="Calibri" pitchFamily="34" charset="-122"/>
                <a:cs typeface="Calibri" pitchFamily="34" charset="-120"/>
              </a:rPr>
              <a:t>PROJECT REPO / DEMO</a:t>
            </a:r>
            <a:endParaRPr lang="en-US" sz="1100" dirty="0"/>
          </a:p>
        </p:txBody>
      </p:sp>
      <p:sp>
        <p:nvSpPr>
          <p:cNvPr id="15" name="Text 13"/>
          <p:cNvSpPr txBox="1"/>
          <p:nvPr/>
        </p:nvSpPr>
        <p:spPr>
          <a:xfrm>
            <a:off x="4901184" y="4956048"/>
            <a:ext cx="3108960" cy="41148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 link ]</a:t>
            </a:r>
            <a:endParaRPr lang="en-US" sz="1500" dirty="0"/>
          </a:p>
        </p:txBody>
      </p:sp>
      <p:sp>
        <p:nvSpPr>
          <p:cNvPr id="16" name="Shape 14"/>
          <p:cNvSpPr/>
          <p:nvPr/>
        </p:nvSpPr>
        <p:spPr>
          <a:xfrm>
            <a:off x="8138160" y="4709160"/>
            <a:ext cx="237744" cy="237744"/>
          </a:xfrm>
          <a:prstGeom prst="ellipse">
            <a:avLst/>
          </a:prstGeom>
          <a:solidFill>
            <a:srgbClr val="F2A71B"/>
          </a:solidFill>
          <a:ln/>
        </p:spPr>
      </p:sp>
      <p:sp>
        <p:nvSpPr>
          <p:cNvPr id="17" name="Text 15"/>
          <p:cNvSpPr txBox="1"/>
          <p:nvPr/>
        </p:nvSpPr>
        <p:spPr>
          <a:xfrm>
            <a:off x="8558784" y="4663440"/>
            <a:ext cx="3017520" cy="292608"/>
          </a:xfrm>
          <a:prstGeom prst="rect">
            <a:avLst/>
          </a:prstGeom>
          <a:noFill/>
          <a:ln/>
        </p:spPr>
        <p:txBody>
          <a:bodyPr wrap="square" lIns="0" tIns="0" rIns="0" bIns="0" rtlCol="0" anchor="ctr"/>
          <a:lstStyle/>
          <a:p>
            <a:pPr indent="0" marL="0">
              <a:buNone/>
            </a:pPr>
            <a:r>
              <a:rPr lang="en-US" sz="1100" b="1" spc="150" kern="0" dirty="0">
                <a:solidFill>
                  <a:srgbClr val="F2A71B"/>
                </a:solidFill>
                <a:latin typeface="Calibri" pitchFamily="34" charset="0"/>
                <a:ea typeface="Calibri" pitchFamily="34" charset="-122"/>
                <a:cs typeface="Calibri" pitchFamily="34" charset="-120"/>
              </a:rPr>
              <a:t>CHALLENGE TRACK</a:t>
            </a:r>
            <a:endParaRPr lang="en-US" sz="1100" dirty="0"/>
          </a:p>
        </p:txBody>
      </p:sp>
      <p:sp>
        <p:nvSpPr>
          <p:cNvPr id="18" name="Text 16"/>
          <p:cNvSpPr txBox="1"/>
          <p:nvPr/>
        </p:nvSpPr>
        <p:spPr>
          <a:xfrm>
            <a:off x="8558784" y="4956048"/>
            <a:ext cx="3108960" cy="41148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 Track name ]</a:t>
            </a:r>
            <a:endParaRPr lang="en-US" sz="1500" dirty="0"/>
          </a:p>
        </p:txBody>
      </p:sp>
      <p:sp>
        <p:nvSpPr>
          <p:cNvPr id="19" name="Text 17"/>
          <p:cNvSpPr txBox="1"/>
          <p:nvPr/>
        </p:nvSpPr>
        <p:spPr>
          <a:xfrm>
            <a:off x="822960" y="6035040"/>
            <a:ext cx="10515600" cy="365760"/>
          </a:xfrm>
          <a:prstGeom prst="rect">
            <a:avLst/>
          </a:prstGeom>
          <a:noFill/>
          <a:ln/>
        </p:spPr>
        <p:txBody>
          <a:bodyPr wrap="square" lIns="0" tIns="0" rIns="0" bIns="0" rtlCol="0" anchor="ctr"/>
          <a:lstStyle/>
          <a:p>
            <a:pPr indent="0" marL="0">
              <a:buNone/>
            </a:pPr>
            <a:r>
              <a:rPr lang="en-US" sz="1100" b="1" spc="150" kern="0" dirty="0">
                <a:solidFill>
                  <a:srgbClr val="8FA0C4"/>
                </a:solidFill>
                <a:latin typeface="Calibri" pitchFamily="34" charset="0"/>
                <a:ea typeface="Calibri" pitchFamily="34" charset="-122"/>
                <a:cs typeface="Calibri" pitchFamily="34" charset="-120"/>
              </a:rPr>
              <a:t>HACK4AFRICA 2026  ·  CEAS  ·  AFRICA UNIVERSITY, ZIMBABWE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Hack4Africa 2026 Pitch Deck Template</dc:title>
  <dc:subject>PptxGenJS Presentation</dc:subject>
  <dc:creator>Africa University - CEAS</dc:creator>
  <cp:lastModifiedBy>Africa University - CEAS</cp:lastModifiedBy>
  <cp:revision>1</cp:revision>
  <dcterms:created xsi:type="dcterms:W3CDTF">2026-09-16T13:39:18Z</dcterms:created>
  <dcterms:modified xsi:type="dcterms:W3CDTF">2026-09-16T13:39:18Z</dcterms:modified>
</cp:coreProperties>
</file>